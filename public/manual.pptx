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35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87" r:id="rId9"/>
    <p:sldId id="288" r:id="rId10"/>
    <p:sldId id="263" r:id="rId11"/>
    <p:sldId id="264" r:id="rId12"/>
    <p:sldId id="265" r:id="rId13"/>
    <p:sldId id="266" r:id="rId14"/>
    <p:sldId id="285" r:id="rId15"/>
    <p:sldId id="28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  <p:sldId id="276" r:id="rId26"/>
    <p:sldId id="277" r:id="rId27"/>
    <p:sldId id="278" r:id="rId28"/>
    <p:sldId id="279" r:id="rId29"/>
    <p:sldId id="280" r:id="rId30"/>
    <p:sldId id="281" r:id="rId31"/>
    <p:sldId id="282" r:id="rId32"/>
    <p:sldId id="283" r:id="rId33"/>
    <p:sldId id="284" r:id="rId34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63" d="100"/>
          <a:sy n="63" d="100"/>
        </p:scale>
        <p:origin x="780" y="5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tableStyles" Target="tableStyles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viewProps" Target="viewProps.xml"/><Relationship Id="rId40" Type="http://schemas.microsoft.com/office/2016/11/relationships/changesInfo" Target="changesInfos/changesInfo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notesMaster" Target="notesMasters/notesMaster1.xml"/><Relationship Id="rId8" Type="http://schemas.openxmlformats.org/officeDocument/2006/relationships/slide" Target="slides/slide7.xml"/><Relationship Id="rId3" Type="http://schemas.openxmlformats.org/officeDocument/2006/relationships/slide" Target="slides/slide2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晃生 小田" userId="99ece6bcaf2160c7" providerId="LiveId" clId="{3D8FA251-93F8-43E1-9BDD-E990CAC2A15D}"/>
    <pc:docChg chg="undo custSel addSld delSld modSld">
      <pc:chgData name="晃生 小田" userId="99ece6bcaf2160c7" providerId="LiveId" clId="{3D8FA251-93F8-43E1-9BDD-E990CAC2A15D}" dt="2026-04-24T08:10:33.479" v="28" actId="1076"/>
      <pc:docMkLst>
        <pc:docMk/>
      </pc:docMkLst>
      <pc:sldChg chg="addSp delSp modSp mod">
        <pc:chgData name="晃生 小田" userId="99ece6bcaf2160c7" providerId="LiveId" clId="{3D8FA251-93F8-43E1-9BDD-E990CAC2A15D}" dt="2026-04-24T08:07:25.009" v="5" actId="14100"/>
        <pc:sldMkLst>
          <pc:docMk/>
          <pc:sldMk cId="0" sldId="261"/>
        </pc:sldMkLst>
        <pc:picChg chg="del">
          <ac:chgData name="晃生 小田" userId="99ece6bcaf2160c7" providerId="LiveId" clId="{3D8FA251-93F8-43E1-9BDD-E990CAC2A15D}" dt="2026-04-24T08:07:16.968" v="1" actId="478"/>
          <ac:picMkLst>
            <pc:docMk/>
            <pc:sldMk cId="0" sldId="261"/>
            <ac:picMk id="4" creationId="{00000000-0000-0000-0000-000000000000}"/>
          </ac:picMkLst>
        </pc:picChg>
        <pc:picChg chg="add mod">
          <ac:chgData name="晃生 小田" userId="99ece6bcaf2160c7" providerId="LiveId" clId="{3D8FA251-93F8-43E1-9BDD-E990CAC2A15D}" dt="2026-04-24T08:07:25.009" v="5" actId="14100"/>
          <ac:picMkLst>
            <pc:docMk/>
            <pc:sldMk cId="0" sldId="261"/>
            <ac:picMk id="13" creationId="{F6F98F02-AC9D-2567-8CEB-612EDBFBDE2B}"/>
          </ac:picMkLst>
        </pc:picChg>
      </pc:sldChg>
      <pc:sldChg chg="addSp delSp modSp add del mod">
        <pc:chgData name="晃生 小田" userId="99ece6bcaf2160c7" providerId="LiveId" clId="{3D8FA251-93F8-43E1-9BDD-E990CAC2A15D}" dt="2026-04-24T08:10:33.479" v="28" actId="1076"/>
        <pc:sldMkLst>
          <pc:docMk/>
          <pc:sldMk cId="0" sldId="272"/>
        </pc:sldMkLst>
        <pc:picChg chg="del">
          <ac:chgData name="晃生 小田" userId="99ece6bcaf2160c7" providerId="LiveId" clId="{3D8FA251-93F8-43E1-9BDD-E990CAC2A15D}" dt="2026-04-24T08:10:18.047" v="22" actId="478"/>
          <ac:picMkLst>
            <pc:docMk/>
            <pc:sldMk cId="0" sldId="272"/>
            <ac:picMk id="4" creationId="{00000000-0000-0000-0000-000000000000}"/>
          </ac:picMkLst>
        </pc:picChg>
        <pc:picChg chg="add mod">
          <ac:chgData name="晃生 小田" userId="99ece6bcaf2160c7" providerId="LiveId" clId="{3D8FA251-93F8-43E1-9BDD-E990CAC2A15D}" dt="2026-04-24T08:10:33.479" v="28" actId="1076"/>
          <ac:picMkLst>
            <pc:docMk/>
            <pc:sldMk cId="0" sldId="272"/>
            <ac:picMk id="14" creationId="{27DE585B-F76C-3E58-E0A9-767B94C7CE2F}"/>
          </ac:picMkLst>
        </pc:picChg>
      </pc:sldChg>
      <pc:sldChg chg="addSp delSp modSp mod">
        <pc:chgData name="晃生 小田" userId="99ece6bcaf2160c7" providerId="LiveId" clId="{3D8FA251-93F8-43E1-9BDD-E990CAC2A15D}" dt="2026-04-24T08:09:40.563" v="19" actId="1076"/>
        <pc:sldMkLst>
          <pc:docMk/>
          <pc:sldMk cId="0" sldId="288"/>
        </pc:sldMkLst>
        <pc:spChg chg="add mod ord">
          <ac:chgData name="晃生 小田" userId="99ece6bcaf2160c7" providerId="LiveId" clId="{3D8FA251-93F8-43E1-9BDD-E990CAC2A15D}" dt="2026-04-24T08:09:40.563" v="19" actId="1076"/>
          <ac:spMkLst>
            <pc:docMk/>
            <pc:sldMk cId="0" sldId="288"/>
            <ac:spMk id="4" creationId="{93FE6BF0-A6CE-8AA5-43A5-1A9203AF0086}"/>
          </ac:spMkLst>
        </pc:spChg>
        <pc:picChg chg="add mod">
          <ac:chgData name="晃生 小田" userId="99ece6bcaf2160c7" providerId="LiveId" clId="{3D8FA251-93F8-43E1-9BDD-E990CAC2A15D}" dt="2026-04-24T08:09:36.794" v="18" actId="1076"/>
          <ac:picMkLst>
            <pc:docMk/>
            <pc:sldMk cId="0" sldId="288"/>
            <ac:picMk id="6" creationId="{8161B267-9BC4-CE83-9323-8E63107271E4}"/>
          </ac:picMkLst>
        </pc:picChg>
        <pc:picChg chg="del">
          <ac:chgData name="晃生 小田" userId="99ece6bcaf2160c7" providerId="LiveId" clId="{3D8FA251-93F8-43E1-9BDD-E990CAC2A15D}" dt="2026-04-24T08:09:16.997" v="12" actId="478"/>
          <ac:picMkLst>
            <pc:docMk/>
            <pc:sldMk cId="0" sldId="288"/>
            <ac:picMk id="404" creationId="{00000000-0000-0000-0000-000000000000}"/>
          </ac:picMkLst>
        </pc:pic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97175007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1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1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1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1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2E6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0BCD4"/>
          </a:solidFill>
          <a:ln/>
        </p:spPr>
      </p:sp>
      <p:sp>
        <p:nvSpPr>
          <p:cNvPr id="4" name="Shape 2"/>
          <p:cNvSpPr/>
          <p:nvPr/>
        </p:nvSpPr>
        <p:spPr>
          <a:xfrm>
            <a:off x="164592" y="6309360"/>
            <a:ext cx="8229600" cy="54864"/>
          </a:xfrm>
          <a:prstGeom prst="rect">
            <a:avLst/>
          </a:prstGeom>
          <a:solidFill>
            <a:srgbClr val="00BCD4"/>
          </a:solidFill>
          <a:ln/>
        </p:spPr>
      </p:sp>
      <p:sp>
        <p:nvSpPr>
          <p:cNvPr id="5" name="Shape 3"/>
          <p:cNvSpPr/>
          <p:nvPr/>
        </p:nvSpPr>
        <p:spPr>
          <a:xfrm>
            <a:off x="164592" y="0"/>
            <a:ext cx="8229600" cy="502920"/>
          </a:xfrm>
          <a:prstGeom prst="rect">
            <a:avLst/>
          </a:prstGeom>
          <a:solidFill>
            <a:srgbClr val="FFFFFF">
              <a:alpha val="12000"/>
            </a:srgbClr>
          </a:solidFill>
          <a:ln/>
        </p:spPr>
      </p:sp>
      <p:sp>
        <p:nvSpPr>
          <p:cNvPr id="6" name="Shape 4"/>
          <p:cNvSpPr/>
          <p:nvPr/>
        </p:nvSpPr>
        <p:spPr>
          <a:xfrm>
            <a:off x="411480" y="109728"/>
            <a:ext cx="1920240" cy="320040"/>
          </a:xfrm>
          <a:prstGeom prst="rect">
            <a:avLst/>
          </a:prstGeom>
          <a:solidFill>
            <a:srgbClr val="00BCD4"/>
          </a:solidFill>
          <a:ln/>
        </p:spPr>
      </p:sp>
      <p:sp>
        <p:nvSpPr>
          <p:cNvPr id="7" name="Text 5"/>
          <p:cNvSpPr/>
          <p:nvPr/>
        </p:nvSpPr>
        <p:spPr>
          <a:xfrm>
            <a:off x="411480" y="109728"/>
            <a:ext cx="1920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kern="0" spc="300" dirty="0">
                <a:solidFill>
                  <a:srgbClr val="FFFFFF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OZOSHIFT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411480" y="777240"/>
            <a:ext cx="786384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200" b="1" dirty="0">
                <a:solidFill>
                  <a:srgbClr val="FFFFFF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シフト勤怠管理アプリ</a:t>
            </a:r>
            <a:endParaRPr lang="en-US" sz="4200" dirty="0"/>
          </a:p>
        </p:txBody>
      </p:sp>
      <p:sp>
        <p:nvSpPr>
          <p:cNvPr id="9" name="Text 7"/>
          <p:cNvSpPr/>
          <p:nvPr/>
        </p:nvSpPr>
        <p:spPr>
          <a:xfrm>
            <a:off x="411480" y="1920240"/>
            <a:ext cx="78638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dirty="0">
                <a:solidFill>
                  <a:srgbClr val="7FD8F0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オゾシフ　使い方説明書</a:t>
            </a:r>
            <a:endParaRPr lang="en-US" sz="3000" dirty="0"/>
          </a:p>
        </p:txBody>
      </p:sp>
      <p:sp>
        <p:nvSpPr>
          <p:cNvPr id="10" name="Shape 8"/>
          <p:cNvSpPr/>
          <p:nvPr/>
        </p:nvSpPr>
        <p:spPr>
          <a:xfrm>
            <a:off x="411480" y="2834640"/>
            <a:ext cx="5943600" cy="45720"/>
          </a:xfrm>
          <a:prstGeom prst="rect">
            <a:avLst/>
          </a:prstGeom>
          <a:solidFill>
            <a:srgbClr val="FFFFFF">
              <a:alpha val="60000"/>
            </a:srgbClr>
          </a:solidFill>
          <a:ln/>
        </p:spPr>
      </p:sp>
      <p:sp>
        <p:nvSpPr>
          <p:cNvPr id="11" name="Shape 9"/>
          <p:cNvSpPr/>
          <p:nvPr/>
        </p:nvSpPr>
        <p:spPr>
          <a:xfrm>
            <a:off x="411480" y="2999232"/>
            <a:ext cx="4754880" cy="475488"/>
          </a:xfrm>
          <a:prstGeom prst="rect">
            <a:avLst/>
          </a:prstGeom>
          <a:solidFill>
            <a:srgbClr val="FFFFFF">
              <a:alpha val="12000"/>
            </a:srgbClr>
          </a:solidFill>
          <a:ln w="10160">
            <a:solidFill>
              <a:srgbClr val="FFFFFF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11480" y="2999232"/>
            <a:ext cx="475488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900" dirty="0">
                <a:solidFill>
                  <a:srgbClr val="E3F2FD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スタッフ・オーナー様　共通マニュアル</a:t>
            </a:r>
            <a:endParaRPr lang="en-US" sz="1900" dirty="0"/>
          </a:p>
        </p:txBody>
      </p:sp>
      <p:sp>
        <p:nvSpPr>
          <p:cNvPr id="13" name="Shape 11"/>
          <p:cNvSpPr/>
          <p:nvPr/>
        </p:nvSpPr>
        <p:spPr>
          <a:xfrm>
            <a:off x="411480" y="3703320"/>
            <a:ext cx="1371600" cy="402336"/>
          </a:xfrm>
          <a:prstGeom prst="rect">
            <a:avLst/>
          </a:prstGeom>
          <a:solidFill>
            <a:srgbClr val="FFD54F"/>
          </a:solidFill>
          <a:ln/>
        </p:spPr>
      </p:sp>
      <p:sp>
        <p:nvSpPr>
          <p:cNvPr id="14" name="Text 12"/>
          <p:cNvSpPr/>
          <p:nvPr/>
        </p:nvSpPr>
        <p:spPr>
          <a:xfrm>
            <a:off x="411480" y="3703320"/>
            <a:ext cx="137160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1A1A1A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改 訂 版</a:t>
            </a:r>
            <a:endParaRPr lang="en-US" sz="1700" dirty="0"/>
          </a:p>
        </p:txBody>
      </p:sp>
      <p:pic>
        <p:nvPicPr>
          <p:cNvPr id="15" name="Image 0" descr="C:\Users\kouki\my-app\screenshots\01_login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8503920" y="274320"/>
            <a:ext cx="3446585" cy="64008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749808"/>
          </a:xfrm>
          <a:prstGeom prst="rect">
            <a:avLst/>
          </a:prstGeom>
          <a:solidFill>
            <a:srgbClr val="1565C0"/>
          </a:solidFill>
          <a:ln/>
        </p:spPr>
      </p:sp>
      <p:sp>
        <p:nvSpPr>
          <p:cNvPr id="3" name="Text 1"/>
          <p:cNvSpPr/>
          <p:nvPr/>
        </p:nvSpPr>
        <p:spPr>
          <a:xfrm>
            <a:off x="228600" y="0"/>
            <a:ext cx="1188720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900" b="1" dirty="0">
                <a:solidFill>
                  <a:srgbClr val="FFFFFF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📋  目次</a:t>
            </a:r>
            <a:endParaRPr lang="en-US" sz="2900" dirty="0"/>
          </a:p>
        </p:txBody>
      </p:sp>
      <p:sp>
        <p:nvSpPr>
          <p:cNvPr id="4" name="Shape 2"/>
          <p:cNvSpPr/>
          <p:nvPr/>
        </p:nvSpPr>
        <p:spPr>
          <a:xfrm>
            <a:off x="182880" y="804672"/>
            <a:ext cx="5742432" cy="256032"/>
          </a:xfrm>
          <a:prstGeom prst="rect">
            <a:avLst/>
          </a:prstGeom>
          <a:solidFill>
            <a:srgbClr val="1976D2"/>
          </a:solidFill>
          <a:ln/>
        </p:spPr>
      </p:sp>
      <p:sp>
        <p:nvSpPr>
          <p:cNvPr id="5" name="Text 3"/>
          <p:cNvSpPr/>
          <p:nvPr/>
        </p:nvSpPr>
        <p:spPr>
          <a:xfrm>
            <a:off x="182880" y="804672"/>
            <a:ext cx="574243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👤 スタッフ様・共通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6263640" y="804672"/>
            <a:ext cx="5742432" cy="256032"/>
          </a:xfrm>
          <a:prstGeom prst="rect">
            <a:avLst/>
          </a:prstGeom>
          <a:solidFill>
            <a:srgbClr val="C62828"/>
          </a:solidFill>
          <a:ln/>
        </p:spPr>
      </p:sp>
      <p:sp>
        <p:nvSpPr>
          <p:cNvPr id="7" name="Text 5"/>
          <p:cNvSpPr/>
          <p:nvPr/>
        </p:nvSpPr>
        <p:spPr>
          <a:xfrm>
            <a:off x="6263640" y="804672"/>
            <a:ext cx="574243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👔 オーナー様・共通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182880" y="1097280"/>
            <a:ext cx="5742432" cy="585216"/>
          </a:xfrm>
          <a:prstGeom prst="rect">
            <a:avLst/>
          </a:prstGeom>
          <a:solidFill>
            <a:srgbClr val="E8F0FE"/>
          </a:solidFill>
          <a:ln w="19050">
            <a:solidFill>
              <a:srgbClr val="1565C0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182880" y="1097280"/>
            <a:ext cx="402336" cy="585216"/>
          </a:xfrm>
          <a:prstGeom prst="rect">
            <a:avLst/>
          </a:prstGeom>
          <a:solidFill>
            <a:srgbClr val="1565C0"/>
          </a:solidFill>
          <a:ln/>
        </p:spPr>
      </p:sp>
      <p:sp>
        <p:nvSpPr>
          <p:cNvPr id="10" name="Text 8"/>
          <p:cNvSpPr/>
          <p:nvPr/>
        </p:nvSpPr>
        <p:spPr>
          <a:xfrm>
            <a:off x="182880" y="1097280"/>
            <a:ext cx="402336" cy="5852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1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676656" y="1097280"/>
            <a:ext cx="5120640" cy="5852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A1A1A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ログイン・パスワード変更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182880" y="1737360"/>
            <a:ext cx="5742432" cy="585216"/>
          </a:xfrm>
          <a:prstGeom prst="rect">
            <a:avLst/>
          </a:prstGeom>
          <a:solidFill>
            <a:srgbClr val="E8F0FE"/>
          </a:solidFill>
          <a:ln w="19050">
            <a:solidFill>
              <a:srgbClr val="1565C0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182880" y="1737360"/>
            <a:ext cx="402336" cy="585216"/>
          </a:xfrm>
          <a:prstGeom prst="rect">
            <a:avLst/>
          </a:prstGeom>
          <a:solidFill>
            <a:srgbClr val="1565C0"/>
          </a:solidFill>
          <a:ln/>
        </p:spPr>
      </p:sp>
      <p:sp>
        <p:nvSpPr>
          <p:cNvPr id="14" name="Text 12"/>
          <p:cNvSpPr/>
          <p:nvPr/>
        </p:nvSpPr>
        <p:spPr>
          <a:xfrm>
            <a:off x="182880" y="1737360"/>
            <a:ext cx="402336" cy="5852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2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676656" y="1737360"/>
            <a:ext cx="5120640" cy="5852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A1A1A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メニュー選択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182880" y="2377440"/>
            <a:ext cx="5742432" cy="585216"/>
          </a:xfrm>
          <a:prstGeom prst="rect">
            <a:avLst/>
          </a:prstGeom>
          <a:solidFill>
            <a:srgbClr val="E8F0FE"/>
          </a:solidFill>
          <a:ln w="19050">
            <a:solidFill>
              <a:srgbClr val="0277BD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182880" y="2377440"/>
            <a:ext cx="402336" cy="585216"/>
          </a:xfrm>
          <a:prstGeom prst="rect">
            <a:avLst/>
          </a:prstGeom>
          <a:solidFill>
            <a:srgbClr val="0277BD"/>
          </a:solidFill>
          <a:ln/>
        </p:spPr>
      </p:sp>
      <p:sp>
        <p:nvSpPr>
          <p:cNvPr id="18" name="Text 16"/>
          <p:cNvSpPr/>
          <p:nvPr/>
        </p:nvSpPr>
        <p:spPr>
          <a:xfrm>
            <a:off x="182880" y="2377440"/>
            <a:ext cx="402336" cy="5852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3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676656" y="2377440"/>
            <a:ext cx="5120640" cy="5852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A1A1A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通知機能</a:t>
            </a:r>
            <a:endParaRPr lang="en-US" sz="1400" dirty="0"/>
          </a:p>
        </p:txBody>
      </p:sp>
      <p:sp>
        <p:nvSpPr>
          <p:cNvPr id="20" name="Shape 18"/>
          <p:cNvSpPr/>
          <p:nvPr/>
        </p:nvSpPr>
        <p:spPr>
          <a:xfrm>
            <a:off x="182880" y="3017520"/>
            <a:ext cx="5742432" cy="585216"/>
          </a:xfrm>
          <a:prstGeom prst="rect">
            <a:avLst/>
          </a:prstGeom>
          <a:solidFill>
            <a:srgbClr val="E8F0FE"/>
          </a:solidFill>
          <a:ln w="19050">
            <a:solidFill>
              <a:srgbClr val="1976D2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182880" y="3017520"/>
            <a:ext cx="402336" cy="585216"/>
          </a:xfrm>
          <a:prstGeom prst="rect">
            <a:avLst/>
          </a:prstGeom>
          <a:solidFill>
            <a:srgbClr val="1976D2"/>
          </a:solidFill>
          <a:ln/>
        </p:spPr>
      </p:sp>
      <p:sp>
        <p:nvSpPr>
          <p:cNvPr id="22" name="Text 20"/>
          <p:cNvSpPr/>
          <p:nvPr/>
        </p:nvSpPr>
        <p:spPr>
          <a:xfrm>
            <a:off x="182880" y="3017520"/>
            <a:ext cx="402336" cy="5852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4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676656" y="3017520"/>
            <a:ext cx="5120640" cy="5852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A1A1A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スタッフ様メニュー一覧</a:t>
            </a:r>
            <a:endParaRPr lang="en-US" sz="1400" dirty="0"/>
          </a:p>
        </p:txBody>
      </p:sp>
      <p:sp>
        <p:nvSpPr>
          <p:cNvPr id="24" name="Shape 22"/>
          <p:cNvSpPr/>
          <p:nvPr/>
        </p:nvSpPr>
        <p:spPr>
          <a:xfrm>
            <a:off x="182880" y="3657600"/>
            <a:ext cx="5742432" cy="585216"/>
          </a:xfrm>
          <a:prstGeom prst="rect">
            <a:avLst/>
          </a:prstGeom>
          <a:solidFill>
            <a:srgbClr val="E8F0FE"/>
          </a:solidFill>
          <a:ln w="19050">
            <a:solidFill>
              <a:srgbClr val="2E7D32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182880" y="3657600"/>
            <a:ext cx="402336" cy="585216"/>
          </a:xfrm>
          <a:prstGeom prst="rect">
            <a:avLst/>
          </a:prstGeom>
          <a:solidFill>
            <a:srgbClr val="2E7D32"/>
          </a:solidFill>
          <a:ln/>
        </p:spPr>
      </p:sp>
      <p:sp>
        <p:nvSpPr>
          <p:cNvPr id="26" name="Text 24"/>
          <p:cNvSpPr/>
          <p:nvPr/>
        </p:nvSpPr>
        <p:spPr>
          <a:xfrm>
            <a:off x="182880" y="3657600"/>
            <a:ext cx="402336" cy="5852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5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676656" y="3657600"/>
            <a:ext cx="5120640" cy="5852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A1A1A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新規シフト提出</a:t>
            </a:r>
            <a:endParaRPr lang="en-US" sz="1400" dirty="0"/>
          </a:p>
        </p:txBody>
      </p:sp>
      <p:sp>
        <p:nvSpPr>
          <p:cNvPr id="28" name="Shape 26"/>
          <p:cNvSpPr/>
          <p:nvPr/>
        </p:nvSpPr>
        <p:spPr>
          <a:xfrm>
            <a:off x="182880" y="4297680"/>
            <a:ext cx="5742432" cy="585216"/>
          </a:xfrm>
          <a:prstGeom prst="rect">
            <a:avLst/>
          </a:prstGeom>
          <a:solidFill>
            <a:srgbClr val="E8F0FE"/>
          </a:solidFill>
          <a:ln w="19050">
            <a:solidFill>
              <a:srgbClr val="6A1B9A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182880" y="4297680"/>
            <a:ext cx="402336" cy="585216"/>
          </a:xfrm>
          <a:prstGeom prst="rect">
            <a:avLst/>
          </a:prstGeom>
          <a:solidFill>
            <a:srgbClr val="6A1B9A"/>
          </a:solidFill>
          <a:ln/>
        </p:spPr>
      </p:sp>
      <p:sp>
        <p:nvSpPr>
          <p:cNvPr id="30" name="Text 28"/>
          <p:cNvSpPr/>
          <p:nvPr/>
        </p:nvSpPr>
        <p:spPr>
          <a:xfrm>
            <a:off x="182880" y="4297680"/>
            <a:ext cx="402336" cy="5852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6</a:t>
            </a:r>
            <a:endParaRPr lang="en-US" sz="1400" dirty="0"/>
          </a:p>
        </p:txBody>
      </p:sp>
      <p:sp>
        <p:nvSpPr>
          <p:cNvPr id="31" name="Text 29"/>
          <p:cNvSpPr/>
          <p:nvPr/>
        </p:nvSpPr>
        <p:spPr>
          <a:xfrm>
            <a:off x="676656" y="4297680"/>
            <a:ext cx="5120640" cy="5852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A1A1A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シフト変更</a:t>
            </a:r>
            <a:endParaRPr lang="en-US" sz="1400" dirty="0"/>
          </a:p>
        </p:txBody>
      </p:sp>
      <p:sp>
        <p:nvSpPr>
          <p:cNvPr id="32" name="Shape 30"/>
          <p:cNvSpPr/>
          <p:nvPr/>
        </p:nvSpPr>
        <p:spPr>
          <a:xfrm>
            <a:off x="182880" y="4937760"/>
            <a:ext cx="5742432" cy="585216"/>
          </a:xfrm>
          <a:prstGeom prst="rect">
            <a:avLst/>
          </a:prstGeom>
          <a:solidFill>
            <a:srgbClr val="E8F0FE"/>
          </a:solidFill>
          <a:ln w="19050">
            <a:solidFill>
              <a:srgbClr val="00695C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182880" y="4937760"/>
            <a:ext cx="402336" cy="585216"/>
          </a:xfrm>
          <a:prstGeom prst="rect">
            <a:avLst/>
          </a:prstGeom>
          <a:solidFill>
            <a:srgbClr val="00695C"/>
          </a:solidFill>
          <a:ln/>
        </p:spPr>
      </p:sp>
      <p:sp>
        <p:nvSpPr>
          <p:cNvPr id="34" name="Text 32"/>
          <p:cNvSpPr/>
          <p:nvPr/>
        </p:nvSpPr>
        <p:spPr>
          <a:xfrm>
            <a:off x="182880" y="4937760"/>
            <a:ext cx="402336" cy="5852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7</a:t>
            </a:r>
            <a:endParaRPr lang="en-US" sz="1400" dirty="0"/>
          </a:p>
        </p:txBody>
      </p:sp>
      <p:sp>
        <p:nvSpPr>
          <p:cNvPr id="35" name="Text 33"/>
          <p:cNvSpPr/>
          <p:nvPr/>
        </p:nvSpPr>
        <p:spPr>
          <a:xfrm>
            <a:off x="676656" y="4937760"/>
            <a:ext cx="5120640" cy="5852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A1A1A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シフト確認</a:t>
            </a:r>
            <a:endParaRPr lang="en-US" sz="1400" dirty="0"/>
          </a:p>
        </p:txBody>
      </p:sp>
      <p:sp>
        <p:nvSpPr>
          <p:cNvPr id="36" name="Shape 34"/>
          <p:cNvSpPr/>
          <p:nvPr/>
        </p:nvSpPr>
        <p:spPr>
          <a:xfrm>
            <a:off x="182880" y="5577840"/>
            <a:ext cx="5742432" cy="585216"/>
          </a:xfrm>
          <a:prstGeom prst="rect">
            <a:avLst/>
          </a:prstGeom>
          <a:solidFill>
            <a:srgbClr val="E8F0FE"/>
          </a:solidFill>
          <a:ln w="19050">
            <a:solidFill>
              <a:srgbClr val="E65100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182880" y="5577840"/>
            <a:ext cx="402336" cy="585216"/>
          </a:xfrm>
          <a:prstGeom prst="rect">
            <a:avLst/>
          </a:prstGeom>
          <a:solidFill>
            <a:srgbClr val="E65100"/>
          </a:solidFill>
          <a:ln/>
        </p:spPr>
      </p:sp>
      <p:sp>
        <p:nvSpPr>
          <p:cNvPr id="38" name="Text 36"/>
          <p:cNvSpPr/>
          <p:nvPr/>
        </p:nvSpPr>
        <p:spPr>
          <a:xfrm>
            <a:off x="182880" y="5577840"/>
            <a:ext cx="402336" cy="5852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8</a:t>
            </a:r>
            <a:endParaRPr lang="en-US" sz="1400" dirty="0"/>
          </a:p>
        </p:txBody>
      </p:sp>
      <p:sp>
        <p:nvSpPr>
          <p:cNvPr id="39" name="Text 37"/>
          <p:cNvSpPr/>
          <p:nvPr/>
        </p:nvSpPr>
        <p:spPr>
          <a:xfrm>
            <a:off x="676656" y="5577840"/>
            <a:ext cx="5120640" cy="5852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A1A1A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就労時間の確認</a:t>
            </a:r>
            <a:endParaRPr lang="en-US" sz="1400" dirty="0"/>
          </a:p>
        </p:txBody>
      </p:sp>
      <p:sp>
        <p:nvSpPr>
          <p:cNvPr id="40" name="Shape 38"/>
          <p:cNvSpPr/>
          <p:nvPr/>
        </p:nvSpPr>
        <p:spPr>
          <a:xfrm>
            <a:off x="6263640" y="1097280"/>
            <a:ext cx="5742432" cy="585216"/>
          </a:xfrm>
          <a:prstGeom prst="rect">
            <a:avLst/>
          </a:prstGeom>
          <a:solidFill>
            <a:srgbClr val="E8F0FE"/>
          </a:solidFill>
          <a:ln w="19050">
            <a:solidFill>
              <a:srgbClr val="00838F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6263640" y="1097280"/>
            <a:ext cx="402336" cy="585216"/>
          </a:xfrm>
          <a:prstGeom prst="rect">
            <a:avLst/>
          </a:prstGeom>
          <a:solidFill>
            <a:srgbClr val="00838F"/>
          </a:solidFill>
          <a:ln/>
        </p:spPr>
      </p:sp>
      <p:sp>
        <p:nvSpPr>
          <p:cNvPr id="42" name="Text 40"/>
          <p:cNvSpPr/>
          <p:nvPr/>
        </p:nvSpPr>
        <p:spPr>
          <a:xfrm>
            <a:off x="6263640" y="1097280"/>
            <a:ext cx="402336" cy="5852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9</a:t>
            </a:r>
            <a:endParaRPr lang="en-US" sz="1400" dirty="0"/>
          </a:p>
        </p:txBody>
      </p:sp>
      <p:sp>
        <p:nvSpPr>
          <p:cNvPr id="43" name="Text 41"/>
          <p:cNvSpPr/>
          <p:nvPr/>
        </p:nvSpPr>
        <p:spPr>
          <a:xfrm>
            <a:off x="6757416" y="1097280"/>
            <a:ext cx="5120640" cy="5852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A1A1A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勤怠入力（打刻・履歴）</a:t>
            </a:r>
            <a:endParaRPr lang="en-US" sz="1400" dirty="0"/>
          </a:p>
        </p:txBody>
      </p:sp>
      <p:sp>
        <p:nvSpPr>
          <p:cNvPr id="44" name="Shape 42"/>
          <p:cNvSpPr/>
          <p:nvPr/>
        </p:nvSpPr>
        <p:spPr>
          <a:xfrm>
            <a:off x="6263640" y="1737360"/>
            <a:ext cx="5742432" cy="585216"/>
          </a:xfrm>
          <a:prstGeom prst="rect">
            <a:avLst/>
          </a:prstGeom>
          <a:solidFill>
            <a:srgbClr val="E8F0FE"/>
          </a:solidFill>
          <a:ln w="19050">
            <a:solidFill>
              <a:srgbClr val="006064"/>
            </a:solidFill>
            <a:prstDash val="solid"/>
          </a:ln>
        </p:spPr>
      </p:sp>
      <p:sp>
        <p:nvSpPr>
          <p:cNvPr id="45" name="Shape 43"/>
          <p:cNvSpPr/>
          <p:nvPr/>
        </p:nvSpPr>
        <p:spPr>
          <a:xfrm>
            <a:off x="6263640" y="1737360"/>
            <a:ext cx="402336" cy="585216"/>
          </a:xfrm>
          <a:prstGeom prst="rect">
            <a:avLst/>
          </a:prstGeom>
          <a:solidFill>
            <a:srgbClr val="006064"/>
          </a:solidFill>
          <a:ln/>
        </p:spPr>
      </p:sp>
      <p:sp>
        <p:nvSpPr>
          <p:cNvPr id="46" name="Text 44"/>
          <p:cNvSpPr/>
          <p:nvPr/>
        </p:nvSpPr>
        <p:spPr>
          <a:xfrm>
            <a:off x="6263640" y="1737360"/>
            <a:ext cx="402336" cy="5852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10</a:t>
            </a:r>
            <a:endParaRPr lang="en-US" sz="1400" dirty="0"/>
          </a:p>
        </p:txBody>
      </p:sp>
      <p:sp>
        <p:nvSpPr>
          <p:cNvPr id="47" name="Text 45"/>
          <p:cNvSpPr/>
          <p:nvPr/>
        </p:nvSpPr>
        <p:spPr>
          <a:xfrm>
            <a:off x="6757416" y="1737360"/>
            <a:ext cx="5120640" cy="5852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A1A1A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修正申請のやり方</a:t>
            </a:r>
            <a:endParaRPr lang="en-US" sz="1400" dirty="0"/>
          </a:p>
        </p:txBody>
      </p:sp>
      <p:sp>
        <p:nvSpPr>
          <p:cNvPr id="48" name="Shape 46"/>
          <p:cNvSpPr/>
          <p:nvPr/>
        </p:nvSpPr>
        <p:spPr>
          <a:xfrm>
            <a:off x="6263640" y="2377440"/>
            <a:ext cx="5742432" cy="585216"/>
          </a:xfrm>
          <a:prstGeom prst="rect">
            <a:avLst/>
          </a:prstGeom>
          <a:solidFill>
            <a:srgbClr val="FBE9E7"/>
          </a:solidFill>
          <a:ln w="19050">
            <a:solidFill>
              <a:srgbClr val="C62828"/>
            </a:solidFill>
            <a:prstDash val="solid"/>
          </a:ln>
        </p:spPr>
      </p:sp>
      <p:sp>
        <p:nvSpPr>
          <p:cNvPr id="49" name="Shape 47"/>
          <p:cNvSpPr/>
          <p:nvPr/>
        </p:nvSpPr>
        <p:spPr>
          <a:xfrm>
            <a:off x="6263640" y="2377440"/>
            <a:ext cx="402336" cy="585216"/>
          </a:xfrm>
          <a:prstGeom prst="rect">
            <a:avLst/>
          </a:prstGeom>
          <a:solidFill>
            <a:srgbClr val="C62828"/>
          </a:solidFill>
          <a:ln/>
        </p:spPr>
      </p:sp>
      <p:sp>
        <p:nvSpPr>
          <p:cNvPr id="50" name="Text 48"/>
          <p:cNvSpPr/>
          <p:nvPr/>
        </p:nvSpPr>
        <p:spPr>
          <a:xfrm>
            <a:off x="6263640" y="2377440"/>
            <a:ext cx="402336" cy="5852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11</a:t>
            </a:r>
            <a:endParaRPr lang="en-US" sz="1400" dirty="0"/>
          </a:p>
        </p:txBody>
      </p:sp>
      <p:sp>
        <p:nvSpPr>
          <p:cNvPr id="51" name="Text 49"/>
          <p:cNvSpPr/>
          <p:nvPr/>
        </p:nvSpPr>
        <p:spPr>
          <a:xfrm>
            <a:off x="6757416" y="2377440"/>
            <a:ext cx="5120640" cy="5852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A1A1A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オーナー様メニュー一覧</a:t>
            </a:r>
            <a:endParaRPr lang="en-US" sz="1400" dirty="0"/>
          </a:p>
        </p:txBody>
      </p:sp>
      <p:sp>
        <p:nvSpPr>
          <p:cNvPr id="52" name="Shape 50"/>
          <p:cNvSpPr/>
          <p:nvPr/>
        </p:nvSpPr>
        <p:spPr>
          <a:xfrm>
            <a:off x="6263640" y="3017520"/>
            <a:ext cx="5742432" cy="585216"/>
          </a:xfrm>
          <a:prstGeom prst="rect">
            <a:avLst/>
          </a:prstGeom>
          <a:solidFill>
            <a:srgbClr val="EDE7F6"/>
          </a:solidFill>
          <a:ln w="19050">
            <a:solidFill>
              <a:srgbClr val="4527A0"/>
            </a:solidFill>
            <a:prstDash val="solid"/>
          </a:ln>
        </p:spPr>
      </p:sp>
      <p:sp>
        <p:nvSpPr>
          <p:cNvPr id="53" name="Shape 51"/>
          <p:cNvSpPr/>
          <p:nvPr/>
        </p:nvSpPr>
        <p:spPr>
          <a:xfrm>
            <a:off x="6263640" y="3017520"/>
            <a:ext cx="402336" cy="585216"/>
          </a:xfrm>
          <a:prstGeom prst="rect">
            <a:avLst/>
          </a:prstGeom>
          <a:solidFill>
            <a:srgbClr val="4527A0"/>
          </a:solidFill>
          <a:ln/>
        </p:spPr>
      </p:sp>
      <p:sp>
        <p:nvSpPr>
          <p:cNvPr id="54" name="Text 52"/>
          <p:cNvSpPr/>
          <p:nvPr/>
        </p:nvSpPr>
        <p:spPr>
          <a:xfrm>
            <a:off x="6263640" y="3017520"/>
            <a:ext cx="402336" cy="5852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12</a:t>
            </a:r>
            <a:endParaRPr lang="en-US" sz="1400" dirty="0"/>
          </a:p>
        </p:txBody>
      </p:sp>
      <p:sp>
        <p:nvSpPr>
          <p:cNvPr id="55" name="Text 53"/>
          <p:cNvSpPr/>
          <p:nvPr/>
        </p:nvSpPr>
        <p:spPr>
          <a:xfrm>
            <a:off x="6757416" y="3017520"/>
            <a:ext cx="5120640" cy="5852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A1A1A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シフト作成（オーナー様）</a:t>
            </a:r>
            <a:endParaRPr lang="en-US" sz="1400" dirty="0"/>
          </a:p>
        </p:txBody>
      </p:sp>
      <p:sp>
        <p:nvSpPr>
          <p:cNvPr id="56" name="Shape 54"/>
          <p:cNvSpPr/>
          <p:nvPr/>
        </p:nvSpPr>
        <p:spPr>
          <a:xfrm>
            <a:off x="6263640" y="3657600"/>
            <a:ext cx="5742432" cy="585216"/>
          </a:xfrm>
          <a:prstGeom prst="rect">
            <a:avLst/>
          </a:prstGeom>
          <a:solidFill>
            <a:srgbClr val="E0F2F1"/>
          </a:solidFill>
          <a:ln w="19050">
            <a:solidFill>
              <a:srgbClr val="00695C"/>
            </a:solidFill>
            <a:prstDash val="solid"/>
          </a:ln>
        </p:spPr>
      </p:sp>
      <p:sp>
        <p:nvSpPr>
          <p:cNvPr id="57" name="Shape 55"/>
          <p:cNvSpPr/>
          <p:nvPr/>
        </p:nvSpPr>
        <p:spPr>
          <a:xfrm>
            <a:off x="6263640" y="3657600"/>
            <a:ext cx="402336" cy="585216"/>
          </a:xfrm>
          <a:prstGeom prst="rect">
            <a:avLst/>
          </a:prstGeom>
          <a:solidFill>
            <a:srgbClr val="00695C"/>
          </a:solidFill>
          <a:ln/>
        </p:spPr>
      </p:sp>
      <p:sp>
        <p:nvSpPr>
          <p:cNvPr id="58" name="Text 56"/>
          <p:cNvSpPr/>
          <p:nvPr/>
        </p:nvSpPr>
        <p:spPr>
          <a:xfrm>
            <a:off x="6263640" y="3657600"/>
            <a:ext cx="402336" cy="5852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13</a:t>
            </a:r>
            <a:endParaRPr lang="en-US" sz="1400" dirty="0"/>
          </a:p>
        </p:txBody>
      </p:sp>
      <p:sp>
        <p:nvSpPr>
          <p:cNvPr id="59" name="Text 57"/>
          <p:cNvSpPr/>
          <p:nvPr/>
        </p:nvSpPr>
        <p:spPr>
          <a:xfrm>
            <a:off x="6757416" y="3657600"/>
            <a:ext cx="5120640" cy="5852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A1A1A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シフト確認（オーナー様）</a:t>
            </a:r>
            <a:endParaRPr lang="en-US" sz="1400" dirty="0"/>
          </a:p>
        </p:txBody>
      </p:sp>
      <p:sp>
        <p:nvSpPr>
          <p:cNvPr id="60" name="Shape 58"/>
          <p:cNvSpPr/>
          <p:nvPr/>
        </p:nvSpPr>
        <p:spPr>
          <a:xfrm>
            <a:off x="6263640" y="4297680"/>
            <a:ext cx="5742432" cy="585216"/>
          </a:xfrm>
          <a:prstGeom prst="rect">
            <a:avLst/>
          </a:prstGeom>
          <a:solidFill>
            <a:srgbClr val="FBE9E7"/>
          </a:solidFill>
          <a:ln w="19050">
            <a:solidFill>
              <a:srgbClr val="BF360C"/>
            </a:solidFill>
            <a:prstDash val="solid"/>
          </a:ln>
        </p:spPr>
      </p:sp>
      <p:sp>
        <p:nvSpPr>
          <p:cNvPr id="61" name="Shape 59"/>
          <p:cNvSpPr/>
          <p:nvPr/>
        </p:nvSpPr>
        <p:spPr>
          <a:xfrm>
            <a:off x="6263640" y="4297680"/>
            <a:ext cx="402336" cy="585216"/>
          </a:xfrm>
          <a:prstGeom prst="rect">
            <a:avLst/>
          </a:prstGeom>
          <a:solidFill>
            <a:srgbClr val="BF360C"/>
          </a:solidFill>
          <a:ln/>
        </p:spPr>
      </p:sp>
      <p:sp>
        <p:nvSpPr>
          <p:cNvPr id="62" name="Text 60"/>
          <p:cNvSpPr/>
          <p:nvPr/>
        </p:nvSpPr>
        <p:spPr>
          <a:xfrm>
            <a:off x="6263640" y="4297680"/>
            <a:ext cx="402336" cy="5852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14</a:t>
            </a:r>
            <a:endParaRPr lang="en-US" sz="1400" dirty="0"/>
          </a:p>
        </p:txBody>
      </p:sp>
      <p:sp>
        <p:nvSpPr>
          <p:cNvPr id="63" name="Text 61"/>
          <p:cNvSpPr/>
          <p:nvPr/>
        </p:nvSpPr>
        <p:spPr>
          <a:xfrm>
            <a:off x="6757416" y="4297680"/>
            <a:ext cx="5120640" cy="5852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A1A1A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勤怠管理・承認（オーナー様）</a:t>
            </a:r>
            <a:endParaRPr lang="en-US" sz="1400" dirty="0"/>
          </a:p>
        </p:txBody>
      </p:sp>
      <p:sp>
        <p:nvSpPr>
          <p:cNvPr id="64" name="Shape 62"/>
          <p:cNvSpPr/>
          <p:nvPr/>
        </p:nvSpPr>
        <p:spPr>
          <a:xfrm>
            <a:off x="6263640" y="4937760"/>
            <a:ext cx="5742432" cy="585216"/>
          </a:xfrm>
          <a:prstGeom prst="rect">
            <a:avLst/>
          </a:prstGeom>
          <a:solidFill>
            <a:srgbClr val="ECEFF1"/>
          </a:solidFill>
          <a:ln w="19050">
            <a:solidFill>
              <a:srgbClr val="37474F"/>
            </a:solidFill>
            <a:prstDash val="solid"/>
          </a:ln>
        </p:spPr>
      </p:sp>
      <p:sp>
        <p:nvSpPr>
          <p:cNvPr id="65" name="Shape 63"/>
          <p:cNvSpPr/>
          <p:nvPr/>
        </p:nvSpPr>
        <p:spPr>
          <a:xfrm>
            <a:off x="6263640" y="4937760"/>
            <a:ext cx="402336" cy="585216"/>
          </a:xfrm>
          <a:prstGeom prst="rect">
            <a:avLst/>
          </a:prstGeom>
          <a:solidFill>
            <a:srgbClr val="37474F"/>
          </a:solidFill>
          <a:ln/>
        </p:spPr>
      </p:sp>
      <p:sp>
        <p:nvSpPr>
          <p:cNvPr id="66" name="Text 64"/>
          <p:cNvSpPr/>
          <p:nvPr/>
        </p:nvSpPr>
        <p:spPr>
          <a:xfrm>
            <a:off x="6263640" y="4937760"/>
            <a:ext cx="402336" cy="5852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15</a:t>
            </a:r>
            <a:endParaRPr lang="en-US" sz="1400" dirty="0"/>
          </a:p>
        </p:txBody>
      </p:sp>
      <p:sp>
        <p:nvSpPr>
          <p:cNvPr id="67" name="Text 65"/>
          <p:cNvSpPr/>
          <p:nvPr/>
        </p:nvSpPr>
        <p:spPr>
          <a:xfrm>
            <a:off x="6757416" y="4937760"/>
            <a:ext cx="5120640" cy="5852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A1A1A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新人登録（オーナー様）</a:t>
            </a:r>
            <a:endParaRPr lang="en-US" sz="1400" dirty="0"/>
          </a:p>
        </p:txBody>
      </p:sp>
      <p:sp>
        <p:nvSpPr>
          <p:cNvPr id="68" name="Shape 66"/>
          <p:cNvSpPr/>
          <p:nvPr/>
        </p:nvSpPr>
        <p:spPr>
          <a:xfrm>
            <a:off x="6263640" y="5577840"/>
            <a:ext cx="5742432" cy="585216"/>
          </a:xfrm>
          <a:prstGeom prst="rect">
            <a:avLst/>
          </a:prstGeom>
          <a:solidFill>
            <a:srgbClr val="ECEFF1"/>
          </a:solidFill>
          <a:ln w="19050">
            <a:solidFill>
              <a:srgbClr val="546E7A"/>
            </a:solidFill>
            <a:prstDash val="solid"/>
          </a:ln>
        </p:spPr>
      </p:sp>
      <p:sp>
        <p:nvSpPr>
          <p:cNvPr id="69" name="Shape 67"/>
          <p:cNvSpPr/>
          <p:nvPr/>
        </p:nvSpPr>
        <p:spPr>
          <a:xfrm>
            <a:off x="6263640" y="5577840"/>
            <a:ext cx="402336" cy="585216"/>
          </a:xfrm>
          <a:prstGeom prst="rect">
            <a:avLst/>
          </a:prstGeom>
          <a:solidFill>
            <a:srgbClr val="546E7A"/>
          </a:solidFill>
          <a:ln/>
        </p:spPr>
      </p:sp>
      <p:sp>
        <p:nvSpPr>
          <p:cNvPr id="70" name="Text 68"/>
          <p:cNvSpPr/>
          <p:nvPr/>
        </p:nvSpPr>
        <p:spPr>
          <a:xfrm>
            <a:off x="6263640" y="5577840"/>
            <a:ext cx="402336" cy="5852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16</a:t>
            </a:r>
            <a:endParaRPr lang="en-US" sz="1400" dirty="0"/>
          </a:p>
        </p:txBody>
      </p:sp>
      <p:sp>
        <p:nvSpPr>
          <p:cNvPr id="71" name="Text 69"/>
          <p:cNvSpPr/>
          <p:nvPr/>
        </p:nvSpPr>
        <p:spPr>
          <a:xfrm>
            <a:off x="6757416" y="5577840"/>
            <a:ext cx="5120640" cy="5852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A1A1A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よくある質問 ①〜⑤</a:t>
            </a:r>
            <a:endParaRPr lang="en-US" sz="14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749808"/>
          </a:xfrm>
          <a:prstGeom prst="rect">
            <a:avLst/>
          </a:prstGeom>
          <a:solidFill>
            <a:srgbClr val="1565C0"/>
          </a:solidFill>
          <a:ln/>
        </p:spPr>
      </p:sp>
      <p:sp>
        <p:nvSpPr>
          <p:cNvPr id="3" name="Text 1"/>
          <p:cNvSpPr/>
          <p:nvPr/>
        </p:nvSpPr>
        <p:spPr>
          <a:xfrm>
            <a:off x="228600" y="0"/>
            <a:ext cx="1188720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900" b="1" dirty="0">
                <a:solidFill>
                  <a:srgbClr val="FFFFFF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1.  ログイン方法</a:t>
            </a:r>
            <a:endParaRPr lang="en-US" sz="2900" dirty="0"/>
          </a:p>
        </p:txBody>
      </p:sp>
      <p:pic>
        <p:nvPicPr>
          <p:cNvPr id="4" name="Image 0" descr="C:\Users\kouki\my-app\screenshots\01_login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164592" y="758952"/>
            <a:ext cx="3225018" cy="598932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3554202" y="804672"/>
            <a:ext cx="849759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100" b="1" dirty="0">
                <a:solidFill>
                  <a:srgbClr val="1565C0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ログイン手順</a:t>
            </a:r>
            <a:endParaRPr lang="en-US" sz="2100" dirty="0"/>
          </a:p>
        </p:txBody>
      </p:sp>
      <p:sp>
        <p:nvSpPr>
          <p:cNvPr id="6" name="Shape 3"/>
          <p:cNvSpPr/>
          <p:nvPr/>
        </p:nvSpPr>
        <p:spPr>
          <a:xfrm>
            <a:off x="3554202" y="1353312"/>
            <a:ext cx="438912" cy="438912"/>
          </a:xfrm>
          <a:prstGeom prst="rect">
            <a:avLst/>
          </a:prstGeom>
          <a:solidFill>
            <a:srgbClr val="1565C0"/>
          </a:solidFill>
          <a:ln/>
        </p:spPr>
      </p:sp>
      <p:sp>
        <p:nvSpPr>
          <p:cNvPr id="7" name="Text 4"/>
          <p:cNvSpPr/>
          <p:nvPr/>
        </p:nvSpPr>
        <p:spPr>
          <a:xfrm>
            <a:off x="3554202" y="1353312"/>
            <a:ext cx="438912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1</a:t>
            </a:r>
            <a:endParaRPr lang="en-US" sz="1800" dirty="0"/>
          </a:p>
        </p:txBody>
      </p:sp>
      <p:sp>
        <p:nvSpPr>
          <p:cNvPr id="8" name="Text 5"/>
          <p:cNvSpPr/>
          <p:nvPr/>
        </p:nvSpPr>
        <p:spPr>
          <a:xfrm>
            <a:off x="4066266" y="1353312"/>
            <a:ext cx="7939806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50" dirty="0">
                <a:solidFill>
                  <a:srgbClr val="1A1A1A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管理番号を入力（各自に配布された番号）</a:t>
            </a:r>
            <a:endParaRPr lang="en-US" sz="1650" dirty="0"/>
          </a:p>
        </p:txBody>
      </p:sp>
      <p:sp>
        <p:nvSpPr>
          <p:cNvPr id="9" name="Shape 6"/>
          <p:cNvSpPr/>
          <p:nvPr/>
        </p:nvSpPr>
        <p:spPr>
          <a:xfrm>
            <a:off x="3554202" y="2002536"/>
            <a:ext cx="438912" cy="438912"/>
          </a:xfrm>
          <a:prstGeom prst="rect">
            <a:avLst/>
          </a:prstGeom>
          <a:solidFill>
            <a:srgbClr val="1565C0"/>
          </a:solidFill>
          <a:ln/>
        </p:spPr>
      </p:sp>
      <p:sp>
        <p:nvSpPr>
          <p:cNvPr id="10" name="Text 7"/>
          <p:cNvSpPr/>
          <p:nvPr/>
        </p:nvSpPr>
        <p:spPr>
          <a:xfrm>
            <a:off x="3554202" y="2002536"/>
            <a:ext cx="438912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2</a:t>
            </a:r>
            <a:endParaRPr lang="en-US" sz="1800" dirty="0"/>
          </a:p>
        </p:txBody>
      </p:sp>
      <p:sp>
        <p:nvSpPr>
          <p:cNvPr id="11" name="Text 8"/>
          <p:cNvSpPr/>
          <p:nvPr/>
        </p:nvSpPr>
        <p:spPr>
          <a:xfrm>
            <a:off x="4066266" y="2002536"/>
            <a:ext cx="7939806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50" dirty="0">
                <a:solidFill>
                  <a:srgbClr val="1A1A1A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パスワードを入力（👁 で表示切替）</a:t>
            </a:r>
            <a:endParaRPr lang="en-US" sz="1650" dirty="0"/>
          </a:p>
        </p:txBody>
      </p:sp>
      <p:sp>
        <p:nvSpPr>
          <p:cNvPr id="12" name="Shape 9"/>
          <p:cNvSpPr/>
          <p:nvPr/>
        </p:nvSpPr>
        <p:spPr>
          <a:xfrm>
            <a:off x="3554202" y="2651760"/>
            <a:ext cx="438912" cy="438912"/>
          </a:xfrm>
          <a:prstGeom prst="rect">
            <a:avLst/>
          </a:prstGeom>
          <a:solidFill>
            <a:srgbClr val="1565C0"/>
          </a:solidFill>
          <a:ln/>
        </p:spPr>
      </p:sp>
      <p:sp>
        <p:nvSpPr>
          <p:cNvPr id="13" name="Text 10"/>
          <p:cNvSpPr/>
          <p:nvPr/>
        </p:nvSpPr>
        <p:spPr>
          <a:xfrm>
            <a:off x="3554202" y="2651760"/>
            <a:ext cx="438912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3</a:t>
            </a:r>
            <a:endParaRPr lang="en-US" sz="1800" dirty="0"/>
          </a:p>
        </p:txBody>
      </p:sp>
      <p:sp>
        <p:nvSpPr>
          <p:cNvPr id="14" name="Text 11"/>
          <p:cNvSpPr/>
          <p:nvPr/>
        </p:nvSpPr>
        <p:spPr>
          <a:xfrm>
            <a:off x="4066266" y="2651760"/>
            <a:ext cx="7939806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50" dirty="0">
                <a:solidFill>
                  <a:srgbClr val="1A1A1A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「ログイン」ボタンをタップ</a:t>
            </a:r>
            <a:endParaRPr lang="en-US" sz="1650" dirty="0"/>
          </a:p>
        </p:txBody>
      </p:sp>
      <p:sp>
        <p:nvSpPr>
          <p:cNvPr id="15" name="Shape 12"/>
          <p:cNvSpPr/>
          <p:nvPr/>
        </p:nvSpPr>
        <p:spPr>
          <a:xfrm>
            <a:off x="3554202" y="3346704"/>
            <a:ext cx="8497590" cy="493776"/>
          </a:xfrm>
          <a:prstGeom prst="rect">
            <a:avLst/>
          </a:prstGeom>
          <a:solidFill>
            <a:srgbClr val="E8F0FE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3663930" y="3346704"/>
            <a:ext cx="8332998" cy="4937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1A1A1A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💡 パスワードを忘れた場合は「パスワード変更」から変更できます</a:t>
            </a:r>
            <a:endParaRPr lang="en-US" sz="1600" dirty="0"/>
          </a:p>
        </p:txBody>
      </p:sp>
      <p:sp>
        <p:nvSpPr>
          <p:cNvPr id="17" name="Shape 14"/>
          <p:cNvSpPr/>
          <p:nvPr/>
        </p:nvSpPr>
        <p:spPr>
          <a:xfrm>
            <a:off x="3554202" y="4050792"/>
            <a:ext cx="8497590" cy="493776"/>
          </a:xfrm>
          <a:prstGeom prst="rect">
            <a:avLst/>
          </a:prstGeom>
          <a:solidFill>
            <a:srgbClr val="FFF8E1"/>
          </a:solidFill>
          <a:ln w="12700">
            <a:solidFill>
              <a:srgbClr val="F57F17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3663930" y="4050792"/>
            <a:ext cx="8332998" cy="4937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4E342E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⚠️ 管理番号・パスワードは他の人に教えないでください</a:t>
            </a:r>
            <a:endParaRPr lang="en-US" sz="1600" dirty="0"/>
          </a:p>
        </p:txBody>
      </p:sp>
      <p:sp>
        <p:nvSpPr>
          <p:cNvPr id="19" name="Text 16"/>
          <p:cNvSpPr/>
          <p:nvPr/>
        </p:nvSpPr>
        <p:spPr>
          <a:xfrm>
            <a:off x="3554202" y="4800600"/>
            <a:ext cx="849759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100" b="1" dirty="0">
                <a:solidFill>
                  <a:srgbClr val="1565C0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エラーメッセージの意味</a:t>
            </a:r>
            <a:endParaRPr lang="en-US" sz="2100" dirty="0"/>
          </a:p>
        </p:txBody>
      </p:sp>
      <p:sp>
        <p:nvSpPr>
          <p:cNvPr id="20" name="Text 17"/>
          <p:cNvSpPr/>
          <p:nvPr/>
        </p:nvSpPr>
        <p:spPr>
          <a:xfrm>
            <a:off x="3554202" y="5349240"/>
            <a:ext cx="849759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565C0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▶ </a:t>
            </a:r>
            <a:r>
              <a:rPr lang="en-US" sz="1700" dirty="0">
                <a:solidFill>
                  <a:srgbClr val="1A1A1A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管理番号が登録されていません → 番号を確認</a:t>
            </a:r>
            <a:endParaRPr lang="en-US" sz="1700" dirty="0"/>
          </a:p>
        </p:txBody>
      </p:sp>
      <p:sp>
        <p:nvSpPr>
          <p:cNvPr id="21" name="Text 18"/>
          <p:cNvSpPr/>
          <p:nvPr/>
        </p:nvSpPr>
        <p:spPr>
          <a:xfrm>
            <a:off x="3554202" y="5824728"/>
            <a:ext cx="849759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565C0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▶ </a:t>
            </a:r>
            <a:r>
              <a:rPr lang="en-US" sz="1700" dirty="0">
                <a:solidFill>
                  <a:srgbClr val="1A1A1A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パスワードが違います → パスワードを確認</a:t>
            </a:r>
            <a:endParaRPr lang="en-US" sz="17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749808"/>
          </a:xfrm>
          <a:prstGeom prst="rect">
            <a:avLst/>
          </a:prstGeom>
          <a:solidFill>
            <a:srgbClr val="37474F"/>
          </a:solidFill>
          <a:ln/>
        </p:spPr>
      </p:sp>
      <p:sp>
        <p:nvSpPr>
          <p:cNvPr id="3" name="Text 1"/>
          <p:cNvSpPr/>
          <p:nvPr/>
        </p:nvSpPr>
        <p:spPr>
          <a:xfrm>
            <a:off x="228600" y="0"/>
            <a:ext cx="1188720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900" b="1" dirty="0">
                <a:solidFill>
                  <a:srgbClr val="FFFFFF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2.  パスワード変更</a:t>
            </a:r>
            <a:endParaRPr lang="en-US" sz="2900" dirty="0"/>
          </a:p>
        </p:txBody>
      </p:sp>
      <p:pic>
        <p:nvPicPr>
          <p:cNvPr id="4" name="Image 0" descr="C:\Users\kouki\my-app\screenshots\03_password_change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164592" y="758952"/>
            <a:ext cx="3225018" cy="598932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3554202" y="804672"/>
            <a:ext cx="849759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100" b="1" dirty="0">
                <a:solidFill>
                  <a:srgbClr val="37474F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パスワード変更の手順</a:t>
            </a:r>
            <a:endParaRPr lang="en-US" sz="2100" dirty="0"/>
          </a:p>
        </p:txBody>
      </p:sp>
      <p:sp>
        <p:nvSpPr>
          <p:cNvPr id="6" name="Shape 3"/>
          <p:cNvSpPr/>
          <p:nvPr/>
        </p:nvSpPr>
        <p:spPr>
          <a:xfrm>
            <a:off x="3554202" y="1353312"/>
            <a:ext cx="438912" cy="438912"/>
          </a:xfrm>
          <a:prstGeom prst="rect">
            <a:avLst/>
          </a:prstGeom>
          <a:solidFill>
            <a:srgbClr val="37474F"/>
          </a:solidFill>
          <a:ln/>
        </p:spPr>
      </p:sp>
      <p:sp>
        <p:nvSpPr>
          <p:cNvPr id="7" name="Text 4"/>
          <p:cNvSpPr/>
          <p:nvPr/>
        </p:nvSpPr>
        <p:spPr>
          <a:xfrm>
            <a:off x="3554202" y="1353312"/>
            <a:ext cx="438912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1</a:t>
            </a:r>
            <a:endParaRPr lang="en-US" sz="1800" dirty="0"/>
          </a:p>
        </p:txBody>
      </p:sp>
      <p:sp>
        <p:nvSpPr>
          <p:cNvPr id="8" name="Text 5"/>
          <p:cNvSpPr/>
          <p:nvPr/>
        </p:nvSpPr>
        <p:spPr>
          <a:xfrm>
            <a:off x="4066266" y="1353312"/>
            <a:ext cx="7939806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50" dirty="0">
                <a:solidFill>
                  <a:srgbClr val="1A1A1A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ログイン画面の「パスワード変更」をタップ</a:t>
            </a:r>
            <a:endParaRPr lang="en-US" sz="1650" dirty="0"/>
          </a:p>
        </p:txBody>
      </p:sp>
      <p:sp>
        <p:nvSpPr>
          <p:cNvPr id="9" name="Shape 6"/>
          <p:cNvSpPr/>
          <p:nvPr/>
        </p:nvSpPr>
        <p:spPr>
          <a:xfrm>
            <a:off x="3554202" y="2002536"/>
            <a:ext cx="438912" cy="438912"/>
          </a:xfrm>
          <a:prstGeom prst="rect">
            <a:avLst/>
          </a:prstGeom>
          <a:solidFill>
            <a:srgbClr val="37474F"/>
          </a:solidFill>
          <a:ln/>
        </p:spPr>
      </p:sp>
      <p:sp>
        <p:nvSpPr>
          <p:cNvPr id="10" name="Text 7"/>
          <p:cNvSpPr/>
          <p:nvPr/>
        </p:nvSpPr>
        <p:spPr>
          <a:xfrm>
            <a:off x="3554202" y="2002536"/>
            <a:ext cx="438912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2</a:t>
            </a:r>
            <a:endParaRPr lang="en-US" sz="1800" dirty="0"/>
          </a:p>
        </p:txBody>
      </p:sp>
      <p:sp>
        <p:nvSpPr>
          <p:cNvPr id="11" name="Text 8"/>
          <p:cNvSpPr/>
          <p:nvPr/>
        </p:nvSpPr>
        <p:spPr>
          <a:xfrm>
            <a:off x="4066266" y="2002536"/>
            <a:ext cx="7939806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50" dirty="0">
                <a:solidFill>
                  <a:srgbClr val="1A1A1A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管理番号を入力</a:t>
            </a:r>
            <a:endParaRPr lang="en-US" sz="1650" dirty="0"/>
          </a:p>
        </p:txBody>
      </p:sp>
      <p:sp>
        <p:nvSpPr>
          <p:cNvPr id="12" name="Shape 9"/>
          <p:cNvSpPr/>
          <p:nvPr/>
        </p:nvSpPr>
        <p:spPr>
          <a:xfrm>
            <a:off x="3554202" y="2651760"/>
            <a:ext cx="438912" cy="438912"/>
          </a:xfrm>
          <a:prstGeom prst="rect">
            <a:avLst/>
          </a:prstGeom>
          <a:solidFill>
            <a:srgbClr val="37474F"/>
          </a:solidFill>
          <a:ln/>
        </p:spPr>
      </p:sp>
      <p:sp>
        <p:nvSpPr>
          <p:cNvPr id="13" name="Text 10"/>
          <p:cNvSpPr/>
          <p:nvPr/>
        </p:nvSpPr>
        <p:spPr>
          <a:xfrm>
            <a:off x="3554202" y="2651760"/>
            <a:ext cx="438912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3</a:t>
            </a:r>
            <a:endParaRPr lang="en-US" sz="1800" dirty="0"/>
          </a:p>
        </p:txBody>
      </p:sp>
      <p:sp>
        <p:nvSpPr>
          <p:cNvPr id="14" name="Text 11"/>
          <p:cNvSpPr/>
          <p:nvPr/>
        </p:nvSpPr>
        <p:spPr>
          <a:xfrm>
            <a:off x="4066266" y="2651760"/>
            <a:ext cx="7939806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50" dirty="0">
                <a:solidFill>
                  <a:srgbClr val="1A1A1A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新しいパスワードを入力（6文字以上）</a:t>
            </a:r>
            <a:endParaRPr lang="en-US" sz="1650" dirty="0"/>
          </a:p>
        </p:txBody>
      </p:sp>
      <p:sp>
        <p:nvSpPr>
          <p:cNvPr id="15" name="Shape 12"/>
          <p:cNvSpPr/>
          <p:nvPr/>
        </p:nvSpPr>
        <p:spPr>
          <a:xfrm>
            <a:off x="3554202" y="3300984"/>
            <a:ext cx="438912" cy="438912"/>
          </a:xfrm>
          <a:prstGeom prst="rect">
            <a:avLst/>
          </a:prstGeom>
          <a:solidFill>
            <a:srgbClr val="37474F"/>
          </a:solidFill>
          <a:ln/>
        </p:spPr>
      </p:sp>
      <p:sp>
        <p:nvSpPr>
          <p:cNvPr id="16" name="Text 13"/>
          <p:cNvSpPr/>
          <p:nvPr/>
        </p:nvSpPr>
        <p:spPr>
          <a:xfrm>
            <a:off x="3554202" y="3300984"/>
            <a:ext cx="438912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4</a:t>
            </a:r>
            <a:endParaRPr lang="en-US" sz="1800" dirty="0"/>
          </a:p>
        </p:txBody>
      </p:sp>
      <p:sp>
        <p:nvSpPr>
          <p:cNvPr id="17" name="Text 14"/>
          <p:cNvSpPr/>
          <p:nvPr/>
        </p:nvSpPr>
        <p:spPr>
          <a:xfrm>
            <a:off x="4066266" y="3300984"/>
            <a:ext cx="7939806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50" dirty="0">
                <a:solidFill>
                  <a:srgbClr val="1A1A1A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確認用に同じパスワードを再入力</a:t>
            </a:r>
            <a:endParaRPr lang="en-US" sz="1650" dirty="0"/>
          </a:p>
        </p:txBody>
      </p:sp>
      <p:sp>
        <p:nvSpPr>
          <p:cNvPr id="18" name="Shape 15"/>
          <p:cNvSpPr/>
          <p:nvPr/>
        </p:nvSpPr>
        <p:spPr>
          <a:xfrm>
            <a:off x="3554202" y="3950208"/>
            <a:ext cx="438912" cy="438912"/>
          </a:xfrm>
          <a:prstGeom prst="rect">
            <a:avLst/>
          </a:prstGeom>
          <a:solidFill>
            <a:srgbClr val="37474F"/>
          </a:solidFill>
          <a:ln/>
        </p:spPr>
      </p:sp>
      <p:sp>
        <p:nvSpPr>
          <p:cNvPr id="19" name="Text 16"/>
          <p:cNvSpPr/>
          <p:nvPr/>
        </p:nvSpPr>
        <p:spPr>
          <a:xfrm>
            <a:off x="3554202" y="3950208"/>
            <a:ext cx="438912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5</a:t>
            </a:r>
            <a:endParaRPr lang="en-US" sz="1800" dirty="0"/>
          </a:p>
        </p:txBody>
      </p:sp>
      <p:sp>
        <p:nvSpPr>
          <p:cNvPr id="20" name="Text 17"/>
          <p:cNvSpPr/>
          <p:nvPr/>
        </p:nvSpPr>
        <p:spPr>
          <a:xfrm>
            <a:off x="4066266" y="3950208"/>
            <a:ext cx="7939806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50" dirty="0">
                <a:solidFill>
                  <a:srgbClr val="1A1A1A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「変更する」をタップして完了</a:t>
            </a:r>
            <a:endParaRPr lang="en-US" sz="1650" dirty="0"/>
          </a:p>
        </p:txBody>
      </p:sp>
      <p:sp>
        <p:nvSpPr>
          <p:cNvPr id="21" name="Shape 18"/>
          <p:cNvSpPr/>
          <p:nvPr/>
        </p:nvSpPr>
        <p:spPr>
          <a:xfrm>
            <a:off x="3554202" y="4645152"/>
            <a:ext cx="8497590" cy="493776"/>
          </a:xfrm>
          <a:prstGeom prst="rect">
            <a:avLst/>
          </a:prstGeom>
          <a:solidFill>
            <a:srgbClr val="FFF8E1"/>
          </a:solidFill>
          <a:ln w="12700">
            <a:solidFill>
              <a:srgbClr val="F57F17"/>
            </a:solidFill>
            <a:prstDash val="solid"/>
          </a:ln>
        </p:spPr>
      </p:sp>
      <p:sp>
        <p:nvSpPr>
          <p:cNvPr id="22" name="Text 19"/>
          <p:cNvSpPr/>
          <p:nvPr/>
        </p:nvSpPr>
        <p:spPr>
          <a:xfrm>
            <a:off x="3663930" y="4645152"/>
            <a:ext cx="8332998" cy="4937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4E342E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⚠️ パスワードは6文字以上で設定してください</a:t>
            </a:r>
            <a:endParaRPr lang="en-US" sz="1600" dirty="0"/>
          </a:p>
        </p:txBody>
      </p:sp>
      <p:sp>
        <p:nvSpPr>
          <p:cNvPr id="23" name="Shape 20"/>
          <p:cNvSpPr/>
          <p:nvPr/>
        </p:nvSpPr>
        <p:spPr>
          <a:xfrm>
            <a:off x="3554202" y="5349240"/>
            <a:ext cx="8497590" cy="493776"/>
          </a:xfrm>
          <a:prstGeom prst="rect">
            <a:avLst/>
          </a:prstGeom>
          <a:solidFill>
            <a:srgbClr val="E8F0FE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24" name="Text 21"/>
          <p:cNvSpPr/>
          <p:nvPr/>
        </p:nvSpPr>
        <p:spPr>
          <a:xfrm>
            <a:off x="3663930" y="5349240"/>
            <a:ext cx="8332998" cy="4937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1A1A1A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💡 変更後は新しいパスワードでログインしてください</a:t>
            </a:r>
            <a:endParaRPr lang="en-US" sz="16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749808"/>
          </a:xfrm>
          <a:prstGeom prst="rect">
            <a:avLst/>
          </a:prstGeom>
          <a:solidFill>
            <a:srgbClr val="1976D2"/>
          </a:solidFill>
          <a:ln/>
        </p:spPr>
      </p:sp>
      <p:sp>
        <p:nvSpPr>
          <p:cNvPr id="3" name="Text 1"/>
          <p:cNvSpPr/>
          <p:nvPr/>
        </p:nvSpPr>
        <p:spPr>
          <a:xfrm>
            <a:off x="228600" y="0"/>
            <a:ext cx="1188720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900" b="1" dirty="0">
                <a:solidFill>
                  <a:srgbClr val="FFFFFF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3.  メニューの選択</a:t>
            </a:r>
            <a:endParaRPr lang="en-US" sz="2900" dirty="0"/>
          </a:p>
        </p:txBody>
      </p:sp>
      <p:pic>
        <p:nvPicPr>
          <p:cNvPr id="4" name="Image 0" descr="C:\Users\kouki\my-app\screenshots\help_07_role_select_manager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164592" y="758952"/>
            <a:ext cx="3225018" cy="598932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3554202" y="804672"/>
            <a:ext cx="849759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100" b="1" dirty="0">
                <a:solidFill>
                  <a:srgbClr val="1565C0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ログイン後に表示されるメニュー</a:t>
            </a:r>
            <a:endParaRPr lang="en-US" sz="2100" dirty="0"/>
          </a:p>
        </p:txBody>
      </p:sp>
      <p:sp>
        <p:nvSpPr>
          <p:cNvPr id="6" name="Shape 3"/>
          <p:cNvSpPr/>
          <p:nvPr/>
        </p:nvSpPr>
        <p:spPr>
          <a:xfrm>
            <a:off x="3554202" y="1490472"/>
            <a:ext cx="8497590" cy="420624"/>
          </a:xfrm>
          <a:prstGeom prst="rect">
            <a:avLst/>
          </a:prstGeom>
          <a:solidFill>
            <a:srgbClr val="1976D2"/>
          </a:solidFill>
          <a:ln/>
        </p:spPr>
      </p:sp>
      <p:sp>
        <p:nvSpPr>
          <p:cNvPr id="7" name="Text 4"/>
          <p:cNvSpPr/>
          <p:nvPr/>
        </p:nvSpPr>
        <p:spPr>
          <a:xfrm>
            <a:off x="3663930" y="1490472"/>
            <a:ext cx="8332998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👤 スタッフ様</a:t>
            </a:r>
            <a:endParaRPr lang="en-US" sz="1600" dirty="0"/>
          </a:p>
        </p:txBody>
      </p:sp>
      <p:sp>
        <p:nvSpPr>
          <p:cNvPr id="8" name="Text 5"/>
          <p:cNvSpPr/>
          <p:nvPr/>
        </p:nvSpPr>
        <p:spPr>
          <a:xfrm>
            <a:off x="3737082" y="1984248"/>
            <a:ext cx="831471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50" dirty="0">
                <a:solidFill>
                  <a:srgbClr val="546E7A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シフト提出・確認・変更・就労時間確認</a:t>
            </a:r>
            <a:endParaRPr lang="en-US" sz="1550" dirty="0"/>
          </a:p>
        </p:txBody>
      </p:sp>
      <p:sp>
        <p:nvSpPr>
          <p:cNvPr id="9" name="Shape 6"/>
          <p:cNvSpPr/>
          <p:nvPr/>
        </p:nvSpPr>
        <p:spPr>
          <a:xfrm>
            <a:off x="3554202" y="2542032"/>
            <a:ext cx="8497590" cy="420624"/>
          </a:xfrm>
          <a:prstGeom prst="rect">
            <a:avLst/>
          </a:prstGeom>
          <a:solidFill>
            <a:srgbClr val="C62828"/>
          </a:solidFill>
          <a:ln/>
        </p:spPr>
      </p:sp>
      <p:sp>
        <p:nvSpPr>
          <p:cNvPr id="10" name="Text 7"/>
          <p:cNvSpPr/>
          <p:nvPr/>
        </p:nvSpPr>
        <p:spPr>
          <a:xfrm>
            <a:off x="3663930" y="2542032"/>
            <a:ext cx="8332998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👔 オーナー様</a:t>
            </a:r>
            <a:endParaRPr lang="en-US" sz="1600" dirty="0"/>
          </a:p>
        </p:txBody>
      </p:sp>
      <p:sp>
        <p:nvSpPr>
          <p:cNvPr id="11" name="Text 8"/>
          <p:cNvSpPr/>
          <p:nvPr/>
        </p:nvSpPr>
        <p:spPr>
          <a:xfrm>
            <a:off x="3737082" y="3035808"/>
            <a:ext cx="831471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50" dirty="0">
                <a:solidFill>
                  <a:srgbClr val="546E7A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シフト作成・勤怠管理・新人登録</a:t>
            </a:r>
            <a:endParaRPr lang="en-US" sz="1550" dirty="0"/>
          </a:p>
        </p:txBody>
      </p:sp>
      <p:sp>
        <p:nvSpPr>
          <p:cNvPr id="12" name="Shape 9"/>
          <p:cNvSpPr/>
          <p:nvPr/>
        </p:nvSpPr>
        <p:spPr>
          <a:xfrm>
            <a:off x="3554202" y="3593592"/>
            <a:ext cx="8497590" cy="420624"/>
          </a:xfrm>
          <a:prstGeom prst="rect">
            <a:avLst/>
          </a:prstGeom>
          <a:solidFill>
            <a:srgbClr val="00838F"/>
          </a:solidFill>
          <a:ln/>
        </p:spPr>
      </p:sp>
      <p:sp>
        <p:nvSpPr>
          <p:cNvPr id="13" name="Text 10"/>
          <p:cNvSpPr/>
          <p:nvPr/>
        </p:nvSpPr>
        <p:spPr>
          <a:xfrm>
            <a:off x="3663930" y="3593592"/>
            <a:ext cx="8332998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⏰ 勤怠入力</a:t>
            </a:r>
            <a:endParaRPr lang="en-US" sz="1600" dirty="0"/>
          </a:p>
        </p:txBody>
      </p:sp>
      <p:sp>
        <p:nvSpPr>
          <p:cNvPr id="14" name="Text 11"/>
          <p:cNvSpPr/>
          <p:nvPr/>
        </p:nvSpPr>
        <p:spPr>
          <a:xfrm>
            <a:off x="3737082" y="4087368"/>
            <a:ext cx="831471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50" dirty="0">
                <a:solidFill>
                  <a:srgbClr val="546E7A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出退勤・休憩の打刻専用画面</a:t>
            </a:r>
            <a:endParaRPr lang="en-US" sz="1550" dirty="0"/>
          </a:p>
        </p:txBody>
      </p:sp>
      <p:sp>
        <p:nvSpPr>
          <p:cNvPr id="15" name="Shape 12"/>
          <p:cNvSpPr/>
          <p:nvPr/>
        </p:nvSpPr>
        <p:spPr>
          <a:xfrm>
            <a:off x="3554202" y="4736592"/>
            <a:ext cx="8497590" cy="493776"/>
          </a:xfrm>
          <a:prstGeom prst="rect">
            <a:avLst/>
          </a:prstGeom>
          <a:solidFill>
            <a:srgbClr val="E8F0FE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3663930" y="4736592"/>
            <a:ext cx="8332998" cy="4937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1A1A1A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💡 自分の担当に合ったメニューを選んでください</a:t>
            </a:r>
            <a:endParaRPr lang="en-US" sz="16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749808"/>
          </a:xfrm>
          <a:prstGeom prst="rect">
            <a:avLst/>
          </a:prstGeom>
          <a:solidFill>
            <a:srgbClr val="1976D2"/>
          </a:solidFill>
          <a:ln/>
        </p:spPr>
      </p:sp>
      <p:sp>
        <p:nvSpPr>
          <p:cNvPr id="3" name="Text 1"/>
          <p:cNvSpPr/>
          <p:nvPr/>
        </p:nvSpPr>
        <p:spPr>
          <a:xfrm>
            <a:off x="228600" y="0"/>
            <a:ext cx="1188720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900" b="1" dirty="0">
                <a:solidFill>
                  <a:srgbClr val="FFFFFF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4.  スタッフ様メニュー</a:t>
            </a:r>
            <a:endParaRPr lang="en-US" sz="2900" dirty="0"/>
          </a:p>
        </p:txBody>
      </p:sp>
      <p:sp>
        <p:nvSpPr>
          <p:cNvPr id="5" name="Text 2"/>
          <p:cNvSpPr/>
          <p:nvPr/>
        </p:nvSpPr>
        <p:spPr>
          <a:xfrm>
            <a:off x="3554202" y="804672"/>
            <a:ext cx="849759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100" b="1" dirty="0">
                <a:solidFill>
                  <a:srgbClr val="1976D2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メニュー一覧</a:t>
            </a:r>
            <a:endParaRPr lang="en-US" sz="2100" dirty="0"/>
          </a:p>
        </p:txBody>
      </p:sp>
      <p:sp>
        <p:nvSpPr>
          <p:cNvPr id="6" name="Text 3"/>
          <p:cNvSpPr/>
          <p:nvPr/>
        </p:nvSpPr>
        <p:spPr>
          <a:xfrm>
            <a:off x="3554202" y="1490472"/>
            <a:ext cx="849759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976D2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▶ </a:t>
            </a:r>
            <a:r>
              <a:rPr lang="en-US" sz="1700" dirty="0">
                <a:solidFill>
                  <a:srgbClr val="1A1A1A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📅 シフト関連　→　シフトのサブメニューを開く</a:t>
            </a:r>
            <a:endParaRPr lang="en-US" sz="1700" dirty="0"/>
          </a:p>
        </p:txBody>
      </p:sp>
      <p:sp>
        <p:nvSpPr>
          <p:cNvPr id="7" name="Text 4"/>
          <p:cNvSpPr/>
          <p:nvPr/>
        </p:nvSpPr>
        <p:spPr>
          <a:xfrm>
            <a:off x="3737082" y="1965960"/>
            <a:ext cx="831471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50" dirty="0">
                <a:solidFill>
                  <a:srgbClr val="546E7A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　　シフト提出 / シフト変更 / シフト確認</a:t>
            </a:r>
            <a:endParaRPr lang="en-US" sz="1550" dirty="0"/>
          </a:p>
        </p:txBody>
      </p:sp>
      <p:sp>
        <p:nvSpPr>
          <p:cNvPr id="8" name="Text 5"/>
          <p:cNvSpPr/>
          <p:nvPr/>
        </p:nvSpPr>
        <p:spPr>
          <a:xfrm>
            <a:off x="3554202" y="2432304"/>
            <a:ext cx="849759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976D2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▶ </a:t>
            </a:r>
            <a:r>
              <a:rPr lang="en-US" sz="1700" dirty="0">
                <a:solidFill>
                  <a:srgbClr val="1A1A1A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就労時間確認　→　自分の勤務実績を確認する</a:t>
            </a:r>
            <a:endParaRPr lang="en-US" sz="1700" dirty="0"/>
          </a:p>
        </p:txBody>
      </p:sp>
      <p:sp>
        <p:nvSpPr>
          <p:cNvPr id="9" name="Text 6"/>
          <p:cNvSpPr/>
          <p:nvPr/>
        </p:nvSpPr>
        <p:spPr>
          <a:xfrm>
            <a:off x="3554202" y="2953512"/>
            <a:ext cx="849759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976D2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▶ </a:t>
            </a:r>
            <a:r>
              <a:rPr lang="en-US" sz="1700" dirty="0">
                <a:solidFill>
                  <a:srgbClr val="1A1A1A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お問い合わせ　→　質問・問題をフォームで送る</a:t>
            </a:r>
            <a:endParaRPr lang="en-US" sz="1700" dirty="0"/>
          </a:p>
        </p:txBody>
      </p:sp>
      <p:sp>
        <p:nvSpPr>
          <p:cNvPr id="10" name="Shape 7"/>
          <p:cNvSpPr/>
          <p:nvPr/>
        </p:nvSpPr>
        <p:spPr>
          <a:xfrm>
            <a:off x="3554202" y="3657600"/>
            <a:ext cx="8497590" cy="493776"/>
          </a:xfrm>
          <a:prstGeom prst="rect">
            <a:avLst/>
          </a:prstGeom>
          <a:solidFill>
            <a:srgbClr val="E8F0FE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3663930" y="3657600"/>
            <a:ext cx="8332998" cy="4937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1A1A1A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💡 「← 戻る」でいつでも前の画面に戻れます</a:t>
            </a:r>
            <a:endParaRPr lang="en-US" sz="1600" dirty="0"/>
          </a:p>
        </p:txBody>
      </p:sp>
      <p:pic>
        <p:nvPicPr>
          <p:cNvPr id="13" name="図 12">
            <a:extLst>
              <a:ext uri="{FF2B5EF4-FFF2-40B4-BE49-F238E27FC236}">
                <a16:creationId xmlns:a16="http://schemas.microsoft.com/office/drawing/2014/main" id="{F6F98F02-AC9D-2567-8CEB-612EDBFBDE2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1107440"/>
            <a:ext cx="3548556" cy="526796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749808"/>
          </a:xfrm>
          <a:prstGeom prst="rect">
            <a:avLst/>
          </a:prstGeom>
          <a:solidFill>
            <a:srgbClr val="0277BD"/>
          </a:solidFill>
          <a:ln/>
        </p:spPr>
      </p:sp>
      <p:sp>
        <p:nvSpPr>
          <p:cNvPr id="3" name="Text 1"/>
          <p:cNvSpPr/>
          <p:nvPr/>
        </p:nvSpPr>
        <p:spPr>
          <a:xfrm>
            <a:off x="228600" y="0"/>
            <a:ext cx="1188720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900" b="1" dirty="0">
                <a:solidFill>
                  <a:srgbClr val="FFFFFF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3.  通知機能</a:t>
            </a:r>
            <a:endParaRPr lang="en-US" sz="2900" dirty="0"/>
          </a:p>
        </p:txBody>
      </p:sp>
      <p:pic>
        <p:nvPicPr>
          <p:cNvPr id="4" name="Image 0" descr="C:\Users\kouki\my-app\screenshots\help_03_staff_menu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164592" y="758952"/>
            <a:ext cx="3225018" cy="598932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3554202" y="804672"/>
            <a:ext cx="849759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100" b="1" dirty="0">
                <a:solidFill>
                  <a:srgbClr val="0277BD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通知の種類</a:t>
            </a:r>
            <a:endParaRPr lang="en-US" sz="2100" dirty="0"/>
          </a:p>
        </p:txBody>
      </p:sp>
      <p:sp>
        <p:nvSpPr>
          <p:cNvPr id="6" name="Text 3"/>
          <p:cNvSpPr/>
          <p:nvPr/>
        </p:nvSpPr>
        <p:spPr>
          <a:xfrm>
            <a:off x="3554202" y="1353312"/>
            <a:ext cx="849759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0277BD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▶ </a:t>
            </a:r>
            <a:r>
              <a:rPr lang="en-US" sz="1700" dirty="0">
                <a:solidFill>
                  <a:srgbClr val="1A1A1A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🔔 シフトリマインダー　→　前日 20時にシフトをお知らせ</a:t>
            </a:r>
            <a:endParaRPr lang="en-US" sz="1700" dirty="0"/>
          </a:p>
        </p:txBody>
      </p:sp>
      <p:sp>
        <p:nvSpPr>
          <p:cNvPr id="7" name="Text 4"/>
          <p:cNvSpPr/>
          <p:nvPr/>
        </p:nvSpPr>
        <p:spPr>
          <a:xfrm>
            <a:off x="3554202" y="1828800"/>
            <a:ext cx="849759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0277BD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▶ </a:t>
            </a:r>
            <a:r>
              <a:rPr lang="en-US" sz="1700" dirty="0">
                <a:solidFill>
                  <a:srgbClr val="1A1A1A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⏰ 1時間前通知　→　出勤1時間前にアラートが届く</a:t>
            </a:r>
            <a:endParaRPr lang="en-US" sz="1700" dirty="0"/>
          </a:p>
        </p:txBody>
      </p:sp>
      <p:sp>
        <p:nvSpPr>
          <p:cNvPr id="8" name="Text 5"/>
          <p:cNvSpPr/>
          <p:nvPr/>
        </p:nvSpPr>
        <p:spPr>
          <a:xfrm>
            <a:off x="3554202" y="2304288"/>
            <a:ext cx="849759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0277BD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▶ </a:t>
            </a:r>
            <a:r>
              <a:rPr lang="en-US" sz="1700" dirty="0">
                <a:solidFill>
                  <a:srgbClr val="1A1A1A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⚠️ 打刻不備アラート　→　打ち忘れ・漏れを通知</a:t>
            </a:r>
            <a:endParaRPr lang="en-US" sz="1700" dirty="0"/>
          </a:p>
        </p:txBody>
      </p:sp>
      <p:sp>
        <p:nvSpPr>
          <p:cNvPr id="9" name="Text 6"/>
          <p:cNvSpPr/>
          <p:nvPr/>
        </p:nvSpPr>
        <p:spPr>
          <a:xfrm>
            <a:off x="3554202" y="2779776"/>
            <a:ext cx="849759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0277BD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▶ </a:t>
            </a:r>
            <a:r>
              <a:rPr lang="en-US" sz="1700" dirty="0">
                <a:solidFill>
                  <a:srgbClr val="1A1A1A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📋 シフト提出期限通知　→　期限前日にリマインド</a:t>
            </a:r>
            <a:endParaRPr lang="en-US" sz="1700" dirty="0"/>
          </a:p>
        </p:txBody>
      </p:sp>
      <p:sp>
        <p:nvSpPr>
          <p:cNvPr id="10" name="Text 7"/>
          <p:cNvSpPr/>
          <p:nvPr/>
        </p:nvSpPr>
        <p:spPr>
          <a:xfrm>
            <a:off x="3554202" y="3392424"/>
            <a:ext cx="849759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100" b="1" dirty="0">
                <a:solidFill>
                  <a:srgbClr val="0277BD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通知のON/OFF 切り替え</a:t>
            </a:r>
            <a:endParaRPr lang="en-US" sz="2100" dirty="0"/>
          </a:p>
        </p:txBody>
      </p:sp>
      <p:sp>
        <p:nvSpPr>
          <p:cNvPr id="11" name="Text 8"/>
          <p:cNvSpPr/>
          <p:nvPr/>
        </p:nvSpPr>
        <p:spPr>
          <a:xfrm>
            <a:off x="3554202" y="3941064"/>
            <a:ext cx="849759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0277BD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▶ </a:t>
            </a:r>
            <a:r>
              <a:rPr lang="en-US" sz="1700" dirty="0">
                <a:solidFill>
                  <a:srgbClr val="1A1A1A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メニュー上部の「🔔 通知ON」ボタンをタップしてON/OFF切り替え</a:t>
            </a:r>
            <a:endParaRPr lang="en-US" sz="1700" dirty="0"/>
          </a:p>
        </p:txBody>
      </p:sp>
      <p:sp>
        <p:nvSpPr>
          <p:cNvPr id="12" name="Text 9"/>
          <p:cNvSpPr/>
          <p:nvPr/>
        </p:nvSpPr>
        <p:spPr>
          <a:xfrm>
            <a:off x="3554202" y="4416552"/>
            <a:ext cx="849759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0277BD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▶ </a:t>
            </a:r>
            <a:r>
              <a:rPr lang="en-US" sz="1700" dirty="0">
                <a:solidFill>
                  <a:srgbClr val="1A1A1A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初回ログイン時に「通知を受け取りますか？」と表示される</a:t>
            </a:r>
            <a:endParaRPr lang="en-US" sz="1700" dirty="0"/>
          </a:p>
        </p:txBody>
      </p:sp>
      <p:sp>
        <p:nvSpPr>
          <p:cNvPr id="13" name="Text 10"/>
          <p:cNvSpPr/>
          <p:nvPr/>
        </p:nvSpPr>
        <p:spPr>
          <a:xfrm>
            <a:off x="3554202" y="4983480"/>
            <a:ext cx="849759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100" b="1" dirty="0">
                <a:solidFill>
                  <a:srgbClr val="E65100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📱 iPhoneの場合（重要）</a:t>
            </a:r>
            <a:endParaRPr lang="en-US" sz="2100" dirty="0"/>
          </a:p>
        </p:txBody>
      </p:sp>
      <p:sp>
        <p:nvSpPr>
          <p:cNvPr id="14" name="Shape 11"/>
          <p:cNvSpPr/>
          <p:nvPr/>
        </p:nvSpPr>
        <p:spPr>
          <a:xfrm>
            <a:off x="3554202" y="5532120"/>
            <a:ext cx="438912" cy="438912"/>
          </a:xfrm>
          <a:prstGeom prst="rect">
            <a:avLst/>
          </a:prstGeom>
          <a:solidFill>
            <a:srgbClr val="E65100"/>
          </a:solidFill>
          <a:ln/>
        </p:spPr>
      </p:sp>
      <p:sp>
        <p:nvSpPr>
          <p:cNvPr id="15" name="Text 12"/>
          <p:cNvSpPr/>
          <p:nvPr/>
        </p:nvSpPr>
        <p:spPr>
          <a:xfrm>
            <a:off x="3554202" y="5532120"/>
            <a:ext cx="438912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1</a:t>
            </a:r>
            <a:endParaRPr lang="en-US" sz="1800" dirty="0"/>
          </a:p>
        </p:txBody>
      </p:sp>
      <p:sp>
        <p:nvSpPr>
          <p:cNvPr id="16" name="Text 13"/>
          <p:cNvSpPr/>
          <p:nvPr/>
        </p:nvSpPr>
        <p:spPr>
          <a:xfrm>
            <a:off x="4066266" y="5532120"/>
            <a:ext cx="7939806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50" dirty="0">
                <a:solidFill>
                  <a:srgbClr val="1A1A1A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Safariで開いた状態では通知は届きません</a:t>
            </a:r>
            <a:endParaRPr lang="en-US" sz="1650" dirty="0"/>
          </a:p>
        </p:txBody>
      </p:sp>
      <p:sp>
        <p:nvSpPr>
          <p:cNvPr id="17" name="Shape 14"/>
          <p:cNvSpPr/>
          <p:nvPr/>
        </p:nvSpPr>
        <p:spPr>
          <a:xfrm>
            <a:off x="3554202" y="6044184"/>
            <a:ext cx="438912" cy="438912"/>
          </a:xfrm>
          <a:prstGeom prst="rect">
            <a:avLst/>
          </a:prstGeom>
          <a:solidFill>
            <a:srgbClr val="E65100"/>
          </a:solidFill>
          <a:ln/>
        </p:spPr>
      </p:sp>
      <p:sp>
        <p:nvSpPr>
          <p:cNvPr id="18" name="Text 15"/>
          <p:cNvSpPr/>
          <p:nvPr/>
        </p:nvSpPr>
        <p:spPr>
          <a:xfrm>
            <a:off x="3554202" y="6044184"/>
            <a:ext cx="438912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2</a:t>
            </a:r>
            <a:endParaRPr lang="en-US" sz="1800" dirty="0"/>
          </a:p>
        </p:txBody>
      </p:sp>
      <p:sp>
        <p:nvSpPr>
          <p:cNvPr id="19" name="Text 16"/>
          <p:cNvSpPr/>
          <p:nvPr/>
        </p:nvSpPr>
        <p:spPr>
          <a:xfrm>
            <a:off x="4066266" y="6044184"/>
            <a:ext cx="7939806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50" dirty="0">
                <a:solidFill>
                  <a:srgbClr val="1A1A1A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画面下の「共有」→「ホーム画面に追加」でインストール</a:t>
            </a:r>
            <a:endParaRPr lang="en-US" sz="1650" dirty="0"/>
          </a:p>
        </p:txBody>
      </p:sp>
      <p:sp>
        <p:nvSpPr>
          <p:cNvPr id="20" name="Shape 17"/>
          <p:cNvSpPr/>
          <p:nvPr/>
        </p:nvSpPr>
        <p:spPr>
          <a:xfrm>
            <a:off x="3554202" y="6556248"/>
            <a:ext cx="438912" cy="438912"/>
          </a:xfrm>
          <a:prstGeom prst="rect">
            <a:avLst/>
          </a:prstGeom>
          <a:solidFill>
            <a:srgbClr val="E65100"/>
          </a:solidFill>
          <a:ln/>
        </p:spPr>
      </p:sp>
      <p:sp>
        <p:nvSpPr>
          <p:cNvPr id="21" name="Text 18"/>
          <p:cNvSpPr/>
          <p:nvPr/>
        </p:nvSpPr>
        <p:spPr>
          <a:xfrm>
            <a:off x="3554202" y="6556248"/>
            <a:ext cx="438912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3</a:t>
            </a:r>
            <a:endParaRPr lang="en-US" sz="1800" dirty="0"/>
          </a:p>
        </p:txBody>
      </p:sp>
      <p:sp>
        <p:nvSpPr>
          <p:cNvPr id="22" name="Text 19"/>
          <p:cNvSpPr/>
          <p:nvPr/>
        </p:nvSpPr>
        <p:spPr>
          <a:xfrm>
            <a:off x="4066266" y="6556248"/>
            <a:ext cx="7939806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50" dirty="0">
                <a:solidFill>
                  <a:srgbClr val="1A1A1A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ホーム画面のアイコンから開くと通知が届くようになる</a:t>
            </a:r>
            <a:endParaRPr lang="en-US" sz="1650" dirty="0"/>
          </a:p>
        </p:txBody>
      </p:sp>
      <p:sp>
        <p:nvSpPr>
          <p:cNvPr id="23" name="Shape 20"/>
          <p:cNvSpPr/>
          <p:nvPr/>
        </p:nvSpPr>
        <p:spPr>
          <a:xfrm>
            <a:off x="3554202" y="7114032"/>
            <a:ext cx="8497590" cy="493776"/>
          </a:xfrm>
          <a:prstGeom prst="rect">
            <a:avLst/>
          </a:prstGeom>
          <a:solidFill>
            <a:srgbClr val="FFF8E1"/>
          </a:solidFill>
          <a:ln w="12700">
            <a:solidFill>
              <a:srgbClr val="F57F17"/>
            </a:solidFill>
            <a:prstDash val="solid"/>
          </a:ln>
        </p:spPr>
      </p:sp>
      <p:sp>
        <p:nvSpPr>
          <p:cNvPr id="24" name="Text 21"/>
          <p:cNvSpPr/>
          <p:nvPr/>
        </p:nvSpPr>
        <p:spPr>
          <a:xfrm>
            <a:off x="3663930" y="7114032"/>
            <a:ext cx="8332998" cy="4937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4E342E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⚠️ iPhoneはホーム画面に追加（インストール）しないと通知が届きません</a:t>
            </a:r>
            <a:endParaRPr lang="en-US" sz="16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749808"/>
          </a:xfrm>
          <a:prstGeom prst="rect">
            <a:avLst/>
          </a:prstGeom>
          <a:solidFill>
            <a:srgbClr val="0277BD"/>
          </a:solidFill>
          <a:ln/>
        </p:spPr>
      </p:sp>
      <p:sp>
        <p:nvSpPr>
          <p:cNvPr id="3" name="Text 1"/>
          <p:cNvSpPr/>
          <p:nvPr/>
        </p:nvSpPr>
        <p:spPr>
          <a:xfrm>
            <a:off x="228600" y="0"/>
            <a:ext cx="1188720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900" b="1" dirty="0">
                <a:solidFill>
                  <a:srgbClr val="FFFFFF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⚠️  ホーム画面への追加が必須です</a:t>
            </a:r>
            <a:endParaRPr lang="en-US" sz="2900" dirty="0"/>
          </a:p>
        </p:txBody>
      </p:sp>
      <p:pic>
        <p:nvPicPr>
          <p:cNvPr id="304" name="Image 0" descr="C:\Users\kouki\my-app\screenshots\help_03_staff_menu.png"/>
          <p:cNvPicPr>
            <a:picLocks noChangeAspect="1"/>
          </p:cNvPicPr>
          <p:nvPr/>
        </p:nvPicPr>
        <p:blipFill>
          <a:blip r:embed="rId2"/>
          <a:srcRect/>
          <a:stretch/>
        </p:blipFill>
        <p:spPr>
          <a:xfrm>
            <a:off x="164592" y="758952"/>
            <a:ext cx="3225018" cy="5989320"/>
          </a:xfrm>
          <a:prstGeom prst="rect">
            <a:avLst/>
          </a:prstGeom>
        </p:spPr>
      </p:pic>
      <p:sp>
        <p:nvSpPr>
          <p:cNvPr id="305" name="Text 2"/>
          <p:cNvSpPr/>
          <p:nvPr/>
        </p:nvSpPr>
        <p:spPr>
          <a:xfrm>
            <a:off x="3554202" y="804672"/>
            <a:ext cx="849759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100" b="1" dirty="0">
                <a:solidFill>
                  <a:srgbClr val="0277BD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プッシュ通知を受け取るには</a:t>
            </a:r>
            <a:endParaRPr lang="en-US" sz="2100" dirty="0"/>
          </a:p>
        </p:txBody>
      </p:sp>
      <p:sp>
        <p:nvSpPr>
          <p:cNvPr id="306" name="Text 3"/>
          <p:cNvSpPr/>
          <p:nvPr/>
        </p:nvSpPr>
        <p:spPr>
          <a:xfrm>
            <a:off x="3554202" y="1353312"/>
            <a:ext cx="849759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0277BD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▶ </a:t>
            </a:r>
            <a:r>
              <a:rPr lang="en-US" sz="1700" dirty="0">
                <a:solidFill>
                  <a:srgbClr val="1A1A1A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ホーム画面に追加しないとプッシュ通知は届きません</a:t>
            </a:r>
            <a:endParaRPr lang="en-US" sz="1700" dirty="0"/>
          </a:p>
        </p:txBody>
      </p:sp>
      <p:sp>
        <p:nvSpPr>
          <p:cNvPr id="7" name="Text 4"/>
          <p:cNvSpPr/>
          <p:nvPr/>
        </p:nvSpPr>
        <p:spPr>
          <a:xfrm>
            <a:off x="3554202" y="1828800"/>
            <a:ext cx="849759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0277BD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▶ </a:t>
            </a:r>
            <a:r>
              <a:rPr lang="en-US" sz="1700" dirty="0">
                <a:solidFill>
                  <a:srgbClr val="1A1A1A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必ずホーム画面に追加してください</a:t>
            </a:r>
            <a:endParaRPr lang="en-US" sz="1700" dirty="0"/>
          </a:p>
        </p:txBody>
      </p:sp>
      <p:sp>
        <p:nvSpPr>
          <p:cNvPr id="8" name="Text 5"/>
          <p:cNvSpPr/>
          <p:nvPr/>
        </p:nvSpPr>
        <p:spPr>
          <a:xfrm>
            <a:off x="3554202" y="2304288"/>
            <a:ext cx="849759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0277BD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▶ </a:t>
            </a:r>
            <a:r>
              <a:rPr lang="en-US" sz="1700" dirty="0">
                <a:solidFill>
                  <a:srgbClr val="1A1A1A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📱 Androidの場合</a:t>
            </a:r>
            <a:endParaRPr lang="en-US" sz="1700" dirty="0"/>
          </a:p>
        </p:txBody>
      </p:sp>
      <p:sp>
        <p:nvSpPr>
          <p:cNvPr id="9" name="Text 6"/>
          <p:cNvSpPr/>
          <p:nvPr/>
        </p:nvSpPr>
        <p:spPr>
          <a:xfrm>
            <a:off x="3554202" y="2779776"/>
            <a:ext cx="849759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0277BD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▶ </a:t>
            </a:r>
            <a:r>
              <a:rPr lang="en-US" sz="1700" dirty="0">
                <a:solidFill>
                  <a:srgbClr val="1A1A1A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① Chromeで開く　② 右上の⋮ → その他のツール → ショートカットを作成　③ ウィンドウとして開く にチェック → 作成</a:t>
            </a:r>
            <a:endParaRPr lang="en-US" sz="1700" dirty="0"/>
          </a:p>
        </p:txBody>
      </p:sp>
      <p:sp>
        <p:nvSpPr>
          <p:cNvPr id="10" name="Text 7"/>
          <p:cNvSpPr/>
          <p:nvPr/>
        </p:nvSpPr>
        <p:spPr>
          <a:xfrm>
            <a:off x="3554202" y="3392424"/>
            <a:ext cx="849759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100" b="1" dirty="0">
                <a:solidFill>
                  <a:srgbClr val="0277BD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📱 iPhoneの場合</a:t>
            </a:r>
            <a:endParaRPr lang="en-US" sz="2100" dirty="0"/>
          </a:p>
        </p:txBody>
      </p:sp>
      <p:sp>
        <p:nvSpPr>
          <p:cNvPr id="11" name="Text 8"/>
          <p:cNvSpPr/>
          <p:nvPr/>
        </p:nvSpPr>
        <p:spPr>
          <a:xfrm>
            <a:off x="3554202" y="3941064"/>
            <a:ext cx="849759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0277BD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▶ </a:t>
            </a:r>
            <a:r>
              <a:rPr lang="en-US" sz="1700" dirty="0">
                <a:solidFill>
                  <a:srgbClr val="1A1A1A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① Safariで開く　② 画面下の共有ボタン → ホーム画面に追加　③ 「追加」をタップ</a:t>
            </a:r>
            <a:endParaRPr lang="en-US" sz="1700" dirty="0"/>
          </a:p>
        </p:txBody>
      </p:sp>
      <p:sp>
        <p:nvSpPr>
          <p:cNvPr id="12" name="Text 9"/>
          <p:cNvSpPr/>
          <p:nvPr/>
        </p:nvSpPr>
        <p:spPr>
          <a:xfrm>
            <a:off x="3554202" y="4416552"/>
            <a:ext cx="849759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0277BD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▶ </a:t>
            </a:r>
            <a:r>
              <a:rPr lang="en-US" sz="1700" dirty="0">
                <a:solidFill>
                  <a:srgbClr val="1A1A1A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追加後、ホーム画面のアイコンからアプリを開くと通知が届くようになります</a:t>
            </a:r>
            <a:endParaRPr lang="en-US" sz="1700" dirty="0"/>
          </a:p>
        </p:txBody>
      </p:sp>
      <p:sp>
        <p:nvSpPr>
          <p:cNvPr id="13" name="Text 10"/>
          <p:cNvSpPr/>
          <p:nvPr/>
        </p:nvSpPr>
        <p:spPr>
          <a:xfrm>
            <a:off x="3554202" y="4983480"/>
            <a:ext cx="849759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100" b="1" dirty="0">
                <a:solidFill>
                  <a:srgbClr val="E65100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📱 iPhoneの場合（重要）</a:t>
            </a:r>
            <a:endParaRPr lang="en-US" sz="2100" dirty="0"/>
          </a:p>
        </p:txBody>
      </p:sp>
      <p:sp>
        <p:nvSpPr>
          <p:cNvPr id="14" name="Shape 11"/>
          <p:cNvSpPr/>
          <p:nvPr/>
        </p:nvSpPr>
        <p:spPr>
          <a:xfrm>
            <a:off x="3554202" y="5532120"/>
            <a:ext cx="438912" cy="438912"/>
          </a:xfrm>
          <a:prstGeom prst="rect">
            <a:avLst/>
          </a:prstGeom>
          <a:solidFill>
            <a:srgbClr val="E65100"/>
          </a:solidFill>
          <a:ln/>
        </p:spPr>
      </p:sp>
      <p:sp>
        <p:nvSpPr>
          <p:cNvPr id="15" name="Text 12"/>
          <p:cNvSpPr/>
          <p:nvPr/>
        </p:nvSpPr>
        <p:spPr>
          <a:xfrm>
            <a:off x="3554202" y="5532120"/>
            <a:ext cx="438912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1</a:t>
            </a:r>
            <a:endParaRPr lang="en-US" sz="1800" dirty="0"/>
          </a:p>
        </p:txBody>
      </p:sp>
      <p:sp>
        <p:nvSpPr>
          <p:cNvPr id="16" name="Text 13"/>
          <p:cNvSpPr/>
          <p:nvPr/>
        </p:nvSpPr>
        <p:spPr>
          <a:xfrm>
            <a:off x="4066266" y="5532120"/>
            <a:ext cx="7939806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50" dirty="0">
                <a:solidFill>
                  <a:srgbClr val="1A1A1A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Safariで開いた状態では通知は届きません</a:t>
            </a:r>
            <a:endParaRPr lang="en-US" sz="1650" dirty="0"/>
          </a:p>
        </p:txBody>
      </p:sp>
      <p:sp>
        <p:nvSpPr>
          <p:cNvPr id="17" name="Shape 14"/>
          <p:cNvSpPr/>
          <p:nvPr/>
        </p:nvSpPr>
        <p:spPr>
          <a:xfrm>
            <a:off x="3554202" y="6044184"/>
            <a:ext cx="438912" cy="438912"/>
          </a:xfrm>
          <a:prstGeom prst="rect">
            <a:avLst/>
          </a:prstGeom>
          <a:solidFill>
            <a:srgbClr val="E65100"/>
          </a:solidFill>
          <a:ln/>
        </p:spPr>
      </p:sp>
      <p:sp>
        <p:nvSpPr>
          <p:cNvPr id="18" name="Text 15"/>
          <p:cNvSpPr/>
          <p:nvPr/>
        </p:nvSpPr>
        <p:spPr>
          <a:xfrm>
            <a:off x="3554202" y="6044184"/>
            <a:ext cx="438912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2</a:t>
            </a:r>
            <a:endParaRPr lang="en-US" sz="1800" dirty="0"/>
          </a:p>
        </p:txBody>
      </p:sp>
      <p:sp>
        <p:nvSpPr>
          <p:cNvPr id="19" name="Text 16"/>
          <p:cNvSpPr/>
          <p:nvPr/>
        </p:nvSpPr>
        <p:spPr>
          <a:xfrm>
            <a:off x="4066266" y="6044184"/>
            <a:ext cx="7939806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50" dirty="0">
                <a:solidFill>
                  <a:srgbClr val="1A1A1A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画面下の「共有」→「ホーム画面に追加」でインストール</a:t>
            </a:r>
            <a:endParaRPr lang="en-US" sz="1650" dirty="0"/>
          </a:p>
        </p:txBody>
      </p:sp>
      <p:sp>
        <p:nvSpPr>
          <p:cNvPr id="20" name="Shape 17"/>
          <p:cNvSpPr/>
          <p:nvPr/>
        </p:nvSpPr>
        <p:spPr>
          <a:xfrm>
            <a:off x="3554202" y="6556248"/>
            <a:ext cx="438912" cy="438912"/>
          </a:xfrm>
          <a:prstGeom prst="rect">
            <a:avLst/>
          </a:prstGeom>
          <a:solidFill>
            <a:srgbClr val="E65100"/>
          </a:solidFill>
          <a:ln/>
        </p:spPr>
      </p:sp>
      <p:sp>
        <p:nvSpPr>
          <p:cNvPr id="21" name="Text 18"/>
          <p:cNvSpPr/>
          <p:nvPr/>
        </p:nvSpPr>
        <p:spPr>
          <a:xfrm>
            <a:off x="3554202" y="6556248"/>
            <a:ext cx="438912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3</a:t>
            </a:r>
            <a:endParaRPr lang="en-US" sz="1800" dirty="0"/>
          </a:p>
        </p:txBody>
      </p:sp>
      <p:sp>
        <p:nvSpPr>
          <p:cNvPr id="22" name="Text 19"/>
          <p:cNvSpPr/>
          <p:nvPr/>
        </p:nvSpPr>
        <p:spPr>
          <a:xfrm>
            <a:off x="4066266" y="6556248"/>
            <a:ext cx="7939806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50" dirty="0">
                <a:solidFill>
                  <a:srgbClr val="1A1A1A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ホーム画面のアイコンから開くと通知が届くようになる</a:t>
            </a:r>
            <a:endParaRPr lang="en-US" sz="1650" dirty="0"/>
          </a:p>
        </p:txBody>
      </p:sp>
      <p:sp>
        <p:nvSpPr>
          <p:cNvPr id="23" name="Shape 20"/>
          <p:cNvSpPr/>
          <p:nvPr/>
        </p:nvSpPr>
        <p:spPr>
          <a:xfrm>
            <a:off x="3554202" y="7114032"/>
            <a:ext cx="8497590" cy="493776"/>
          </a:xfrm>
          <a:prstGeom prst="rect">
            <a:avLst/>
          </a:prstGeom>
          <a:solidFill>
            <a:srgbClr val="FFF8E1"/>
          </a:solidFill>
          <a:ln w="12700">
            <a:solidFill>
              <a:srgbClr val="F57F17"/>
            </a:solidFill>
            <a:prstDash val="solid"/>
          </a:ln>
        </p:spPr>
      </p:sp>
      <p:sp>
        <p:nvSpPr>
          <p:cNvPr id="24" name="Text 21"/>
          <p:cNvSpPr/>
          <p:nvPr/>
        </p:nvSpPr>
        <p:spPr>
          <a:xfrm>
            <a:off x="3663930" y="7114032"/>
            <a:ext cx="8332998" cy="4937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4E342E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⚠️ iPhoneはホーム画面に追加（インストール）しないと通知が届きません</a:t>
            </a:r>
            <a:endParaRPr lang="en-US" sz="16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749808"/>
          </a:xfrm>
          <a:prstGeom prst="rect">
            <a:avLst/>
          </a:prstGeom>
          <a:solidFill>
            <a:srgbClr val="0277BD"/>
          </a:solidFill>
          <a:ln/>
        </p:spPr>
      </p:sp>
      <p:sp>
        <p:nvSpPr>
          <p:cNvPr id="3" name="Text 1"/>
          <p:cNvSpPr/>
          <p:nvPr/>
        </p:nvSpPr>
        <p:spPr>
          <a:xfrm>
            <a:off x="228600" y="0"/>
            <a:ext cx="1188720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900" b="1" dirty="0">
                <a:solidFill>
                  <a:srgbClr val="FFFFFF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⚙️  バックグラウンド通知の設定</a:t>
            </a:r>
            <a:endParaRPr lang="en-US" sz="2900" dirty="0"/>
          </a:p>
        </p:txBody>
      </p:sp>
      <p:sp>
        <p:nvSpPr>
          <p:cNvPr id="405" name="Text 2"/>
          <p:cNvSpPr/>
          <p:nvPr/>
        </p:nvSpPr>
        <p:spPr>
          <a:xfrm>
            <a:off x="3554202" y="804672"/>
            <a:ext cx="849759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100" b="1" dirty="0">
                <a:solidFill>
                  <a:srgbClr val="0277BD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アプリを開いていなくても通知を受け取るには</a:t>
            </a:r>
            <a:endParaRPr lang="en-US" sz="2100" dirty="0"/>
          </a:p>
        </p:txBody>
      </p:sp>
      <p:sp>
        <p:nvSpPr>
          <p:cNvPr id="406" name="Text 3"/>
          <p:cNvSpPr/>
          <p:nvPr/>
        </p:nvSpPr>
        <p:spPr>
          <a:xfrm>
            <a:off x="3554202" y="1353312"/>
            <a:ext cx="849759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0277BD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▶ </a:t>
            </a:r>
            <a:r>
              <a:rPr lang="en-US" sz="1700" dirty="0">
                <a:solidFill>
                  <a:srgbClr val="1A1A1A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スマートフォンの通知設定を変更する必要があります</a:t>
            </a:r>
            <a:endParaRPr lang="en-US" sz="1700" dirty="0"/>
          </a:p>
        </p:txBody>
      </p:sp>
      <p:sp>
        <p:nvSpPr>
          <p:cNvPr id="7" name="Text 4"/>
          <p:cNvSpPr/>
          <p:nvPr/>
        </p:nvSpPr>
        <p:spPr>
          <a:xfrm>
            <a:off x="3554202" y="1828800"/>
            <a:ext cx="849759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0277BD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▶ </a:t>
            </a:r>
            <a:r>
              <a:rPr lang="en-US" sz="1700" dirty="0">
                <a:solidFill>
                  <a:srgbClr val="1A1A1A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設定しないとアプリを開いているときにしか通知が届きません</a:t>
            </a:r>
            <a:endParaRPr lang="en-US" sz="1700" dirty="0"/>
          </a:p>
        </p:txBody>
      </p:sp>
      <p:sp>
        <p:nvSpPr>
          <p:cNvPr id="8" name="Text 5"/>
          <p:cNvSpPr/>
          <p:nvPr/>
        </p:nvSpPr>
        <p:spPr>
          <a:xfrm>
            <a:off x="3554202" y="2304288"/>
            <a:ext cx="849759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0277BD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▶ </a:t>
            </a:r>
            <a:r>
              <a:rPr lang="en-US" sz="1700" dirty="0">
                <a:solidFill>
                  <a:srgbClr val="1A1A1A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📱 Androidの場合</a:t>
            </a:r>
            <a:endParaRPr lang="en-US" sz="1700" dirty="0"/>
          </a:p>
        </p:txBody>
      </p:sp>
      <p:sp>
        <p:nvSpPr>
          <p:cNvPr id="9" name="Text 6"/>
          <p:cNvSpPr/>
          <p:nvPr/>
        </p:nvSpPr>
        <p:spPr>
          <a:xfrm>
            <a:off x="3554202" y="2779776"/>
            <a:ext cx="849759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0277BD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▶ </a:t>
            </a:r>
            <a:r>
              <a:rPr lang="en-US" sz="1700" dirty="0">
                <a:solidFill>
                  <a:srgbClr val="1A1A1A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設定 → アプリ → Chrome → 通知 → 「バックグラウンドで実行」を許可　／　設定 → バッテリー → バッテリー最適化 → Chrome を「最適化しない」に変更</a:t>
            </a:r>
            <a:endParaRPr lang="en-US" sz="1700" dirty="0"/>
          </a:p>
        </p:txBody>
      </p:sp>
      <p:sp>
        <p:nvSpPr>
          <p:cNvPr id="10" name="Text 7"/>
          <p:cNvSpPr/>
          <p:nvPr/>
        </p:nvSpPr>
        <p:spPr>
          <a:xfrm>
            <a:off x="3554202" y="3392424"/>
            <a:ext cx="849759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100" b="1" dirty="0">
                <a:solidFill>
                  <a:srgbClr val="0277BD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📱 iPhoneの場合</a:t>
            </a:r>
            <a:endParaRPr lang="en-US" sz="2100" dirty="0"/>
          </a:p>
        </p:txBody>
      </p:sp>
      <p:sp>
        <p:nvSpPr>
          <p:cNvPr id="11" name="Text 8"/>
          <p:cNvSpPr/>
          <p:nvPr/>
        </p:nvSpPr>
        <p:spPr>
          <a:xfrm>
            <a:off x="3554202" y="3941064"/>
            <a:ext cx="849759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0277BD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▶ </a:t>
            </a:r>
            <a:r>
              <a:rPr lang="en-US" sz="1700" dirty="0">
                <a:solidFill>
                  <a:srgbClr val="1A1A1A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設定 → 画面下にある追加したアプリのアイコン → 通知 → 「通知を許可」をON</a:t>
            </a:r>
            <a:endParaRPr lang="en-US" sz="1700" dirty="0"/>
          </a:p>
        </p:txBody>
      </p:sp>
      <p:sp>
        <p:nvSpPr>
          <p:cNvPr id="12" name="Text 9"/>
          <p:cNvSpPr/>
          <p:nvPr/>
        </p:nvSpPr>
        <p:spPr>
          <a:xfrm>
            <a:off x="3554202" y="4416552"/>
            <a:ext cx="849759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0277BD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▶ </a:t>
            </a:r>
            <a:r>
              <a:rPr lang="en-US" sz="1700" dirty="0">
                <a:solidFill>
                  <a:srgbClr val="1A1A1A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設定 → 一般 → バックグラウンドアプリの更新 → ONにする</a:t>
            </a:r>
            <a:endParaRPr lang="en-US" sz="1700" dirty="0"/>
          </a:p>
        </p:txBody>
      </p:sp>
      <p:sp>
        <p:nvSpPr>
          <p:cNvPr id="13" name="Text 10"/>
          <p:cNvSpPr/>
          <p:nvPr/>
        </p:nvSpPr>
        <p:spPr>
          <a:xfrm>
            <a:off x="3554202" y="4983480"/>
            <a:ext cx="849759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100" b="1" dirty="0">
                <a:solidFill>
                  <a:srgbClr val="E65100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📱 iPhoneの場合（重要）</a:t>
            </a:r>
            <a:endParaRPr lang="en-US" sz="2100" dirty="0"/>
          </a:p>
        </p:txBody>
      </p:sp>
      <p:sp>
        <p:nvSpPr>
          <p:cNvPr id="14" name="Shape 11"/>
          <p:cNvSpPr/>
          <p:nvPr/>
        </p:nvSpPr>
        <p:spPr>
          <a:xfrm>
            <a:off x="3554202" y="5532120"/>
            <a:ext cx="438912" cy="438912"/>
          </a:xfrm>
          <a:prstGeom prst="rect">
            <a:avLst/>
          </a:prstGeom>
          <a:solidFill>
            <a:srgbClr val="E65100"/>
          </a:solidFill>
          <a:ln/>
        </p:spPr>
      </p:sp>
      <p:sp>
        <p:nvSpPr>
          <p:cNvPr id="15" name="Text 12"/>
          <p:cNvSpPr/>
          <p:nvPr/>
        </p:nvSpPr>
        <p:spPr>
          <a:xfrm>
            <a:off x="3554202" y="5532120"/>
            <a:ext cx="438912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1</a:t>
            </a:r>
            <a:endParaRPr lang="en-US" sz="1800" dirty="0"/>
          </a:p>
        </p:txBody>
      </p:sp>
      <p:sp>
        <p:nvSpPr>
          <p:cNvPr id="16" name="Text 13"/>
          <p:cNvSpPr/>
          <p:nvPr/>
        </p:nvSpPr>
        <p:spPr>
          <a:xfrm>
            <a:off x="4066266" y="5532120"/>
            <a:ext cx="7939806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50" dirty="0">
                <a:solidFill>
                  <a:srgbClr val="1A1A1A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Safariで開いた状態では通知は届きません</a:t>
            </a:r>
            <a:endParaRPr lang="en-US" sz="1650" dirty="0"/>
          </a:p>
        </p:txBody>
      </p:sp>
      <p:sp>
        <p:nvSpPr>
          <p:cNvPr id="17" name="Shape 14"/>
          <p:cNvSpPr/>
          <p:nvPr/>
        </p:nvSpPr>
        <p:spPr>
          <a:xfrm>
            <a:off x="3554202" y="6044184"/>
            <a:ext cx="438912" cy="438912"/>
          </a:xfrm>
          <a:prstGeom prst="rect">
            <a:avLst/>
          </a:prstGeom>
          <a:solidFill>
            <a:srgbClr val="E65100"/>
          </a:solidFill>
          <a:ln/>
        </p:spPr>
      </p:sp>
      <p:sp>
        <p:nvSpPr>
          <p:cNvPr id="18" name="Text 15"/>
          <p:cNvSpPr/>
          <p:nvPr/>
        </p:nvSpPr>
        <p:spPr>
          <a:xfrm>
            <a:off x="3554202" y="6044184"/>
            <a:ext cx="438912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2</a:t>
            </a:r>
            <a:endParaRPr lang="en-US" sz="1800" dirty="0"/>
          </a:p>
        </p:txBody>
      </p:sp>
      <p:sp>
        <p:nvSpPr>
          <p:cNvPr id="19" name="Text 16"/>
          <p:cNvSpPr/>
          <p:nvPr/>
        </p:nvSpPr>
        <p:spPr>
          <a:xfrm>
            <a:off x="4066266" y="6044184"/>
            <a:ext cx="7939806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50" dirty="0">
                <a:solidFill>
                  <a:srgbClr val="1A1A1A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画面下の「共有」→「ホーム画面に追加」でインストール</a:t>
            </a:r>
            <a:endParaRPr lang="en-US" sz="1650" dirty="0"/>
          </a:p>
        </p:txBody>
      </p:sp>
      <p:sp>
        <p:nvSpPr>
          <p:cNvPr id="20" name="Shape 17"/>
          <p:cNvSpPr/>
          <p:nvPr/>
        </p:nvSpPr>
        <p:spPr>
          <a:xfrm>
            <a:off x="3554202" y="6556248"/>
            <a:ext cx="438912" cy="438912"/>
          </a:xfrm>
          <a:prstGeom prst="rect">
            <a:avLst/>
          </a:prstGeom>
          <a:solidFill>
            <a:srgbClr val="E65100"/>
          </a:solidFill>
          <a:ln/>
        </p:spPr>
      </p:sp>
      <p:sp>
        <p:nvSpPr>
          <p:cNvPr id="21" name="Text 18"/>
          <p:cNvSpPr/>
          <p:nvPr/>
        </p:nvSpPr>
        <p:spPr>
          <a:xfrm>
            <a:off x="3554202" y="6556248"/>
            <a:ext cx="438912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3</a:t>
            </a:r>
            <a:endParaRPr lang="en-US" sz="1800" dirty="0"/>
          </a:p>
        </p:txBody>
      </p:sp>
      <p:sp>
        <p:nvSpPr>
          <p:cNvPr id="22" name="Text 19"/>
          <p:cNvSpPr/>
          <p:nvPr/>
        </p:nvSpPr>
        <p:spPr>
          <a:xfrm>
            <a:off x="4066266" y="6556248"/>
            <a:ext cx="7939806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50" dirty="0">
                <a:solidFill>
                  <a:srgbClr val="1A1A1A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ホーム画面のアイコンから開くと通知が届くようになる</a:t>
            </a:r>
            <a:endParaRPr lang="en-US" sz="1650" dirty="0"/>
          </a:p>
        </p:txBody>
      </p:sp>
      <p:sp>
        <p:nvSpPr>
          <p:cNvPr id="23" name="Shape 20"/>
          <p:cNvSpPr/>
          <p:nvPr/>
        </p:nvSpPr>
        <p:spPr>
          <a:xfrm>
            <a:off x="3554202" y="7114032"/>
            <a:ext cx="8497590" cy="493776"/>
          </a:xfrm>
          <a:prstGeom prst="rect">
            <a:avLst/>
          </a:prstGeom>
          <a:solidFill>
            <a:srgbClr val="FFF8E1"/>
          </a:solidFill>
          <a:ln w="12700">
            <a:solidFill>
              <a:srgbClr val="F57F17"/>
            </a:solidFill>
            <a:prstDash val="solid"/>
          </a:ln>
        </p:spPr>
      </p:sp>
      <p:sp>
        <p:nvSpPr>
          <p:cNvPr id="24" name="Text 21"/>
          <p:cNvSpPr/>
          <p:nvPr/>
        </p:nvSpPr>
        <p:spPr>
          <a:xfrm>
            <a:off x="3663930" y="7114032"/>
            <a:ext cx="8332998" cy="4937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4E342E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⚠️ iPhoneはホーム画面に追加（インストール）しないと通知が届きません</a:t>
            </a:r>
            <a:endParaRPr lang="en-US" sz="1600" dirty="0"/>
          </a:p>
        </p:txBody>
      </p:sp>
      <p:pic>
        <p:nvPicPr>
          <p:cNvPr id="6" name="図 5">
            <a:extLst>
              <a:ext uri="{FF2B5EF4-FFF2-40B4-BE49-F238E27FC236}">
                <a16:creationId xmlns:a16="http://schemas.microsoft.com/office/drawing/2014/main" id="{8161B267-9BC4-CE83-9323-8E63107271E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2825" y="1060704"/>
            <a:ext cx="3481377" cy="5116213"/>
          </a:xfrm>
          <a:prstGeom prst="rect">
            <a:avLst/>
          </a:prstGeom>
        </p:spPr>
      </p:pic>
      <p:sp>
        <p:nvSpPr>
          <p:cNvPr id="4" name="楕円 3">
            <a:extLst>
              <a:ext uri="{FF2B5EF4-FFF2-40B4-BE49-F238E27FC236}">
                <a16:creationId xmlns:a16="http://schemas.microsoft.com/office/drawing/2014/main" id="{93FE6BF0-A6CE-8AA5-43A5-1A9203AF0086}"/>
              </a:ext>
            </a:extLst>
          </p:cNvPr>
          <p:cNvSpPr/>
          <p:nvPr/>
        </p:nvSpPr>
        <p:spPr>
          <a:xfrm>
            <a:off x="2259350" y="1249680"/>
            <a:ext cx="1127760" cy="646176"/>
          </a:xfrm>
          <a:prstGeom prst="ellipse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749808"/>
          </a:xfrm>
          <a:prstGeom prst="rect">
            <a:avLst/>
          </a:prstGeom>
          <a:solidFill>
            <a:srgbClr val="2E7D32"/>
          </a:solidFill>
          <a:ln/>
        </p:spPr>
      </p:sp>
      <p:sp>
        <p:nvSpPr>
          <p:cNvPr id="3" name="Text 1"/>
          <p:cNvSpPr/>
          <p:nvPr/>
        </p:nvSpPr>
        <p:spPr>
          <a:xfrm>
            <a:off x="228600" y="0"/>
            <a:ext cx="1188720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900" b="1" dirty="0">
                <a:solidFill>
                  <a:srgbClr val="FFFFFF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5.  新規シフト提出 ①　期間を選ぶ</a:t>
            </a:r>
            <a:endParaRPr lang="en-US" sz="2900" dirty="0"/>
          </a:p>
        </p:txBody>
      </p:sp>
      <p:pic>
        <p:nvPicPr>
          <p:cNvPr id="4" name="Image 0" descr="C:\Users\kouki\my-app\screenshots\06_new_submit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164592" y="758952"/>
            <a:ext cx="3225018" cy="598932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3554202" y="804672"/>
            <a:ext cx="849759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100" b="1" dirty="0">
                <a:solidFill>
                  <a:srgbClr val="2E7D32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期間の入力方法</a:t>
            </a:r>
            <a:endParaRPr lang="en-US" sz="2100" dirty="0"/>
          </a:p>
        </p:txBody>
      </p:sp>
      <p:sp>
        <p:nvSpPr>
          <p:cNvPr id="6" name="Shape 3"/>
          <p:cNvSpPr/>
          <p:nvPr/>
        </p:nvSpPr>
        <p:spPr>
          <a:xfrm>
            <a:off x="3554202" y="1353312"/>
            <a:ext cx="438912" cy="438912"/>
          </a:xfrm>
          <a:prstGeom prst="rect">
            <a:avLst/>
          </a:prstGeom>
          <a:solidFill>
            <a:srgbClr val="2E7D32"/>
          </a:solidFill>
          <a:ln/>
        </p:spPr>
      </p:sp>
      <p:sp>
        <p:nvSpPr>
          <p:cNvPr id="7" name="Text 4"/>
          <p:cNvSpPr/>
          <p:nvPr/>
        </p:nvSpPr>
        <p:spPr>
          <a:xfrm>
            <a:off x="3554202" y="1353312"/>
            <a:ext cx="438912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1</a:t>
            </a:r>
            <a:endParaRPr lang="en-US" sz="1800" dirty="0"/>
          </a:p>
        </p:txBody>
      </p:sp>
      <p:sp>
        <p:nvSpPr>
          <p:cNvPr id="8" name="Text 5"/>
          <p:cNvSpPr/>
          <p:nvPr/>
        </p:nvSpPr>
        <p:spPr>
          <a:xfrm>
            <a:off x="4066266" y="1353312"/>
            <a:ext cx="7939806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50" dirty="0">
                <a:solidFill>
                  <a:srgbClr val="1A1A1A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「開始日」をタップしてシフト開始日を選択</a:t>
            </a:r>
            <a:endParaRPr lang="en-US" sz="1650" dirty="0"/>
          </a:p>
        </p:txBody>
      </p:sp>
      <p:sp>
        <p:nvSpPr>
          <p:cNvPr id="9" name="Shape 6"/>
          <p:cNvSpPr/>
          <p:nvPr/>
        </p:nvSpPr>
        <p:spPr>
          <a:xfrm>
            <a:off x="3554202" y="2002536"/>
            <a:ext cx="438912" cy="438912"/>
          </a:xfrm>
          <a:prstGeom prst="rect">
            <a:avLst/>
          </a:prstGeom>
          <a:solidFill>
            <a:srgbClr val="2E7D32"/>
          </a:solidFill>
          <a:ln/>
        </p:spPr>
      </p:sp>
      <p:sp>
        <p:nvSpPr>
          <p:cNvPr id="10" name="Text 7"/>
          <p:cNvSpPr/>
          <p:nvPr/>
        </p:nvSpPr>
        <p:spPr>
          <a:xfrm>
            <a:off x="3554202" y="2002536"/>
            <a:ext cx="438912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2</a:t>
            </a:r>
            <a:endParaRPr lang="en-US" sz="1800" dirty="0"/>
          </a:p>
        </p:txBody>
      </p:sp>
      <p:sp>
        <p:nvSpPr>
          <p:cNvPr id="11" name="Text 8"/>
          <p:cNvSpPr/>
          <p:nvPr/>
        </p:nvSpPr>
        <p:spPr>
          <a:xfrm>
            <a:off x="4066266" y="2002536"/>
            <a:ext cx="7939806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50" dirty="0">
                <a:solidFill>
                  <a:srgbClr val="1A1A1A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「終了日」をタップしてシフト終了日を選択</a:t>
            </a:r>
            <a:endParaRPr lang="en-US" sz="1650" dirty="0"/>
          </a:p>
        </p:txBody>
      </p:sp>
      <p:sp>
        <p:nvSpPr>
          <p:cNvPr id="12" name="Shape 9"/>
          <p:cNvSpPr/>
          <p:nvPr/>
        </p:nvSpPr>
        <p:spPr>
          <a:xfrm>
            <a:off x="3554202" y="2651760"/>
            <a:ext cx="438912" cy="438912"/>
          </a:xfrm>
          <a:prstGeom prst="rect">
            <a:avLst/>
          </a:prstGeom>
          <a:solidFill>
            <a:srgbClr val="2E7D32"/>
          </a:solidFill>
          <a:ln/>
        </p:spPr>
      </p:sp>
      <p:sp>
        <p:nvSpPr>
          <p:cNvPr id="13" name="Text 10"/>
          <p:cNvSpPr/>
          <p:nvPr/>
        </p:nvSpPr>
        <p:spPr>
          <a:xfrm>
            <a:off x="3554202" y="2651760"/>
            <a:ext cx="438912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3</a:t>
            </a:r>
            <a:endParaRPr lang="en-US" sz="1800" dirty="0"/>
          </a:p>
        </p:txBody>
      </p:sp>
      <p:sp>
        <p:nvSpPr>
          <p:cNvPr id="14" name="Text 11"/>
          <p:cNvSpPr/>
          <p:nvPr/>
        </p:nvSpPr>
        <p:spPr>
          <a:xfrm>
            <a:off x="4066266" y="2651760"/>
            <a:ext cx="7939806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50" dirty="0">
                <a:solidFill>
                  <a:srgbClr val="1A1A1A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「次へ」をタップして希望時間の入力へ進む</a:t>
            </a:r>
            <a:endParaRPr lang="en-US" sz="1650" dirty="0"/>
          </a:p>
        </p:txBody>
      </p:sp>
      <p:sp>
        <p:nvSpPr>
          <p:cNvPr id="15" name="Text 12"/>
          <p:cNvSpPr/>
          <p:nvPr/>
        </p:nvSpPr>
        <p:spPr>
          <a:xfrm>
            <a:off x="3554202" y="3346704"/>
            <a:ext cx="849759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100" b="1" dirty="0">
                <a:solidFill>
                  <a:srgbClr val="2E7D32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💡 候補ボタンとは</a:t>
            </a:r>
            <a:endParaRPr lang="en-US" sz="2100" dirty="0"/>
          </a:p>
        </p:txBody>
      </p:sp>
      <p:sp>
        <p:nvSpPr>
          <p:cNvPr id="16" name="Text 13"/>
          <p:cNvSpPr/>
          <p:nvPr/>
        </p:nvSpPr>
        <p:spPr>
          <a:xfrm>
            <a:off x="3554202" y="3895344"/>
            <a:ext cx="849759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dirty="0">
                <a:solidFill>
                  <a:srgbClr val="1A1A1A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「候補」ボタンを押すとオーナー様が設定した</a:t>
            </a:r>
            <a:endParaRPr lang="en-US" sz="1700" dirty="0"/>
          </a:p>
        </p:txBody>
      </p:sp>
      <p:sp>
        <p:nvSpPr>
          <p:cNvPr id="17" name="Text 14"/>
          <p:cNvSpPr/>
          <p:nvPr/>
        </p:nvSpPr>
        <p:spPr>
          <a:xfrm>
            <a:off x="3554202" y="4334256"/>
            <a:ext cx="849759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dirty="0">
                <a:solidFill>
                  <a:srgbClr val="1A1A1A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シフト募集期間が一覧表示されます。</a:t>
            </a:r>
            <a:endParaRPr lang="en-US" sz="1700" dirty="0"/>
          </a:p>
        </p:txBody>
      </p:sp>
      <p:sp>
        <p:nvSpPr>
          <p:cNvPr id="18" name="Text 15"/>
          <p:cNvSpPr/>
          <p:nvPr/>
        </p:nvSpPr>
        <p:spPr>
          <a:xfrm>
            <a:off x="3554202" y="4773168"/>
            <a:ext cx="849759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dirty="0">
                <a:solidFill>
                  <a:srgbClr val="1A1A1A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タップするだけで日付が自動入力されます。</a:t>
            </a:r>
            <a:endParaRPr lang="en-US" sz="1700" dirty="0"/>
          </a:p>
        </p:txBody>
      </p:sp>
      <p:sp>
        <p:nvSpPr>
          <p:cNvPr id="19" name="Shape 16"/>
          <p:cNvSpPr/>
          <p:nvPr/>
        </p:nvSpPr>
        <p:spPr>
          <a:xfrm>
            <a:off x="3554202" y="5303520"/>
            <a:ext cx="8497590" cy="493776"/>
          </a:xfrm>
          <a:prstGeom prst="rect">
            <a:avLst/>
          </a:prstGeom>
          <a:solidFill>
            <a:srgbClr val="FFF8E1"/>
          </a:solidFill>
          <a:ln w="12700">
            <a:solidFill>
              <a:srgbClr val="F57F17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3663930" y="5303520"/>
            <a:ext cx="8332998" cy="4937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4E342E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⚠️ 期限切れの期間は赤バッジで表示されます</a:t>
            </a:r>
            <a:endParaRPr lang="en-US" sz="16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749808"/>
          </a:xfrm>
          <a:prstGeom prst="rect">
            <a:avLst/>
          </a:prstGeom>
          <a:solidFill>
            <a:srgbClr val="2E7D32"/>
          </a:solidFill>
          <a:ln/>
        </p:spPr>
      </p:sp>
      <p:sp>
        <p:nvSpPr>
          <p:cNvPr id="3" name="Text 1"/>
          <p:cNvSpPr/>
          <p:nvPr/>
        </p:nvSpPr>
        <p:spPr>
          <a:xfrm>
            <a:off x="228600" y="0"/>
            <a:ext cx="1188720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900" b="1" dirty="0">
                <a:solidFill>
                  <a:srgbClr val="FFFFFF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5.  新規シフト提出 ②　希望時間を入力する</a:t>
            </a:r>
            <a:endParaRPr lang="en-US" sz="2900" dirty="0"/>
          </a:p>
        </p:txBody>
      </p:sp>
      <p:pic>
        <p:nvPicPr>
          <p:cNvPr id="4" name="Image 0" descr="C:\Users\kouki\my-app\screenshots\07_new_submit_dates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164592" y="758952"/>
            <a:ext cx="3225018" cy="598932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3554202" y="804672"/>
            <a:ext cx="849759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100" b="1" dirty="0">
                <a:solidFill>
                  <a:srgbClr val="2E7D32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希望時間の入力手順</a:t>
            </a:r>
            <a:endParaRPr lang="en-US" sz="2100" dirty="0"/>
          </a:p>
        </p:txBody>
      </p:sp>
      <p:sp>
        <p:nvSpPr>
          <p:cNvPr id="6" name="Shape 3"/>
          <p:cNvSpPr/>
          <p:nvPr/>
        </p:nvSpPr>
        <p:spPr>
          <a:xfrm>
            <a:off x="3554202" y="1353312"/>
            <a:ext cx="438912" cy="438912"/>
          </a:xfrm>
          <a:prstGeom prst="rect">
            <a:avLst/>
          </a:prstGeom>
          <a:solidFill>
            <a:srgbClr val="2E7D32"/>
          </a:solidFill>
          <a:ln/>
        </p:spPr>
      </p:sp>
      <p:sp>
        <p:nvSpPr>
          <p:cNvPr id="7" name="Text 4"/>
          <p:cNvSpPr/>
          <p:nvPr/>
        </p:nvSpPr>
        <p:spPr>
          <a:xfrm>
            <a:off x="3554202" y="1353312"/>
            <a:ext cx="438912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1</a:t>
            </a:r>
            <a:endParaRPr lang="en-US" sz="1800" dirty="0"/>
          </a:p>
        </p:txBody>
      </p:sp>
      <p:sp>
        <p:nvSpPr>
          <p:cNvPr id="8" name="Text 5"/>
          <p:cNvSpPr/>
          <p:nvPr/>
        </p:nvSpPr>
        <p:spPr>
          <a:xfrm>
            <a:off x="4066266" y="1353312"/>
            <a:ext cx="7939806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50" dirty="0">
                <a:solidFill>
                  <a:srgbClr val="1A1A1A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曜日ボタン（全/月〜日）で一括設定する曜日を選択</a:t>
            </a:r>
            <a:endParaRPr lang="en-US" sz="1650" dirty="0"/>
          </a:p>
        </p:txBody>
      </p:sp>
      <p:sp>
        <p:nvSpPr>
          <p:cNvPr id="9" name="Shape 6"/>
          <p:cNvSpPr/>
          <p:nvPr/>
        </p:nvSpPr>
        <p:spPr>
          <a:xfrm>
            <a:off x="3554202" y="2002536"/>
            <a:ext cx="438912" cy="438912"/>
          </a:xfrm>
          <a:prstGeom prst="rect">
            <a:avLst/>
          </a:prstGeom>
          <a:solidFill>
            <a:srgbClr val="2E7D32"/>
          </a:solidFill>
          <a:ln/>
        </p:spPr>
      </p:sp>
      <p:sp>
        <p:nvSpPr>
          <p:cNvPr id="10" name="Text 7"/>
          <p:cNvSpPr/>
          <p:nvPr/>
        </p:nvSpPr>
        <p:spPr>
          <a:xfrm>
            <a:off x="3554202" y="2002536"/>
            <a:ext cx="438912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2</a:t>
            </a:r>
            <a:endParaRPr lang="en-US" sz="1800" dirty="0"/>
          </a:p>
        </p:txBody>
      </p:sp>
      <p:sp>
        <p:nvSpPr>
          <p:cNvPr id="11" name="Text 8"/>
          <p:cNvSpPr/>
          <p:nvPr/>
        </p:nvSpPr>
        <p:spPr>
          <a:xfrm>
            <a:off x="4066266" y="2002536"/>
            <a:ext cx="7939806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50" dirty="0">
                <a:solidFill>
                  <a:srgbClr val="1A1A1A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「終日フリー」「終日不可」「時間指定」から選択</a:t>
            </a:r>
            <a:endParaRPr lang="en-US" sz="1650" dirty="0"/>
          </a:p>
        </p:txBody>
      </p:sp>
      <p:sp>
        <p:nvSpPr>
          <p:cNvPr id="12" name="Shape 9"/>
          <p:cNvSpPr/>
          <p:nvPr/>
        </p:nvSpPr>
        <p:spPr>
          <a:xfrm>
            <a:off x="3554202" y="2651760"/>
            <a:ext cx="438912" cy="438912"/>
          </a:xfrm>
          <a:prstGeom prst="rect">
            <a:avLst/>
          </a:prstGeom>
          <a:solidFill>
            <a:srgbClr val="2E7D32"/>
          </a:solidFill>
          <a:ln/>
        </p:spPr>
      </p:sp>
      <p:sp>
        <p:nvSpPr>
          <p:cNvPr id="13" name="Text 10"/>
          <p:cNvSpPr/>
          <p:nvPr/>
        </p:nvSpPr>
        <p:spPr>
          <a:xfrm>
            <a:off x="3554202" y="2651760"/>
            <a:ext cx="438912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3</a:t>
            </a:r>
            <a:endParaRPr lang="en-US" sz="1800" dirty="0"/>
          </a:p>
        </p:txBody>
      </p:sp>
      <p:sp>
        <p:nvSpPr>
          <p:cNvPr id="14" name="Text 11"/>
          <p:cNvSpPr/>
          <p:nvPr/>
        </p:nvSpPr>
        <p:spPr>
          <a:xfrm>
            <a:off x="4066266" y="2651760"/>
            <a:ext cx="7939806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50" dirty="0">
                <a:solidFill>
                  <a:srgbClr val="1A1A1A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時間指定の場合は開始・終了時間を選んで「一括適用」</a:t>
            </a:r>
            <a:endParaRPr lang="en-US" sz="1650" dirty="0"/>
          </a:p>
        </p:txBody>
      </p:sp>
      <p:sp>
        <p:nvSpPr>
          <p:cNvPr id="15" name="Shape 12"/>
          <p:cNvSpPr/>
          <p:nvPr/>
        </p:nvSpPr>
        <p:spPr>
          <a:xfrm>
            <a:off x="3554202" y="3300984"/>
            <a:ext cx="438912" cy="438912"/>
          </a:xfrm>
          <a:prstGeom prst="rect">
            <a:avLst/>
          </a:prstGeom>
          <a:solidFill>
            <a:srgbClr val="2E7D32"/>
          </a:solidFill>
          <a:ln/>
        </p:spPr>
      </p:sp>
      <p:sp>
        <p:nvSpPr>
          <p:cNvPr id="16" name="Text 13"/>
          <p:cNvSpPr/>
          <p:nvPr/>
        </p:nvSpPr>
        <p:spPr>
          <a:xfrm>
            <a:off x="3554202" y="3300984"/>
            <a:ext cx="438912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4</a:t>
            </a:r>
            <a:endParaRPr lang="en-US" sz="1800" dirty="0"/>
          </a:p>
        </p:txBody>
      </p:sp>
      <p:sp>
        <p:nvSpPr>
          <p:cNvPr id="17" name="Text 14"/>
          <p:cNvSpPr/>
          <p:nvPr/>
        </p:nvSpPr>
        <p:spPr>
          <a:xfrm>
            <a:off x="4066266" y="3300984"/>
            <a:ext cx="7939806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50" dirty="0">
                <a:solidFill>
                  <a:srgbClr val="1A1A1A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各日付を個別に調整することもできます</a:t>
            </a:r>
            <a:endParaRPr lang="en-US" sz="1650" dirty="0"/>
          </a:p>
        </p:txBody>
      </p:sp>
      <p:sp>
        <p:nvSpPr>
          <p:cNvPr id="18" name="Shape 15"/>
          <p:cNvSpPr/>
          <p:nvPr/>
        </p:nvSpPr>
        <p:spPr>
          <a:xfrm>
            <a:off x="3554202" y="3950208"/>
            <a:ext cx="438912" cy="438912"/>
          </a:xfrm>
          <a:prstGeom prst="rect">
            <a:avLst/>
          </a:prstGeom>
          <a:solidFill>
            <a:srgbClr val="2E7D32"/>
          </a:solidFill>
          <a:ln/>
        </p:spPr>
      </p:sp>
      <p:sp>
        <p:nvSpPr>
          <p:cNvPr id="19" name="Text 16"/>
          <p:cNvSpPr/>
          <p:nvPr/>
        </p:nvSpPr>
        <p:spPr>
          <a:xfrm>
            <a:off x="3554202" y="3950208"/>
            <a:ext cx="438912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5</a:t>
            </a:r>
            <a:endParaRPr lang="en-US" sz="1800" dirty="0"/>
          </a:p>
        </p:txBody>
      </p:sp>
      <p:sp>
        <p:nvSpPr>
          <p:cNvPr id="20" name="Text 17"/>
          <p:cNvSpPr/>
          <p:nvPr/>
        </p:nvSpPr>
        <p:spPr>
          <a:xfrm>
            <a:off x="4066266" y="3950208"/>
            <a:ext cx="7939806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50" dirty="0">
                <a:solidFill>
                  <a:srgbClr val="1A1A1A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「送信」ボタンをタップして提出完了</a:t>
            </a:r>
            <a:endParaRPr lang="en-US" sz="1650" dirty="0"/>
          </a:p>
        </p:txBody>
      </p:sp>
      <p:sp>
        <p:nvSpPr>
          <p:cNvPr id="21" name="Shape 18"/>
          <p:cNvSpPr/>
          <p:nvPr/>
        </p:nvSpPr>
        <p:spPr>
          <a:xfrm>
            <a:off x="3554202" y="4599432"/>
            <a:ext cx="8497590" cy="493776"/>
          </a:xfrm>
          <a:prstGeom prst="rect">
            <a:avLst/>
          </a:prstGeom>
          <a:solidFill>
            <a:srgbClr val="E8F0FE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22" name="Text 19"/>
          <p:cNvSpPr/>
          <p:nvPr/>
        </p:nvSpPr>
        <p:spPr>
          <a:xfrm>
            <a:off x="3663930" y="4599432"/>
            <a:ext cx="8332998" cy="4937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1A1A1A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💡 曜日一括設定で全日程をまとめて入力できます</a:t>
            </a:r>
            <a:endParaRPr lang="en-US" sz="1600" dirty="0"/>
          </a:p>
        </p:txBody>
      </p:sp>
      <p:sp>
        <p:nvSpPr>
          <p:cNvPr id="23" name="Shape 20"/>
          <p:cNvSpPr/>
          <p:nvPr/>
        </p:nvSpPr>
        <p:spPr>
          <a:xfrm>
            <a:off x="3554202" y="5303520"/>
            <a:ext cx="8497590" cy="493776"/>
          </a:xfrm>
          <a:prstGeom prst="rect">
            <a:avLst/>
          </a:prstGeom>
          <a:solidFill>
            <a:srgbClr val="FFF8E1"/>
          </a:solidFill>
          <a:ln w="12700">
            <a:solidFill>
              <a:srgbClr val="F57F17"/>
            </a:solidFill>
            <a:prstDash val="solid"/>
          </a:ln>
        </p:spPr>
      </p:sp>
      <p:sp>
        <p:nvSpPr>
          <p:cNvPr id="24" name="Text 21"/>
          <p:cNvSpPr/>
          <p:nvPr/>
        </p:nvSpPr>
        <p:spPr>
          <a:xfrm>
            <a:off x="3663930" y="5303520"/>
            <a:ext cx="8332998" cy="4937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4E342E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⚠️ 送信後の取り消しはできません。確認してから送信を</a:t>
            </a:r>
            <a:endParaRPr lang="en-US" sz="16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749808"/>
          </a:xfrm>
          <a:prstGeom prst="rect">
            <a:avLst/>
          </a:prstGeom>
          <a:solidFill>
            <a:srgbClr val="6A1B9A"/>
          </a:solidFill>
          <a:ln/>
        </p:spPr>
      </p:sp>
      <p:sp>
        <p:nvSpPr>
          <p:cNvPr id="3" name="Text 1"/>
          <p:cNvSpPr/>
          <p:nvPr/>
        </p:nvSpPr>
        <p:spPr>
          <a:xfrm>
            <a:off x="228600" y="0"/>
            <a:ext cx="1188720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900" b="1" dirty="0">
                <a:solidFill>
                  <a:srgbClr val="FFFFFF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6.  シフト変更</a:t>
            </a:r>
            <a:endParaRPr lang="en-US" sz="2900" dirty="0"/>
          </a:p>
        </p:txBody>
      </p:sp>
      <p:pic>
        <p:nvPicPr>
          <p:cNvPr id="4" name="Image 0" descr="C:\Users\kouki\my-app\screenshots\10_shift_edit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164592" y="758952"/>
            <a:ext cx="3225018" cy="598932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3554202" y="804672"/>
            <a:ext cx="849759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100" b="1" dirty="0">
                <a:solidFill>
                  <a:srgbClr val="6A1B9A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変更の手順</a:t>
            </a:r>
            <a:endParaRPr lang="en-US" sz="2100" dirty="0"/>
          </a:p>
        </p:txBody>
      </p:sp>
      <p:sp>
        <p:nvSpPr>
          <p:cNvPr id="6" name="Shape 3"/>
          <p:cNvSpPr/>
          <p:nvPr/>
        </p:nvSpPr>
        <p:spPr>
          <a:xfrm>
            <a:off x="3554202" y="1353312"/>
            <a:ext cx="438912" cy="438912"/>
          </a:xfrm>
          <a:prstGeom prst="rect">
            <a:avLst/>
          </a:prstGeom>
          <a:solidFill>
            <a:srgbClr val="6A1B9A"/>
          </a:solidFill>
          <a:ln/>
        </p:spPr>
      </p:sp>
      <p:sp>
        <p:nvSpPr>
          <p:cNvPr id="7" name="Text 4"/>
          <p:cNvSpPr/>
          <p:nvPr/>
        </p:nvSpPr>
        <p:spPr>
          <a:xfrm>
            <a:off x="3554202" y="1353312"/>
            <a:ext cx="438912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1</a:t>
            </a:r>
            <a:endParaRPr lang="en-US" sz="1800" dirty="0"/>
          </a:p>
        </p:txBody>
      </p:sp>
      <p:sp>
        <p:nvSpPr>
          <p:cNvPr id="8" name="Text 5"/>
          <p:cNvSpPr/>
          <p:nvPr/>
        </p:nvSpPr>
        <p:spPr>
          <a:xfrm>
            <a:off x="4066266" y="1353312"/>
            <a:ext cx="7939806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50" dirty="0">
                <a:solidFill>
                  <a:srgbClr val="1A1A1A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「シフト変更」をタップ</a:t>
            </a:r>
            <a:endParaRPr lang="en-US" sz="1650" dirty="0"/>
          </a:p>
        </p:txBody>
      </p:sp>
      <p:sp>
        <p:nvSpPr>
          <p:cNvPr id="9" name="Shape 6"/>
          <p:cNvSpPr/>
          <p:nvPr/>
        </p:nvSpPr>
        <p:spPr>
          <a:xfrm>
            <a:off x="3554202" y="2002536"/>
            <a:ext cx="438912" cy="438912"/>
          </a:xfrm>
          <a:prstGeom prst="rect">
            <a:avLst/>
          </a:prstGeom>
          <a:solidFill>
            <a:srgbClr val="6A1B9A"/>
          </a:solidFill>
          <a:ln/>
        </p:spPr>
      </p:sp>
      <p:sp>
        <p:nvSpPr>
          <p:cNvPr id="10" name="Text 7"/>
          <p:cNvSpPr/>
          <p:nvPr/>
        </p:nvSpPr>
        <p:spPr>
          <a:xfrm>
            <a:off x="3554202" y="2002536"/>
            <a:ext cx="438912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2</a:t>
            </a:r>
            <a:endParaRPr lang="en-US" sz="1800" dirty="0"/>
          </a:p>
        </p:txBody>
      </p:sp>
      <p:sp>
        <p:nvSpPr>
          <p:cNvPr id="11" name="Text 8"/>
          <p:cNvSpPr/>
          <p:nvPr/>
        </p:nvSpPr>
        <p:spPr>
          <a:xfrm>
            <a:off x="4066266" y="2002536"/>
            <a:ext cx="7939806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50" dirty="0">
                <a:solidFill>
                  <a:srgbClr val="1A1A1A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各自の管理番号とパスワードを入力して認証</a:t>
            </a:r>
            <a:endParaRPr lang="en-US" sz="1650" dirty="0"/>
          </a:p>
        </p:txBody>
      </p:sp>
      <p:sp>
        <p:nvSpPr>
          <p:cNvPr id="12" name="Shape 9"/>
          <p:cNvSpPr/>
          <p:nvPr/>
        </p:nvSpPr>
        <p:spPr>
          <a:xfrm>
            <a:off x="3554202" y="2651760"/>
            <a:ext cx="438912" cy="438912"/>
          </a:xfrm>
          <a:prstGeom prst="rect">
            <a:avLst/>
          </a:prstGeom>
          <a:solidFill>
            <a:srgbClr val="6A1B9A"/>
          </a:solidFill>
          <a:ln/>
        </p:spPr>
      </p:sp>
      <p:sp>
        <p:nvSpPr>
          <p:cNvPr id="13" name="Text 10"/>
          <p:cNvSpPr/>
          <p:nvPr/>
        </p:nvSpPr>
        <p:spPr>
          <a:xfrm>
            <a:off x="3554202" y="2651760"/>
            <a:ext cx="438912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3</a:t>
            </a:r>
            <a:endParaRPr lang="en-US" sz="1800" dirty="0"/>
          </a:p>
        </p:txBody>
      </p:sp>
      <p:sp>
        <p:nvSpPr>
          <p:cNvPr id="14" name="Text 11"/>
          <p:cNvSpPr/>
          <p:nvPr/>
        </p:nvSpPr>
        <p:spPr>
          <a:xfrm>
            <a:off x="4066266" y="2651760"/>
            <a:ext cx="7939806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50" dirty="0">
                <a:solidFill>
                  <a:srgbClr val="1A1A1A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提出済みシフトが一覧で表示される</a:t>
            </a:r>
            <a:endParaRPr lang="en-US" sz="1650" dirty="0"/>
          </a:p>
        </p:txBody>
      </p:sp>
      <p:sp>
        <p:nvSpPr>
          <p:cNvPr id="15" name="Shape 12"/>
          <p:cNvSpPr/>
          <p:nvPr/>
        </p:nvSpPr>
        <p:spPr>
          <a:xfrm>
            <a:off x="3554202" y="3300984"/>
            <a:ext cx="438912" cy="438912"/>
          </a:xfrm>
          <a:prstGeom prst="rect">
            <a:avLst/>
          </a:prstGeom>
          <a:solidFill>
            <a:srgbClr val="6A1B9A"/>
          </a:solidFill>
          <a:ln/>
        </p:spPr>
      </p:sp>
      <p:sp>
        <p:nvSpPr>
          <p:cNvPr id="16" name="Text 13"/>
          <p:cNvSpPr/>
          <p:nvPr/>
        </p:nvSpPr>
        <p:spPr>
          <a:xfrm>
            <a:off x="3554202" y="3300984"/>
            <a:ext cx="438912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4</a:t>
            </a:r>
            <a:endParaRPr lang="en-US" sz="1800" dirty="0"/>
          </a:p>
        </p:txBody>
      </p:sp>
      <p:sp>
        <p:nvSpPr>
          <p:cNvPr id="17" name="Text 14"/>
          <p:cNvSpPr/>
          <p:nvPr/>
        </p:nvSpPr>
        <p:spPr>
          <a:xfrm>
            <a:off x="4066266" y="3300984"/>
            <a:ext cx="7939806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50" dirty="0">
                <a:solidFill>
                  <a:srgbClr val="1A1A1A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変更したい日付の時間帯を修正する</a:t>
            </a:r>
            <a:endParaRPr lang="en-US" sz="1650" dirty="0"/>
          </a:p>
        </p:txBody>
      </p:sp>
      <p:sp>
        <p:nvSpPr>
          <p:cNvPr id="18" name="Shape 15"/>
          <p:cNvSpPr/>
          <p:nvPr/>
        </p:nvSpPr>
        <p:spPr>
          <a:xfrm>
            <a:off x="3554202" y="3950208"/>
            <a:ext cx="438912" cy="438912"/>
          </a:xfrm>
          <a:prstGeom prst="rect">
            <a:avLst/>
          </a:prstGeom>
          <a:solidFill>
            <a:srgbClr val="6A1B9A"/>
          </a:solidFill>
          <a:ln/>
        </p:spPr>
      </p:sp>
      <p:sp>
        <p:nvSpPr>
          <p:cNvPr id="19" name="Text 16"/>
          <p:cNvSpPr/>
          <p:nvPr/>
        </p:nvSpPr>
        <p:spPr>
          <a:xfrm>
            <a:off x="3554202" y="3950208"/>
            <a:ext cx="438912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5</a:t>
            </a:r>
            <a:endParaRPr lang="en-US" sz="1800" dirty="0"/>
          </a:p>
        </p:txBody>
      </p:sp>
      <p:sp>
        <p:nvSpPr>
          <p:cNvPr id="20" name="Text 17"/>
          <p:cNvSpPr/>
          <p:nvPr/>
        </p:nvSpPr>
        <p:spPr>
          <a:xfrm>
            <a:off x="4066266" y="3950208"/>
            <a:ext cx="7939806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50" dirty="0">
                <a:solidFill>
                  <a:srgbClr val="1A1A1A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「保存」をタップして完了</a:t>
            </a:r>
            <a:endParaRPr lang="en-US" sz="1650" dirty="0"/>
          </a:p>
        </p:txBody>
      </p:sp>
      <p:sp>
        <p:nvSpPr>
          <p:cNvPr id="21" name="Shape 18"/>
          <p:cNvSpPr/>
          <p:nvPr/>
        </p:nvSpPr>
        <p:spPr>
          <a:xfrm>
            <a:off x="3554202" y="4553712"/>
            <a:ext cx="8497590" cy="493776"/>
          </a:xfrm>
          <a:prstGeom prst="rect">
            <a:avLst/>
          </a:prstGeom>
          <a:solidFill>
            <a:srgbClr val="FFF8E1"/>
          </a:solidFill>
          <a:ln w="12700">
            <a:solidFill>
              <a:srgbClr val="F57F17"/>
            </a:solidFill>
            <a:prstDash val="solid"/>
          </a:ln>
        </p:spPr>
      </p:sp>
      <p:sp>
        <p:nvSpPr>
          <p:cNvPr id="22" name="Text 19"/>
          <p:cNvSpPr/>
          <p:nvPr/>
        </p:nvSpPr>
        <p:spPr>
          <a:xfrm>
            <a:off x="3663930" y="4553712"/>
            <a:ext cx="8332998" cy="4937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4E342E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⚠️ シフト確定後は変更できません。確定前に早めに修正を！</a:t>
            </a:r>
            <a:endParaRPr lang="en-US" sz="16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749808"/>
          </a:xfrm>
          <a:prstGeom prst="rect">
            <a:avLst/>
          </a:prstGeom>
          <a:solidFill>
            <a:srgbClr val="00695C"/>
          </a:solidFill>
          <a:ln/>
        </p:spPr>
      </p:sp>
      <p:sp>
        <p:nvSpPr>
          <p:cNvPr id="3" name="Text 1"/>
          <p:cNvSpPr/>
          <p:nvPr/>
        </p:nvSpPr>
        <p:spPr>
          <a:xfrm>
            <a:off x="228600" y="0"/>
            <a:ext cx="1188720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900" b="1" dirty="0">
                <a:solidFill>
                  <a:srgbClr val="FFFFFF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7.  シフト確認</a:t>
            </a:r>
            <a:endParaRPr lang="en-US" sz="2900" dirty="0"/>
          </a:p>
        </p:txBody>
      </p:sp>
      <p:pic>
        <p:nvPicPr>
          <p:cNvPr id="4" name="Image 0" descr="C:\Users\kouki\my-app\screenshots\11_shift_view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164592" y="758952"/>
            <a:ext cx="3225018" cy="598932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3554202" y="804672"/>
            <a:ext cx="849759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100" b="1" dirty="0">
                <a:solidFill>
                  <a:srgbClr val="00695C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カレンダーの見方</a:t>
            </a:r>
            <a:endParaRPr lang="en-US" sz="2100" dirty="0"/>
          </a:p>
        </p:txBody>
      </p:sp>
      <p:sp>
        <p:nvSpPr>
          <p:cNvPr id="6" name="Text 3"/>
          <p:cNvSpPr/>
          <p:nvPr/>
        </p:nvSpPr>
        <p:spPr>
          <a:xfrm>
            <a:off x="3554202" y="1353312"/>
            <a:ext cx="849759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00695C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▶ </a:t>
            </a:r>
            <a:r>
              <a:rPr lang="en-US" sz="1700" dirty="0">
                <a:solidFill>
                  <a:srgbClr val="1A1A1A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🔵 青色　→　シフトが登録されている日</a:t>
            </a:r>
            <a:endParaRPr lang="en-US" sz="1700" dirty="0"/>
          </a:p>
        </p:txBody>
      </p:sp>
      <p:sp>
        <p:nvSpPr>
          <p:cNvPr id="7" name="Text 4"/>
          <p:cNvSpPr/>
          <p:nvPr/>
        </p:nvSpPr>
        <p:spPr>
          <a:xfrm>
            <a:off x="3554202" y="1828800"/>
            <a:ext cx="849759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00695C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▶ </a:t>
            </a:r>
            <a:r>
              <a:rPr lang="en-US" sz="1700" dirty="0">
                <a:solidFill>
                  <a:srgbClr val="1A1A1A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🔴 赤色　→　スタッフ募集中の日</a:t>
            </a:r>
            <a:endParaRPr lang="en-US" sz="1700" dirty="0"/>
          </a:p>
        </p:txBody>
      </p:sp>
      <p:sp>
        <p:nvSpPr>
          <p:cNvPr id="8" name="Text 5"/>
          <p:cNvSpPr/>
          <p:nvPr/>
        </p:nvSpPr>
        <p:spPr>
          <a:xfrm>
            <a:off x="3554202" y="2304288"/>
            <a:ext cx="849759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00695C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▶ </a:t>
            </a:r>
            <a:r>
              <a:rPr lang="en-US" sz="1700" dirty="0">
                <a:solidFill>
                  <a:srgbClr val="1A1A1A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⬜ 灰色　→　シフトが登録されていない日</a:t>
            </a:r>
            <a:endParaRPr lang="en-US" sz="1700" dirty="0"/>
          </a:p>
        </p:txBody>
      </p:sp>
      <p:sp>
        <p:nvSpPr>
          <p:cNvPr id="9" name="Text 6"/>
          <p:cNvSpPr/>
          <p:nvPr/>
        </p:nvSpPr>
        <p:spPr>
          <a:xfrm>
            <a:off x="3554202" y="2962656"/>
            <a:ext cx="849759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100" b="1" dirty="0">
                <a:solidFill>
                  <a:srgbClr val="00695C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操作方法</a:t>
            </a:r>
            <a:endParaRPr lang="en-US" sz="2100" dirty="0"/>
          </a:p>
        </p:txBody>
      </p:sp>
      <p:sp>
        <p:nvSpPr>
          <p:cNvPr id="10" name="Shape 7"/>
          <p:cNvSpPr/>
          <p:nvPr/>
        </p:nvSpPr>
        <p:spPr>
          <a:xfrm>
            <a:off x="3554202" y="3511296"/>
            <a:ext cx="438912" cy="438912"/>
          </a:xfrm>
          <a:prstGeom prst="rect">
            <a:avLst/>
          </a:prstGeom>
          <a:solidFill>
            <a:srgbClr val="00695C"/>
          </a:solidFill>
          <a:ln/>
        </p:spPr>
      </p:sp>
      <p:sp>
        <p:nvSpPr>
          <p:cNvPr id="11" name="Text 8"/>
          <p:cNvSpPr/>
          <p:nvPr/>
        </p:nvSpPr>
        <p:spPr>
          <a:xfrm>
            <a:off x="3554202" y="3511296"/>
            <a:ext cx="438912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1</a:t>
            </a:r>
            <a:endParaRPr lang="en-US" sz="1800" dirty="0"/>
          </a:p>
        </p:txBody>
      </p:sp>
      <p:sp>
        <p:nvSpPr>
          <p:cNvPr id="12" name="Text 9"/>
          <p:cNvSpPr/>
          <p:nvPr/>
        </p:nvSpPr>
        <p:spPr>
          <a:xfrm>
            <a:off x="4066266" y="3511296"/>
            <a:ext cx="7939806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50" dirty="0">
                <a:solidFill>
                  <a:srgbClr val="1A1A1A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「◀ / ▶」で月を切り替える</a:t>
            </a:r>
            <a:endParaRPr lang="en-US" sz="1650" dirty="0"/>
          </a:p>
        </p:txBody>
      </p:sp>
      <p:sp>
        <p:nvSpPr>
          <p:cNvPr id="13" name="Shape 10"/>
          <p:cNvSpPr/>
          <p:nvPr/>
        </p:nvSpPr>
        <p:spPr>
          <a:xfrm>
            <a:off x="3554202" y="4160520"/>
            <a:ext cx="438912" cy="438912"/>
          </a:xfrm>
          <a:prstGeom prst="rect">
            <a:avLst/>
          </a:prstGeom>
          <a:solidFill>
            <a:srgbClr val="00695C"/>
          </a:solidFill>
          <a:ln/>
        </p:spPr>
      </p:sp>
      <p:sp>
        <p:nvSpPr>
          <p:cNvPr id="14" name="Text 11"/>
          <p:cNvSpPr/>
          <p:nvPr/>
        </p:nvSpPr>
        <p:spPr>
          <a:xfrm>
            <a:off x="3554202" y="4160520"/>
            <a:ext cx="438912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2</a:t>
            </a:r>
            <a:endParaRPr lang="en-US" sz="1800" dirty="0"/>
          </a:p>
        </p:txBody>
      </p:sp>
      <p:sp>
        <p:nvSpPr>
          <p:cNvPr id="15" name="Text 12"/>
          <p:cNvSpPr/>
          <p:nvPr/>
        </p:nvSpPr>
        <p:spPr>
          <a:xfrm>
            <a:off x="4066266" y="4160520"/>
            <a:ext cx="7939806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50" dirty="0">
                <a:solidFill>
                  <a:srgbClr val="1A1A1A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青い日付をタップして詳細を表示</a:t>
            </a:r>
            <a:endParaRPr lang="en-US" sz="1650" dirty="0"/>
          </a:p>
        </p:txBody>
      </p:sp>
      <p:sp>
        <p:nvSpPr>
          <p:cNvPr id="16" name="Shape 13"/>
          <p:cNvSpPr/>
          <p:nvPr/>
        </p:nvSpPr>
        <p:spPr>
          <a:xfrm>
            <a:off x="3554202" y="4809744"/>
            <a:ext cx="438912" cy="438912"/>
          </a:xfrm>
          <a:prstGeom prst="rect">
            <a:avLst/>
          </a:prstGeom>
          <a:solidFill>
            <a:srgbClr val="00695C"/>
          </a:solidFill>
          <a:ln/>
        </p:spPr>
      </p:sp>
      <p:sp>
        <p:nvSpPr>
          <p:cNvPr id="17" name="Text 14"/>
          <p:cNvSpPr/>
          <p:nvPr/>
        </p:nvSpPr>
        <p:spPr>
          <a:xfrm>
            <a:off x="3554202" y="4809744"/>
            <a:ext cx="438912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3</a:t>
            </a:r>
            <a:endParaRPr lang="en-US" sz="1800" dirty="0"/>
          </a:p>
        </p:txBody>
      </p:sp>
      <p:sp>
        <p:nvSpPr>
          <p:cNvPr id="18" name="Text 15"/>
          <p:cNvSpPr/>
          <p:nvPr/>
        </p:nvSpPr>
        <p:spPr>
          <a:xfrm>
            <a:off x="4066266" y="4809744"/>
            <a:ext cx="7939806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50" dirty="0">
                <a:solidFill>
                  <a:srgbClr val="1A1A1A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「リスト」「タイムライン」で表示を切り替え</a:t>
            </a:r>
            <a:endParaRPr lang="en-US" sz="1650" dirty="0"/>
          </a:p>
        </p:txBody>
      </p:sp>
      <p:sp>
        <p:nvSpPr>
          <p:cNvPr id="19" name="Shape 16"/>
          <p:cNvSpPr/>
          <p:nvPr/>
        </p:nvSpPr>
        <p:spPr>
          <a:xfrm>
            <a:off x="3554202" y="5458968"/>
            <a:ext cx="8497590" cy="493776"/>
          </a:xfrm>
          <a:prstGeom prst="rect">
            <a:avLst/>
          </a:prstGeom>
          <a:solidFill>
            <a:srgbClr val="E8F0FE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3663930" y="5458968"/>
            <a:ext cx="8332998" cy="4937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1A1A1A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💡 タイムライン表示で全スタッフの勤務時間を一目確認</a:t>
            </a:r>
            <a:endParaRPr lang="en-US" sz="16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749808"/>
          </a:xfrm>
          <a:prstGeom prst="rect">
            <a:avLst/>
          </a:prstGeom>
          <a:solidFill>
            <a:srgbClr val="00695C"/>
          </a:solidFill>
          <a:ln/>
        </p:spPr>
      </p:sp>
      <p:sp>
        <p:nvSpPr>
          <p:cNvPr id="3" name="Text 1"/>
          <p:cNvSpPr/>
          <p:nvPr/>
        </p:nvSpPr>
        <p:spPr>
          <a:xfrm>
            <a:off x="228600" y="0"/>
            <a:ext cx="1188720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900" b="1" dirty="0">
                <a:solidFill>
                  <a:srgbClr val="FFFFFF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7.  シフト確認 ②  日付をタップすると詳細表示</a:t>
            </a:r>
            <a:endParaRPr lang="en-US" sz="2900" dirty="0"/>
          </a:p>
        </p:txBody>
      </p:sp>
      <p:pic>
        <p:nvPicPr>
          <p:cNvPr id="104" name="Image 0" descr="C:\Users\kouki\my-app\screenshots\11_shift_view.png"/>
          <p:cNvPicPr>
            <a:picLocks noChangeAspect="1"/>
          </p:cNvPicPr>
          <p:nvPr/>
        </p:nvPicPr>
        <p:blipFill>
          <a:blip r:embed="rId2"/>
          <a:srcRect/>
          <a:stretch/>
        </p:blipFill>
        <p:spPr>
          <a:xfrm>
            <a:off x="164592" y="758952"/>
            <a:ext cx="3225018" cy="5989320"/>
          </a:xfrm>
          <a:prstGeom prst="rect">
            <a:avLst/>
          </a:prstGeom>
        </p:spPr>
      </p:pic>
      <p:sp>
        <p:nvSpPr>
          <p:cNvPr id="105" name="Text 2"/>
          <p:cNvSpPr/>
          <p:nvPr/>
        </p:nvSpPr>
        <p:spPr>
          <a:xfrm>
            <a:off x="3554202" y="804672"/>
            <a:ext cx="849759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100" b="1" dirty="0">
                <a:solidFill>
                  <a:srgbClr val="00695C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カレンダーの見方</a:t>
            </a:r>
            <a:endParaRPr lang="en-US" sz="2100" dirty="0"/>
          </a:p>
        </p:txBody>
      </p:sp>
      <p:sp>
        <p:nvSpPr>
          <p:cNvPr id="106" name="Text 3"/>
          <p:cNvSpPr/>
          <p:nvPr/>
        </p:nvSpPr>
        <p:spPr>
          <a:xfrm>
            <a:off x="3554202" y="1353312"/>
            <a:ext cx="849759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00695C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▶ </a:t>
            </a:r>
            <a:r>
              <a:rPr lang="en-US" sz="1700" dirty="0">
                <a:solidFill>
                  <a:srgbClr val="1A1A1A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🔵 青色　→　シフトが登録されている日</a:t>
            </a:r>
            <a:endParaRPr lang="en-US" sz="1700" dirty="0"/>
          </a:p>
        </p:txBody>
      </p:sp>
      <p:sp>
        <p:nvSpPr>
          <p:cNvPr id="7" name="Text 4"/>
          <p:cNvSpPr/>
          <p:nvPr/>
        </p:nvSpPr>
        <p:spPr>
          <a:xfrm>
            <a:off x="3554202" y="1828800"/>
            <a:ext cx="849759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00695C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▶ </a:t>
            </a:r>
            <a:r>
              <a:rPr lang="en-US" sz="1700" dirty="0">
                <a:solidFill>
                  <a:srgbClr val="1A1A1A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🔴 赤色　→　スタッフ募集中の日</a:t>
            </a:r>
            <a:endParaRPr lang="en-US" sz="1700" dirty="0"/>
          </a:p>
        </p:txBody>
      </p:sp>
      <p:sp>
        <p:nvSpPr>
          <p:cNvPr id="8" name="Text 5"/>
          <p:cNvSpPr/>
          <p:nvPr/>
        </p:nvSpPr>
        <p:spPr>
          <a:xfrm>
            <a:off x="3554202" y="2304288"/>
            <a:ext cx="849759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00695C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▶ </a:t>
            </a:r>
            <a:r>
              <a:rPr lang="en-US" sz="1700" dirty="0">
                <a:solidFill>
                  <a:srgbClr val="1A1A1A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⬜ 灰色　→　シフトが登録されていない日</a:t>
            </a:r>
            <a:endParaRPr lang="en-US" sz="1700" dirty="0"/>
          </a:p>
        </p:txBody>
      </p:sp>
      <p:sp>
        <p:nvSpPr>
          <p:cNvPr id="9" name="Text 6"/>
          <p:cNvSpPr/>
          <p:nvPr/>
        </p:nvSpPr>
        <p:spPr>
          <a:xfrm>
            <a:off x="3554202" y="2962656"/>
            <a:ext cx="849759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100" b="1" dirty="0">
                <a:solidFill>
                  <a:srgbClr val="00695C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操作方法</a:t>
            </a:r>
            <a:endParaRPr lang="en-US" sz="2100" dirty="0"/>
          </a:p>
        </p:txBody>
      </p:sp>
      <p:sp>
        <p:nvSpPr>
          <p:cNvPr id="10" name="Shape 7"/>
          <p:cNvSpPr/>
          <p:nvPr/>
        </p:nvSpPr>
        <p:spPr>
          <a:xfrm>
            <a:off x="3554202" y="3511296"/>
            <a:ext cx="438912" cy="438912"/>
          </a:xfrm>
          <a:prstGeom prst="rect">
            <a:avLst/>
          </a:prstGeom>
          <a:solidFill>
            <a:srgbClr val="00695C"/>
          </a:solidFill>
          <a:ln/>
        </p:spPr>
      </p:sp>
      <p:sp>
        <p:nvSpPr>
          <p:cNvPr id="11" name="Text 8"/>
          <p:cNvSpPr/>
          <p:nvPr/>
        </p:nvSpPr>
        <p:spPr>
          <a:xfrm>
            <a:off x="3554202" y="3511296"/>
            <a:ext cx="438912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1</a:t>
            </a:r>
            <a:endParaRPr lang="en-US" sz="1800" dirty="0"/>
          </a:p>
        </p:txBody>
      </p:sp>
      <p:sp>
        <p:nvSpPr>
          <p:cNvPr id="12" name="Text 9"/>
          <p:cNvSpPr/>
          <p:nvPr/>
        </p:nvSpPr>
        <p:spPr>
          <a:xfrm>
            <a:off x="4066266" y="3511296"/>
            <a:ext cx="7939806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50" dirty="0">
                <a:solidFill>
                  <a:srgbClr val="1A1A1A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「◀ / ▶」で月を切り替える</a:t>
            </a:r>
            <a:endParaRPr lang="en-US" sz="1650" dirty="0"/>
          </a:p>
        </p:txBody>
      </p:sp>
      <p:sp>
        <p:nvSpPr>
          <p:cNvPr id="13" name="Shape 10"/>
          <p:cNvSpPr/>
          <p:nvPr/>
        </p:nvSpPr>
        <p:spPr>
          <a:xfrm>
            <a:off x="3554202" y="4160520"/>
            <a:ext cx="438912" cy="438912"/>
          </a:xfrm>
          <a:prstGeom prst="rect">
            <a:avLst/>
          </a:prstGeom>
          <a:solidFill>
            <a:srgbClr val="00695C"/>
          </a:solidFill>
          <a:ln/>
        </p:spPr>
      </p:sp>
      <p:sp>
        <p:nvSpPr>
          <p:cNvPr id="14" name="Text 11"/>
          <p:cNvSpPr/>
          <p:nvPr/>
        </p:nvSpPr>
        <p:spPr>
          <a:xfrm>
            <a:off x="3554202" y="4160520"/>
            <a:ext cx="438912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2</a:t>
            </a:r>
            <a:endParaRPr lang="en-US" sz="1800" dirty="0"/>
          </a:p>
        </p:txBody>
      </p:sp>
      <p:sp>
        <p:nvSpPr>
          <p:cNvPr id="15" name="Text 12"/>
          <p:cNvSpPr/>
          <p:nvPr/>
        </p:nvSpPr>
        <p:spPr>
          <a:xfrm>
            <a:off x="4066266" y="4160520"/>
            <a:ext cx="7939806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50" dirty="0">
                <a:solidFill>
                  <a:srgbClr val="1A1A1A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青い日付をタップして詳細を表示</a:t>
            </a:r>
            <a:endParaRPr lang="en-US" sz="1650" dirty="0"/>
          </a:p>
        </p:txBody>
      </p:sp>
      <p:sp>
        <p:nvSpPr>
          <p:cNvPr id="16" name="Shape 13"/>
          <p:cNvSpPr/>
          <p:nvPr/>
        </p:nvSpPr>
        <p:spPr>
          <a:xfrm>
            <a:off x="3554202" y="4809744"/>
            <a:ext cx="438912" cy="438912"/>
          </a:xfrm>
          <a:prstGeom prst="rect">
            <a:avLst/>
          </a:prstGeom>
          <a:solidFill>
            <a:srgbClr val="00695C"/>
          </a:solidFill>
          <a:ln/>
        </p:spPr>
      </p:sp>
      <p:sp>
        <p:nvSpPr>
          <p:cNvPr id="17" name="Text 14"/>
          <p:cNvSpPr/>
          <p:nvPr/>
        </p:nvSpPr>
        <p:spPr>
          <a:xfrm>
            <a:off x="3554202" y="4809744"/>
            <a:ext cx="438912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3</a:t>
            </a:r>
            <a:endParaRPr lang="en-US" sz="1800" dirty="0"/>
          </a:p>
        </p:txBody>
      </p:sp>
      <p:sp>
        <p:nvSpPr>
          <p:cNvPr id="18" name="Text 15"/>
          <p:cNvSpPr/>
          <p:nvPr/>
        </p:nvSpPr>
        <p:spPr>
          <a:xfrm>
            <a:off x="4066266" y="4809744"/>
            <a:ext cx="7939806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50" dirty="0">
                <a:solidFill>
                  <a:srgbClr val="1A1A1A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「リスト」「タイムライン」で表示を切り替え</a:t>
            </a:r>
            <a:endParaRPr lang="en-US" sz="1650" dirty="0"/>
          </a:p>
        </p:txBody>
      </p:sp>
      <p:sp>
        <p:nvSpPr>
          <p:cNvPr id="19" name="Shape 16"/>
          <p:cNvSpPr/>
          <p:nvPr/>
        </p:nvSpPr>
        <p:spPr>
          <a:xfrm>
            <a:off x="3554202" y="5458968"/>
            <a:ext cx="8497590" cy="493776"/>
          </a:xfrm>
          <a:prstGeom prst="rect">
            <a:avLst/>
          </a:prstGeom>
          <a:solidFill>
            <a:srgbClr val="E8F0FE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3663930" y="5458968"/>
            <a:ext cx="8332998" cy="4937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1A1A1A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💡 タイムライン表示で全スタッフの勤務時間を一目確認</a:t>
            </a:r>
            <a:endParaRPr lang="en-US" sz="16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749808"/>
          </a:xfrm>
          <a:prstGeom prst="rect">
            <a:avLst/>
          </a:prstGeom>
          <a:solidFill>
            <a:srgbClr val="00695C"/>
          </a:solidFill>
          <a:ln/>
        </p:spPr>
      </p:sp>
      <p:sp>
        <p:nvSpPr>
          <p:cNvPr id="3" name="Text 1"/>
          <p:cNvSpPr/>
          <p:nvPr/>
        </p:nvSpPr>
        <p:spPr>
          <a:xfrm>
            <a:off x="228600" y="0"/>
            <a:ext cx="1188720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900" b="1" dirty="0">
                <a:solidFill>
                  <a:srgbClr val="FFFFFF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7.  シフト確認 ③  タイムライン表示</a:t>
            </a:r>
            <a:endParaRPr lang="en-US" sz="2900" dirty="0"/>
          </a:p>
        </p:txBody>
      </p:sp>
      <p:pic>
        <p:nvPicPr>
          <p:cNvPr id="204" name="Image 0" descr="C:\Users\kouki\my-app\screenshots\11_shift_view.png"/>
          <p:cNvPicPr>
            <a:picLocks noChangeAspect="1"/>
          </p:cNvPicPr>
          <p:nvPr/>
        </p:nvPicPr>
        <p:blipFill>
          <a:blip r:embed="rId2"/>
          <a:srcRect/>
          <a:stretch/>
        </p:blipFill>
        <p:spPr>
          <a:xfrm>
            <a:off x="164592" y="758952"/>
            <a:ext cx="3225018" cy="5989320"/>
          </a:xfrm>
          <a:prstGeom prst="rect">
            <a:avLst/>
          </a:prstGeom>
        </p:spPr>
      </p:pic>
      <p:sp>
        <p:nvSpPr>
          <p:cNvPr id="205" name="Text 2"/>
          <p:cNvSpPr/>
          <p:nvPr/>
        </p:nvSpPr>
        <p:spPr>
          <a:xfrm>
            <a:off x="3554202" y="804672"/>
            <a:ext cx="849759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100" b="1" dirty="0">
                <a:solidFill>
                  <a:srgbClr val="00695C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カレンダーの見方</a:t>
            </a:r>
            <a:endParaRPr lang="en-US" sz="2100" dirty="0"/>
          </a:p>
        </p:txBody>
      </p:sp>
      <p:sp>
        <p:nvSpPr>
          <p:cNvPr id="206" name="Text 3"/>
          <p:cNvSpPr/>
          <p:nvPr/>
        </p:nvSpPr>
        <p:spPr>
          <a:xfrm>
            <a:off x="3554202" y="1353312"/>
            <a:ext cx="849759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00695C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▶ </a:t>
            </a:r>
            <a:r>
              <a:rPr lang="en-US" sz="1700" dirty="0">
                <a:solidFill>
                  <a:srgbClr val="1A1A1A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🔵 青色　→　シフトが登録されている日</a:t>
            </a:r>
            <a:endParaRPr lang="en-US" sz="1700" dirty="0"/>
          </a:p>
        </p:txBody>
      </p:sp>
      <p:sp>
        <p:nvSpPr>
          <p:cNvPr id="7" name="Text 4"/>
          <p:cNvSpPr/>
          <p:nvPr/>
        </p:nvSpPr>
        <p:spPr>
          <a:xfrm>
            <a:off x="3554202" y="1828800"/>
            <a:ext cx="849759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00695C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▶ </a:t>
            </a:r>
            <a:r>
              <a:rPr lang="en-US" sz="1700" dirty="0">
                <a:solidFill>
                  <a:srgbClr val="1A1A1A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🔴 赤色　→　スタッフ募集中の日</a:t>
            </a:r>
            <a:endParaRPr lang="en-US" sz="1700" dirty="0"/>
          </a:p>
        </p:txBody>
      </p:sp>
      <p:sp>
        <p:nvSpPr>
          <p:cNvPr id="8" name="Text 5"/>
          <p:cNvSpPr/>
          <p:nvPr/>
        </p:nvSpPr>
        <p:spPr>
          <a:xfrm>
            <a:off x="3554202" y="2304288"/>
            <a:ext cx="849759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00695C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▶ </a:t>
            </a:r>
            <a:r>
              <a:rPr lang="en-US" sz="1700" dirty="0">
                <a:solidFill>
                  <a:srgbClr val="1A1A1A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⬜ 灰色　→　シフトが登録されていない日</a:t>
            </a:r>
            <a:endParaRPr lang="en-US" sz="1700" dirty="0"/>
          </a:p>
        </p:txBody>
      </p:sp>
      <p:sp>
        <p:nvSpPr>
          <p:cNvPr id="9" name="Text 6"/>
          <p:cNvSpPr/>
          <p:nvPr/>
        </p:nvSpPr>
        <p:spPr>
          <a:xfrm>
            <a:off x="3554202" y="2962656"/>
            <a:ext cx="849759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100" b="1" dirty="0">
                <a:solidFill>
                  <a:srgbClr val="00695C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操作方法</a:t>
            </a:r>
            <a:endParaRPr lang="en-US" sz="2100" dirty="0"/>
          </a:p>
        </p:txBody>
      </p:sp>
      <p:sp>
        <p:nvSpPr>
          <p:cNvPr id="10" name="Shape 7"/>
          <p:cNvSpPr/>
          <p:nvPr/>
        </p:nvSpPr>
        <p:spPr>
          <a:xfrm>
            <a:off x="3554202" y="3511296"/>
            <a:ext cx="438912" cy="438912"/>
          </a:xfrm>
          <a:prstGeom prst="rect">
            <a:avLst/>
          </a:prstGeom>
          <a:solidFill>
            <a:srgbClr val="00695C"/>
          </a:solidFill>
          <a:ln/>
        </p:spPr>
      </p:sp>
      <p:sp>
        <p:nvSpPr>
          <p:cNvPr id="11" name="Text 8"/>
          <p:cNvSpPr/>
          <p:nvPr/>
        </p:nvSpPr>
        <p:spPr>
          <a:xfrm>
            <a:off x="3554202" y="3511296"/>
            <a:ext cx="438912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1</a:t>
            </a:r>
            <a:endParaRPr lang="en-US" sz="1800" dirty="0"/>
          </a:p>
        </p:txBody>
      </p:sp>
      <p:sp>
        <p:nvSpPr>
          <p:cNvPr id="12" name="Text 9"/>
          <p:cNvSpPr/>
          <p:nvPr/>
        </p:nvSpPr>
        <p:spPr>
          <a:xfrm>
            <a:off x="4066266" y="3511296"/>
            <a:ext cx="7939806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50" dirty="0">
                <a:solidFill>
                  <a:srgbClr val="1A1A1A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「◀ / ▶」で月を切り替える</a:t>
            </a:r>
            <a:endParaRPr lang="en-US" sz="1650" dirty="0"/>
          </a:p>
        </p:txBody>
      </p:sp>
      <p:sp>
        <p:nvSpPr>
          <p:cNvPr id="13" name="Shape 10"/>
          <p:cNvSpPr/>
          <p:nvPr/>
        </p:nvSpPr>
        <p:spPr>
          <a:xfrm>
            <a:off x="3554202" y="4160520"/>
            <a:ext cx="438912" cy="438912"/>
          </a:xfrm>
          <a:prstGeom prst="rect">
            <a:avLst/>
          </a:prstGeom>
          <a:solidFill>
            <a:srgbClr val="00695C"/>
          </a:solidFill>
          <a:ln/>
        </p:spPr>
      </p:sp>
      <p:sp>
        <p:nvSpPr>
          <p:cNvPr id="14" name="Text 11"/>
          <p:cNvSpPr/>
          <p:nvPr/>
        </p:nvSpPr>
        <p:spPr>
          <a:xfrm>
            <a:off x="3554202" y="4160520"/>
            <a:ext cx="438912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2</a:t>
            </a:r>
            <a:endParaRPr lang="en-US" sz="1800" dirty="0"/>
          </a:p>
        </p:txBody>
      </p:sp>
      <p:sp>
        <p:nvSpPr>
          <p:cNvPr id="15" name="Text 12"/>
          <p:cNvSpPr/>
          <p:nvPr/>
        </p:nvSpPr>
        <p:spPr>
          <a:xfrm>
            <a:off x="4066266" y="4160520"/>
            <a:ext cx="7939806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50" dirty="0">
                <a:solidFill>
                  <a:srgbClr val="1A1A1A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青い日付をタップして詳細を表示</a:t>
            </a:r>
            <a:endParaRPr lang="en-US" sz="1650" dirty="0"/>
          </a:p>
        </p:txBody>
      </p:sp>
      <p:sp>
        <p:nvSpPr>
          <p:cNvPr id="16" name="Shape 13"/>
          <p:cNvSpPr/>
          <p:nvPr/>
        </p:nvSpPr>
        <p:spPr>
          <a:xfrm>
            <a:off x="3554202" y="4809744"/>
            <a:ext cx="438912" cy="438912"/>
          </a:xfrm>
          <a:prstGeom prst="rect">
            <a:avLst/>
          </a:prstGeom>
          <a:solidFill>
            <a:srgbClr val="00695C"/>
          </a:solidFill>
          <a:ln/>
        </p:spPr>
      </p:sp>
      <p:sp>
        <p:nvSpPr>
          <p:cNvPr id="17" name="Text 14"/>
          <p:cNvSpPr/>
          <p:nvPr/>
        </p:nvSpPr>
        <p:spPr>
          <a:xfrm>
            <a:off x="3554202" y="4809744"/>
            <a:ext cx="438912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3</a:t>
            </a:r>
            <a:endParaRPr lang="en-US" sz="1800" dirty="0"/>
          </a:p>
        </p:txBody>
      </p:sp>
      <p:sp>
        <p:nvSpPr>
          <p:cNvPr id="18" name="Text 15"/>
          <p:cNvSpPr/>
          <p:nvPr/>
        </p:nvSpPr>
        <p:spPr>
          <a:xfrm>
            <a:off x="4066266" y="4809744"/>
            <a:ext cx="7939806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50" dirty="0">
                <a:solidFill>
                  <a:srgbClr val="1A1A1A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「リスト」「タイムライン」で表示を切り替え</a:t>
            </a:r>
            <a:endParaRPr lang="en-US" sz="1650" dirty="0"/>
          </a:p>
        </p:txBody>
      </p:sp>
      <p:sp>
        <p:nvSpPr>
          <p:cNvPr id="19" name="Shape 16"/>
          <p:cNvSpPr/>
          <p:nvPr/>
        </p:nvSpPr>
        <p:spPr>
          <a:xfrm>
            <a:off x="3554202" y="5458968"/>
            <a:ext cx="8497590" cy="493776"/>
          </a:xfrm>
          <a:prstGeom prst="rect">
            <a:avLst/>
          </a:prstGeom>
          <a:solidFill>
            <a:srgbClr val="E8F0FE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3663930" y="5458968"/>
            <a:ext cx="8332998" cy="4937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1A1A1A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💡 タイムライン表示で全スタッフの勤務時間を一目確認</a:t>
            </a:r>
            <a:endParaRPr lang="en-US" sz="16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749808"/>
          </a:xfrm>
          <a:prstGeom prst="rect">
            <a:avLst/>
          </a:prstGeom>
          <a:solidFill>
            <a:srgbClr val="E65100"/>
          </a:solidFill>
          <a:ln/>
        </p:spPr>
      </p:sp>
      <p:sp>
        <p:nvSpPr>
          <p:cNvPr id="3" name="Text 1"/>
          <p:cNvSpPr/>
          <p:nvPr/>
        </p:nvSpPr>
        <p:spPr>
          <a:xfrm>
            <a:off x="228600" y="0"/>
            <a:ext cx="1188720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900" b="1" dirty="0">
                <a:solidFill>
                  <a:srgbClr val="FFFFFF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8.  就労時間の確認</a:t>
            </a:r>
            <a:endParaRPr lang="en-US" sz="2900" dirty="0"/>
          </a:p>
        </p:txBody>
      </p:sp>
      <p:pic>
        <p:nvPicPr>
          <p:cNvPr id="4" name="Image 0" descr="C:\Users\kouki\my-app\screenshots\12_work_hours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164592" y="758952"/>
            <a:ext cx="3225018" cy="598932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3554202" y="804672"/>
            <a:ext cx="849759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100" b="1" dirty="0">
                <a:solidFill>
                  <a:srgbClr val="E65100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就労時間確認でわかること</a:t>
            </a:r>
            <a:endParaRPr lang="en-US" sz="2100" dirty="0"/>
          </a:p>
        </p:txBody>
      </p:sp>
      <p:sp>
        <p:nvSpPr>
          <p:cNvPr id="6" name="Text 3"/>
          <p:cNvSpPr/>
          <p:nvPr/>
        </p:nvSpPr>
        <p:spPr>
          <a:xfrm>
            <a:off x="3554202" y="1353312"/>
            <a:ext cx="849759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E65100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▶ </a:t>
            </a:r>
            <a:r>
              <a:rPr lang="en-US" sz="1700" dirty="0">
                <a:solidFill>
                  <a:srgbClr val="1A1A1A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自分の勤務時間実績を月別・年別で確認</a:t>
            </a:r>
            <a:endParaRPr lang="en-US" sz="1700" dirty="0"/>
          </a:p>
        </p:txBody>
      </p:sp>
      <p:sp>
        <p:nvSpPr>
          <p:cNvPr id="7" name="Text 4"/>
          <p:cNvSpPr/>
          <p:nvPr/>
        </p:nvSpPr>
        <p:spPr>
          <a:xfrm>
            <a:off x="3554202" y="1828800"/>
            <a:ext cx="849759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E65100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▶ </a:t>
            </a:r>
            <a:r>
              <a:rPr lang="en-US" sz="1700" dirty="0">
                <a:solidFill>
                  <a:srgbClr val="1A1A1A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確定済みの勤怠データのみ反映される</a:t>
            </a:r>
            <a:endParaRPr lang="en-US" sz="1700" dirty="0"/>
          </a:p>
        </p:txBody>
      </p:sp>
      <p:sp>
        <p:nvSpPr>
          <p:cNvPr id="8" name="Text 5"/>
          <p:cNvSpPr/>
          <p:nvPr/>
        </p:nvSpPr>
        <p:spPr>
          <a:xfrm>
            <a:off x="3554202" y="2487168"/>
            <a:ext cx="849759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100" b="1" dirty="0">
                <a:solidFill>
                  <a:srgbClr val="E65100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操作方法</a:t>
            </a:r>
            <a:endParaRPr lang="en-US" sz="2100" dirty="0"/>
          </a:p>
        </p:txBody>
      </p:sp>
      <p:sp>
        <p:nvSpPr>
          <p:cNvPr id="9" name="Shape 6"/>
          <p:cNvSpPr/>
          <p:nvPr/>
        </p:nvSpPr>
        <p:spPr>
          <a:xfrm>
            <a:off x="3554202" y="3035808"/>
            <a:ext cx="438912" cy="438912"/>
          </a:xfrm>
          <a:prstGeom prst="rect">
            <a:avLst/>
          </a:prstGeom>
          <a:solidFill>
            <a:srgbClr val="E65100"/>
          </a:solidFill>
          <a:ln/>
        </p:spPr>
      </p:sp>
      <p:sp>
        <p:nvSpPr>
          <p:cNvPr id="10" name="Text 7"/>
          <p:cNvSpPr/>
          <p:nvPr/>
        </p:nvSpPr>
        <p:spPr>
          <a:xfrm>
            <a:off x="3554202" y="3035808"/>
            <a:ext cx="438912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1</a:t>
            </a:r>
            <a:endParaRPr lang="en-US" sz="1800" dirty="0"/>
          </a:p>
        </p:txBody>
      </p:sp>
      <p:sp>
        <p:nvSpPr>
          <p:cNvPr id="11" name="Text 8"/>
          <p:cNvSpPr/>
          <p:nvPr/>
        </p:nvSpPr>
        <p:spPr>
          <a:xfrm>
            <a:off x="4066266" y="3035808"/>
            <a:ext cx="7939806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50" dirty="0">
                <a:solidFill>
                  <a:srgbClr val="1A1A1A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「就労時間」をタップ</a:t>
            </a:r>
            <a:endParaRPr lang="en-US" sz="1650" dirty="0"/>
          </a:p>
        </p:txBody>
      </p:sp>
      <p:sp>
        <p:nvSpPr>
          <p:cNvPr id="12" name="Shape 9"/>
          <p:cNvSpPr/>
          <p:nvPr/>
        </p:nvSpPr>
        <p:spPr>
          <a:xfrm>
            <a:off x="3554202" y="3685032"/>
            <a:ext cx="438912" cy="438912"/>
          </a:xfrm>
          <a:prstGeom prst="rect">
            <a:avLst/>
          </a:prstGeom>
          <a:solidFill>
            <a:srgbClr val="E65100"/>
          </a:solidFill>
          <a:ln/>
        </p:spPr>
      </p:sp>
      <p:sp>
        <p:nvSpPr>
          <p:cNvPr id="13" name="Text 10"/>
          <p:cNvSpPr/>
          <p:nvPr/>
        </p:nvSpPr>
        <p:spPr>
          <a:xfrm>
            <a:off x="3554202" y="3685032"/>
            <a:ext cx="438912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2</a:t>
            </a:r>
            <a:endParaRPr lang="en-US" sz="1800" dirty="0"/>
          </a:p>
        </p:txBody>
      </p:sp>
      <p:sp>
        <p:nvSpPr>
          <p:cNvPr id="14" name="Text 11"/>
          <p:cNvSpPr/>
          <p:nvPr/>
        </p:nvSpPr>
        <p:spPr>
          <a:xfrm>
            <a:off x="4066266" y="3685032"/>
            <a:ext cx="7939806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50" dirty="0">
                <a:solidFill>
                  <a:srgbClr val="1A1A1A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月・年を切り替えて確認したい期間を選択</a:t>
            </a:r>
            <a:endParaRPr lang="en-US" sz="1650" dirty="0"/>
          </a:p>
        </p:txBody>
      </p:sp>
      <p:sp>
        <p:nvSpPr>
          <p:cNvPr id="15" name="Shape 12"/>
          <p:cNvSpPr/>
          <p:nvPr/>
        </p:nvSpPr>
        <p:spPr>
          <a:xfrm>
            <a:off x="3554202" y="4334256"/>
            <a:ext cx="438912" cy="438912"/>
          </a:xfrm>
          <a:prstGeom prst="rect">
            <a:avLst/>
          </a:prstGeom>
          <a:solidFill>
            <a:srgbClr val="E65100"/>
          </a:solidFill>
          <a:ln/>
        </p:spPr>
      </p:sp>
      <p:sp>
        <p:nvSpPr>
          <p:cNvPr id="16" name="Text 13"/>
          <p:cNvSpPr/>
          <p:nvPr/>
        </p:nvSpPr>
        <p:spPr>
          <a:xfrm>
            <a:off x="3554202" y="4334256"/>
            <a:ext cx="438912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3</a:t>
            </a:r>
            <a:endParaRPr lang="en-US" sz="1800" dirty="0"/>
          </a:p>
        </p:txBody>
      </p:sp>
      <p:sp>
        <p:nvSpPr>
          <p:cNvPr id="17" name="Text 14"/>
          <p:cNvSpPr/>
          <p:nvPr/>
        </p:nvSpPr>
        <p:spPr>
          <a:xfrm>
            <a:off x="4066266" y="4334256"/>
            <a:ext cx="7939806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50" dirty="0">
                <a:solidFill>
                  <a:srgbClr val="1A1A1A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日別・月別の勤務時間合計が表示される</a:t>
            </a:r>
            <a:endParaRPr lang="en-US" sz="1650" dirty="0"/>
          </a:p>
        </p:txBody>
      </p:sp>
      <p:sp>
        <p:nvSpPr>
          <p:cNvPr id="18" name="Shape 15"/>
          <p:cNvSpPr/>
          <p:nvPr/>
        </p:nvSpPr>
        <p:spPr>
          <a:xfrm>
            <a:off x="3554202" y="5029200"/>
            <a:ext cx="8497590" cy="493776"/>
          </a:xfrm>
          <a:prstGeom prst="rect">
            <a:avLst/>
          </a:prstGeom>
          <a:solidFill>
            <a:srgbClr val="E8F0FE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3663930" y="5029200"/>
            <a:ext cx="8332998" cy="4937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1A1A1A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💡 オーナー様が勤怠を「確定」するまでは反映されません</a:t>
            </a:r>
            <a:endParaRPr lang="en-US" sz="1600" dirty="0"/>
          </a:p>
        </p:txBody>
      </p:sp>
      <p:sp>
        <p:nvSpPr>
          <p:cNvPr id="20" name="Shape 17"/>
          <p:cNvSpPr/>
          <p:nvPr/>
        </p:nvSpPr>
        <p:spPr>
          <a:xfrm>
            <a:off x="3554202" y="5733288"/>
            <a:ext cx="8497590" cy="493776"/>
          </a:xfrm>
          <a:prstGeom prst="rect">
            <a:avLst/>
          </a:prstGeom>
          <a:solidFill>
            <a:srgbClr val="FFF8E1"/>
          </a:solidFill>
          <a:ln w="12700">
            <a:solidFill>
              <a:srgbClr val="F57F17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3663930" y="5733288"/>
            <a:ext cx="8332998" cy="4937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4E342E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⚠️ 勤務時間に疑問がある場合はオーナー様に確認してください</a:t>
            </a:r>
            <a:endParaRPr lang="en-US" sz="16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749808"/>
          </a:xfrm>
          <a:prstGeom prst="rect">
            <a:avLst/>
          </a:prstGeom>
          <a:solidFill>
            <a:srgbClr val="00838F"/>
          </a:solidFill>
          <a:ln/>
        </p:spPr>
      </p:sp>
      <p:sp>
        <p:nvSpPr>
          <p:cNvPr id="3" name="Text 1"/>
          <p:cNvSpPr/>
          <p:nvPr/>
        </p:nvSpPr>
        <p:spPr>
          <a:xfrm>
            <a:off x="228600" y="0"/>
            <a:ext cx="1188720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900" b="1" dirty="0">
                <a:solidFill>
                  <a:srgbClr val="FFFFFF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9.  勤怠入力（打刻）</a:t>
            </a:r>
            <a:endParaRPr lang="en-US" sz="2900" dirty="0"/>
          </a:p>
        </p:txBody>
      </p:sp>
      <p:pic>
        <p:nvPicPr>
          <p:cNvPr id="4" name="Image 0" descr="C:\Users\kouki\my-app\screenshots\help_06_clockin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164592" y="758952"/>
            <a:ext cx="3225018" cy="598932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3554202" y="804672"/>
            <a:ext cx="849759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100" b="1" dirty="0">
                <a:solidFill>
                  <a:srgbClr val="00838F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打刻の流れ</a:t>
            </a:r>
            <a:endParaRPr lang="en-US" sz="2100" dirty="0"/>
          </a:p>
        </p:txBody>
      </p:sp>
      <p:sp>
        <p:nvSpPr>
          <p:cNvPr id="6" name="Shape 3"/>
          <p:cNvSpPr/>
          <p:nvPr/>
        </p:nvSpPr>
        <p:spPr>
          <a:xfrm>
            <a:off x="3554202" y="1353312"/>
            <a:ext cx="438912" cy="438912"/>
          </a:xfrm>
          <a:prstGeom prst="rect">
            <a:avLst/>
          </a:prstGeom>
          <a:solidFill>
            <a:srgbClr val="00838F"/>
          </a:solidFill>
          <a:ln/>
        </p:spPr>
      </p:sp>
      <p:sp>
        <p:nvSpPr>
          <p:cNvPr id="7" name="Text 4"/>
          <p:cNvSpPr/>
          <p:nvPr/>
        </p:nvSpPr>
        <p:spPr>
          <a:xfrm>
            <a:off x="3554202" y="1353312"/>
            <a:ext cx="438912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1</a:t>
            </a:r>
            <a:endParaRPr lang="en-US" sz="1800" dirty="0"/>
          </a:p>
        </p:txBody>
      </p:sp>
      <p:sp>
        <p:nvSpPr>
          <p:cNvPr id="8" name="Text 5"/>
          <p:cNvSpPr/>
          <p:nvPr/>
        </p:nvSpPr>
        <p:spPr>
          <a:xfrm>
            <a:off x="4066266" y="1353312"/>
            <a:ext cx="7939806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50" dirty="0">
                <a:solidFill>
                  <a:srgbClr val="1A1A1A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メニューから「勤怠入力」を選択</a:t>
            </a:r>
            <a:endParaRPr lang="en-US" sz="1650" dirty="0"/>
          </a:p>
        </p:txBody>
      </p:sp>
      <p:sp>
        <p:nvSpPr>
          <p:cNvPr id="9" name="Shape 6"/>
          <p:cNvSpPr/>
          <p:nvPr/>
        </p:nvSpPr>
        <p:spPr>
          <a:xfrm>
            <a:off x="3554202" y="2002536"/>
            <a:ext cx="438912" cy="438912"/>
          </a:xfrm>
          <a:prstGeom prst="rect">
            <a:avLst/>
          </a:prstGeom>
          <a:solidFill>
            <a:srgbClr val="00838F"/>
          </a:solidFill>
          <a:ln/>
        </p:spPr>
      </p:sp>
      <p:sp>
        <p:nvSpPr>
          <p:cNvPr id="10" name="Text 7"/>
          <p:cNvSpPr/>
          <p:nvPr/>
        </p:nvSpPr>
        <p:spPr>
          <a:xfrm>
            <a:off x="3554202" y="2002536"/>
            <a:ext cx="438912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2</a:t>
            </a:r>
            <a:endParaRPr lang="en-US" sz="1800" dirty="0"/>
          </a:p>
        </p:txBody>
      </p:sp>
      <p:sp>
        <p:nvSpPr>
          <p:cNvPr id="11" name="Text 8"/>
          <p:cNvSpPr/>
          <p:nvPr/>
        </p:nvSpPr>
        <p:spPr>
          <a:xfrm>
            <a:off x="4066266" y="2002536"/>
            <a:ext cx="7939806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50" dirty="0">
                <a:solidFill>
                  <a:srgbClr val="1A1A1A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店舗ドロップダウンで正しい店舗を選択</a:t>
            </a:r>
            <a:endParaRPr lang="en-US" sz="1650" dirty="0"/>
          </a:p>
        </p:txBody>
      </p:sp>
      <p:sp>
        <p:nvSpPr>
          <p:cNvPr id="12" name="Shape 9"/>
          <p:cNvSpPr/>
          <p:nvPr/>
        </p:nvSpPr>
        <p:spPr>
          <a:xfrm>
            <a:off x="3554202" y="2651760"/>
            <a:ext cx="438912" cy="438912"/>
          </a:xfrm>
          <a:prstGeom prst="rect">
            <a:avLst/>
          </a:prstGeom>
          <a:solidFill>
            <a:srgbClr val="00838F"/>
          </a:solidFill>
          <a:ln/>
        </p:spPr>
      </p:sp>
      <p:sp>
        <p:nvSpPr>
          <p:cNvPr id="13" name="Text 10"/>
          <p:cNvSpPr/>
          <p:nvPr/>
        </p:nvSpPr>
        <p:spPr>
          <a:xfrm>
            <a:off x="3554202" y="2651760"/>
            <a:ext cx="438912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3</a:t>
            </a:r>
            <a:endParaRPr lang="en-US" sz="1800" dirty="0"/>
          </a:p>
        </p:txBody>
      </p:sp>
      <p:sp>
        <p:nvSpPr>
          <p:cNvPr id="14" name="Text 11"/>
          <p:cNvSpPr/>
          <p:nvPr/>
        </p:nvSpPr>
        <p:spPr>
          <a:xfrm>
            <a:off x="4066266" y="2651760"/>
            <a:ext cx="7939806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50" dirty="0">
                <a:solidFill>
                  <a:srgbClr val="1A1A1A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該当するボタンをダブルクリック（素早く2回タップ）で打刻</a:t>
            </a:r>
            <a:endParaRPr lang="en-US" sz="1650" dirty="0"/>
          </a:p>
        </p:txBody>
      </p:sp>
      <p:sp>
        <p:nvSpPr>
          <p:cNvPr id="15" name="Shape 12"/>
          <p:cNvSpPr/>
          <p:nvPr/>
        </p:nvSpPr>
        <p:spPr>
          <a:xfrm>
            <a:off x="3554202" y="3255264"/>
            <a:ext cx="8497590" cy="420624"/>
          </a:xfrm>
          <a:prstGeom prst="rect">
            <a:avLst/>
          </a:prstGeom>
          <a:solidFill>
            <a:srgbClr val="2E7D32"/>
          </a:solidFill>
          <a:ln/>
        </p:spPr>
      </p:sp>
      <p:sp>
        <p:nvSpPr>
          <p:cNvPr id="16" name="Text 13"/>
          <p:cNvSpPr/>
          <p:nvPr/>
        </p:nvSpPr>
        <p:spPr>
          <a:xfrm>
            <a:off x="3663930" y="3255264"/>
            <a:ext cx="8332998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🟢 出勤</a:t>
            </a:r>
            <a:endParaRPr lang="en-US" sz="1600" dirty="0"/>
          </a:p>
        </p:txBody>
      </p:sp>
      <p:sp>
        <p:nvSpPr>
          <p:cNvPr id="17" name="Shape 14"/>
          <p:cNvSpPr/>
          <p:nvPr/>
        </p:nvSpPr>
        <p:spPr>
          <a:xfrm>
            <a:off x="3554202" y="3749040"/>
            <a:ext cx="8497590" cy="420624"/>
          </a:xfrm>
          <a:prstGeom prst="rect">
            <a:avLst/>
          </a:prstGeom>
          <a:solidFill>
            <a:srgbClr val="1565C0"/>
          </a:solidFill>
          <a:ln/>
        </p:spPr>
      </p:sp>
      <p:sp>
        <p:nvSpPr>
          <p:cNvPr id="18" name="Text 15"/>
          <p:cNvSpPr/>
          <p:nvPr/>
        </p:nvSpPr>
        <p:spPr>
          <a:xfrm>
            <a:off x="3663930" y="3749040"/>
            <a:ext cx="8332998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🔵 退勤</a:t>
            </a:r>
            <a:endParaRPr lang="en-US" sz="1600" dirty="0"/>
          </a:p>
        </p:txBody>
      </p:sp>
      <p:sp>
        <p:nvSpPr>
          <p:cNvPr id="19" name="Shape 16"/>
          <p:cNvSpPr/>
          <p:nvPr/>
        </p:nvSpPr>
        <p:spPr>
          <a:xfrm>
            <a:off x="3554202" y="4242816"/>
            <a:ext cx="8497590" cy="420624"/>
          </a:xfrm>
          <a:prstGeom prst="rect">
            <a:avLst/>
          </a:prstGeom>
          <a:solidFill>
            <a:srgbClr val="E65100"/>
          </a:solidFill>
          <a:ln/>
        </p:spPr>
      </p:sp>
      <p:sp>
        <p:nvSpPr>
          <p:cNvPr id="20" name="Text 17"/>
          <p:cNvSpPr/>
          <p:nvPr/>
        </p:nvSpPr>
        <p:spPr>
          <a:xfrm>
            <a:off x="3663930" y="4242816"/>
            <a:ext cx="8332998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🟠 休憩開始</a:t>
            </a:r>
            <a:endParaRPr lang="en-US" sz="1600" dirty="0"/>
          </a:p>
        </p:txBody>
      </p:sp>
      <p:sp>
        <p:nvSpPr>
          <p:cNvPr id="21" name="Shape 18"/>
          <p:cNvSpPr/>
          <p:nvPr/>
        </p:nvSpPr>
        <p:spPr>
          <a:xfrm>
            <a:off x="3554202" y="4736592"/>
            <a:ext cx="8497590" cy="420624"/>
          </a:xfrm>
          <a:prstGeom prst="rect">
            <a:avLst/>
          </a:prstGeom>
          <a:solidFill>
            <a:srgbClr val="6A1B9A"/>
          </a:solidFill>
          <a:ln/>
        </p:spPr>
      </p:sp>
      <p:sp>
        <p:nvSpPr>
          <p:cNvPr id="22" name="Text 19"/>
          <p:cNvSpPr/>
          <p:nvPr/>
        </p:nvSpPr>
        <p:spPr>
          <a:xfrm>
            <a:off x="3663930" y="4736592"/>
            <a:ext cx="8332998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🟣 休憩終了</a:t>
            </a:r>
            <a:endParaRPr lang="en-US" sz="1600" dirty="0"/>
          </a:p>
        </p:txBody>
      </p:sp>
      <p:sp>
        <p:nvSpPr>
          <p:cNvPr id="23" name="Shape 20"/>
          <p:cNvSpPr/>
          <p:nvPr/>
        </p:nvSpPr>
        <p:spPr>
          <a:xfrm>
            <a:off x="3554202" y="5230368"/>
            <a:ext cx="8497590" cy="493776"/>
          </a:xfrm>
          <a:prstGeom prst="rect">
            <a:avLst/>
          </a:prstGeom>
          <a:solidFill>
            <a:srgbClr val="E8F0FE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24" name="Text 21"/>
          <p:cNvSpPr/>
          <p:nvPr/>
        </p:nvSpPr>
        <p:spPr>
          <a:xfrm>
            <a:off x="3663930" y="5230368"/>
            <a:ext cx="8332998" cy="4937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1A1A1A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💡 誤操作防止のためダブルクリック（2回タップ）が必要です</a:t>
            </a:r>
            <a:endParaRPr lang="en-US" sz="1600" dirty="0"/>
          </a:p>
        </p:txBody>
      </p:sp>
      <p:sp>
        <p:nvSpPr>
          <p:cNvPr id="25" name="Shape 22"/>
          <p:cNvSpPr/>
          <p:nvPr/>
        </p:nvSpPr>
        <p:spPr>
          <a:xfrm>
            <a:off x="3554202" y="5934456"/>
            <a:ext cx="8497590" cy="493776"/>
          </a:xfrm>
          <a:prstGeom prst="rect">
            <a:avLst/>
          </a:prstGeom>
          <a:solidFill>
            <a:srgbClr val="E8F0FE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26" name="Text 23"/>
          <p:cNvSpPr/>
          <p:nvPr/>
        </p:nvSpPr>
        <p:spPr>
          <a:xfrm>
            <a:off x="3663930" y="5934456"/>
            <a:ext cx="8332998" cy="4937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1A1A1A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💡 「履歴」ボタンから過去の打刻記録を確認・修正申請できます</a:t>
            </a:r>
            <a:endParaRPr lang="en-US" sz="16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749808"/>
          </a:xfrm>
          <a:prstGeom prst="rect">
            <a:avLst/>
          </a:prstGeom>
          <a:solidFill>
            <a:srgbClr val="006064"/>
          </a:solidFill>
          <a:ln/>
        </p:spPr>
      </p:sp>
      <p:sp>
        <p:nvSpPr>
          <p:cNvPr id="3" name="Text 1"/>
          <p:cNvSpPr/>
          <p:nvPr/>
        </p:nvSpPr>
        <p:spPr>
          <a:xfrm>
            <a:off x="228600" y="0"/>
            <a:ext cx="1188720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900" b="1" dirty="0">
                <a:solidFill>
                  <a:srgbClr val="FFFFFF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9.  勤怠入力　②　打刻履歴の見方と修正申請</a:t>
            </a:r>
            <a:endParaRPr lang="en-US" sz="2900" dirty="0"/>
          </a:p>
        </p:txBody>
      </p:sp>
      <p:pic>
        <p:nvPicPr>
          <p:cNvPr id="4" name="Image 0" descr="C:\Users\kouki\my-app\screenshots\17b_clockin_history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164592" y="758952"/>
            <a:ext cx="3225018" cy="598932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3554202" y="804672"/>
            <a:ext cx="849759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100" b="1" dirty="0">
                <a:solidFill>
                  <a:srgbClr val="006064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打刻履歴の開き方</a:t>
            </a:r>
            <a:endParaRPr lang="en-US" sz="2100" dirty="0"/>
          </a:p>
        </p:txBody>
      </p:sp>
      <p:sp>
        <p:nvSpPr>
          <p:cNvPr id="6" name="Shape 3"/>
          <p:cNvSpPr/>
          <p:nvPr/>
        </p:nvSpPr>
        <p:spPr>
          <a:xfrm>
            <a:off x="3554202" y="1353312"/>
            <a:ext cx="438912" cy="438912"/>
          </a:xfrm>
          <a:prstGeom prst="rect">
            <a:avLst/>
          </a:prstGeom>
          <a:solidFill>
            <a:srgbClr val="006064"/>
          </a:solidFill>
          <a:ln/>
        </p:spPr>
      </p:sp>
      <p:sp>
        <p:nvSpPr>
          <p:cNvPr id="7" name="Text 4"/>
          <p:cNvSpPr/>
          <p:nvPr/>
        </p:nvSpPr>
        <p:spPr>
          <a:xfrm>
            <a:off x="3554202" y="1353312"/>
            <a:ext cx="438912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1</a:t>
            </a:r>
            <a:endParaRPr lang="en-US" sz="1800" dirty="0"/>
          </a:p>
        </p:txBody>
      </p:sp>
      <p:sp>
        <p:nvSpPr>
          <p:cNvPr id="8" name="Text 5"/>
          <p:cNvSpPr/>
          <p:nvPr/>
        </p:nvSpPr>
        <p:spPr>
          <a:xfrm>
            <a:off x="4066266" y="1353312"/>
            <a:ext cx="7939806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50" dirty="0">
                <a:solidFill>
                  <a:srgbClr val="1A1A1A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勤怠入力画面で管理番号・パスワードを入力して認証</a:t>
            </a:r>
            <a:endParaRPr lang="en-US" sz="1650" dirty="0"/>
          </a:p>
        </p:txBody>
      </p:sp>
      <p:sp>
        <p:nvSpPr>
          <p:cNvPr id="9" name="Shape 6"/>
          <p:cNvSpPr/>
          <p:nvPr/>
        </p:nvSpPr>
        <p:spPr>
          <a:xfrm>
            <a:off x="3554202" y="2002536"/>
            <a:ext cx="438912" cy="438912"/>
          </a:xfrm>
          <a:prstGeom prst="rect">
            <a:avLst/>
          </a:prstGeom>
          <a:solidFill>
            <a:srgbClr val="006064"/>
          </a:solidFill>
          <a:ln/>
        </p:spPr>
      </p:sp>
      <p:sp>
        <p:nvSpPr>
          <p:cNvPr id="10" name="Text 7"/>
          <p:cNvSpPr/>
          <p:nvPr/>
        </p:nvSpPr>
        <p:spPr>
          <a:xfrm>
            <a:off x="3554202" y="2002536"/>
            <a:ext cx="438912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2</a:t>
            </a:r>
            <a:endParaRPr lang="en-US" sz="1800" dirty="0"/>
          </a:p>
        </p:txBody>
      </p:sp>
      <p:sp>
        <p:nvSpPr>
          <p:cNvPr id="11" name="Text 8"/>
          <p:cNvSpPr/>
          <p:nvPr/>
        </p:nvSpPr>
        <p:spPr>
          <a:xfrm>
            <a:off x="4066266" y="2002536"/>
            <a:ext cx="7939806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50" dirty="0">
                <a:solidFill>
                  <a:srgbClr val="1A1A1A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画面下の「履歴」ボタンをタップ</a:t>
            </a:r>
            <a:endParaRPr lang="en-US" sz="1650" dirty="0"/>
          </a:p>
        </p:txBody>
      </p:sp>
      <p:sp>
        <p:nvSpPr>
          <p:cNvPr id="12" name="Shape 9"/>
          <p:cNvSpPr/>
          <p:nvPr/>
        </p:nvSpPr>
        <p:spPr>
          <a:xfrm>
            <a:off x="3554202" y="2651760"/>
            <a:ext cx="438912" cy="438912"/>
          </a:xfrm>
          <a:prstGeom prst="rect">
            <a:avLst/>
          </a:prstGeom>
          <a:solidFill>
            <a:srgbClr val="006064"/>
          </a:solidFill>
          <a:ln/>
        </p:spPr>
      </p:sp>
      <p:sp>
        <p:nvSpPr>
          <p:cNvPr id="13" name="Text 10"/>
          <p:cNvSpPr/>
          <p:nvPr/>
        </p:nvSpPr>
        <p:spPr>
          <a:xfrm>
            <a:off x="3554202" y="2651760"/>
            <a:ext cx="438912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3</a:t>
            </a:r>
            <a:endParaRPr lang="en-US" sz="1800" dirty="0"/>
          </a:p>
        </p:txBody>
      </p:sp>
      <p:sp>
        <p:nvSpPr>
          <p:cNvPr id="14" name="Text 11"/>
          <p:cNvSpPr/>
          <p:nvPr/>
        </p:nvSpPr>
        <p:spPr>
          <a:xfrm>
            <a:off x="4066266" y="2651760"/>
            <a:ext cx="7939806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50" dirty="0">
                <a:solidFill>
                  <a:srgbClr val="1A1A1A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自分の管理番号を入力 → 過去の打刻一覧が表示される</a:t>
            </a:r>
            <a:endParaRPr lang="en-US" sz="1650" dirty="0"/>
          </a:p>
        </p:txBody>
      </p:sp>
      <p:sp>
        <p:nvSpPr>
          <p:cNvPr id="15" name="Text 12"/>
          <p:cNvSpPr/>
          <p:nvPr/>
        </p:nvSpPr>
        <p:spPr>
          <a:xfrm>
            <a:off x="3554202" y="3255264"/>
            <a:ext cx="849759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006064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▶ </a:t>
            </a:r>
            <a:r>
              <a:rPr lang="en-US" sz="1700" dirty="0">
                <a:solidFill>
                  <a:srgbClr val="1A1A1A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表示内容：日付 / 出勤時刻 / 退勤時刻 / 休憩時間</a:t>
            </a:r>
            <a:endParaRPr lang="en-US" sz="1700" dirty="0"/>
          </a:p>
        </p:txBody>
      </p:sp>
      <p:sp>
        <p:nvSpPr>
          <p:cNvPr id="16" name="Text 13"/>
          <p:cNvSpPr/>
          <p:nvPr/>
        </p:nvSpPr>
        <p:spPr>
          <a:xfrm>
            <a:off x="3554202" y="3730752"/>
            <a:ext cx="849759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006064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▶ </a:t>
            </a:r>
            <a:r>
              <a:rPr lang="en-US" sz="1700" dirty="0">
                <a:solidFill>
                  <a:srgbClr val="1A1A1A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「−−:−−」は打刻されていない状態（打ち忘れ）</a:t>
            </a:r>
            <a:endParaRPr lang="en-US" sz="1700" dirty="0"/>
          </a:p>
        </p:txBody>
      </p:sp>
      <p:sp>
        <p:nvSpPr>
          <p:cNvPr id="17" name="Text 14"/>
          <p:cNvSpPr/>
          <p:nvPr/>
        </p:nvSpPr>
        <p:spPr>
          <a:xfrm>
            <a:off x="3554202" y="4343400"/>
            <a:ext cx="849759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100" b="1" dirty="0">
                <a:solidFill>
                  <a:srgbClr val="006064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修正申請の手順</a:t>
            </a:r>
            <a:endParaRPr lang="en-US" sz="2100" dirty="0"/>
          </a:p>
        </p:txBody>
      </p:sp>
      <p:sp>
        <p:nvSpPr>
          <p:cNvPr id="18" name="Shape 15"/>
          <p:cNvSpPr/>
          <p:nvPr/>
        </p:nvSpPr>
        <p:spPr>
          <a:xfrm>
            <a:off x="3554202" y="4892040"/>
            <a:ext cx="438912" cy="438912"/>
          </a:xfrm>
          <a:prstGeom prst="rect">
            <a:avLst/>
          </a:prstGeom>
          <a:solidFill>
            <a:srgbClr val="006064"/>
          </a:solidFill>
          <a:ln/>
        </p:spPr>
      </p:sp>
      <p:sp>
        <p:nvSpPr>
          <p:cNvPr id="19" name="Text 16"/>
          <p:cNvSpPr/>
          <p:nvPr/>
        </p:nvSpPr>
        <p:spPr>
          <a:xfrm>
            <a:off x="3554202" y="4892040"/>
            <a:ext cx="438912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4</a:t>
            </a:r>
            <a:endParaRPr lang="en-US" sz="1800" dirty="0"/>
          </a:p>
        </p:txBody>
      </p:sp>
      <p:sp>
        <p:nvSpPr>
          <p:cNvPr id="20" name="Text 17"/>
          <p:cNvSpPr/>
          <p:nvPr/>
        </p:nvSpPr>
        <p:spPr>
          <a:xfrm>
            <a:off x="4066266" y="4892040"/>
            <a:ext cx="7939806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50" dirty="0">
                <a:solidFill>
                  <a:srgbClr val="1A1A1A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履歴から修正したい日付の行をタップ</a:t>
            </a:r>
            <a:endParaRPr lang="en-US" sz="1650" dirty="0"/>
          </a:p>
        </p:txBody>
      </p:sp>
      <p:sp>
        <p:nvSpPr>
          <p:cNvPr id="21" name="Shape 18"/>
          <p:cNvSpPr/>
          <p:nvPr/>
        </p:nvSpPr>
        <p:spPr>
          <a:xfrm>
            <a:off x="3554202" y="5541264"/>
            <a:ext cx="438912" cy="438912"/>
          </a:xfrm>
          <a:prstGeom prst="rect">
            <a:avLst/>
          </a:prstGeom>
          <a:solidFill>
            <a:srgbClr val="006064"/>
          </a:solidFill>
          <a:ln/>
        </p:spPr>
      </p:sp>
      <p:sp>
        <p:nvSpPr>
          <p:cNvPr id="22" name="Text 19"/>
          <p:cNvSpPr/>
          <p:nvPr/>
        </p:nvSpPr>
        <p:spPr>
          <a:xfrm>
            <a:off x="3554202" y="5541264"/>
            <a:ext cx="438912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5</a:t>
            </a:r>
            <a:endParaRPr lang="en-US" sz="1800" dirty="0"/>
          </a:p>
        </p:txBody>
      </p:sp>
      <p:sp>
        <p:nvSpPr>
          <p:cNvPr id="23" name="Text 20"/>
          <p:cNvSpPr/>
          <p:nvPr/>
        </p:nvSpPr>
        <p:spPr>
          <a:xfrm>
            <a:off x="4066266" y="5541264"/>
            <a:ext cx="7939806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50" dirty="0">
                <a:solidFill>
                  <a:srgbClr val="1A1A1A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「修正申請」をタップ → 正しい時間と理由を入力</a:t>
            </a:r>
            <a:endParaRPr lang="en-US" sz="1650" dirty="0"/>
          </a:p>
        </p:txBody>
      </p:sp>
      <p:sp>
        <p:nvSpPr>
          <p:cNvPr id="24" name="Shape 21"/>
          <p:cNvSpPr/>
          <p:nvPr/>
        </p:nvSpPr>
        <p:spPr>
          <a:xfrm>
            <a:off x="3554202" y="6190488"/>
            <a:ext cx="438912" cy="438912"/>
          </a:xfrm>
          <a:prstGeom prst="rect">
            <a:avLst/>
          </a:prstGeom>
          <a:solidFill>
            <a:srgbClr val="006064"/>
          </a:solidFill>
          <a:ln/>
        </p:spPr>
      </p:sp>
      <p:sp>
        <p:nvSpPr>
          <p:cNvPr id="25" name="Text 22"/>
          <p:cNvSpPr/>
          <p:nvPr/>
        </p:nvSpPr>
        <p:spPr>
          <a:xfrm>
            <a:off x="3554202" y="6190488"/>
            <a:ext cx="438912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6</a:t>
            </a:r>
            <a:endParaRPr lang="en-US" sz="1800" dirty="0"/>
          </a:p>
        </p:txBody>
      </p:sp>
      <p:sp>
        <p:nvSpPr>
          <p:cNvPr id="26" name="Text 23"/>
          <p:cNvSpPr/>
          <p:nvPr/>
        </p:nvSpPr>
        <p:spPr>
          <a:xfrm>
            <a:off x="4066266" y="6190488"/>
            <a:ext cx="7939806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50" dirty="0">
                <a:solidFill>
                  <a:srgbClr val="1A1A1A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「申請する」→ オーナー様に申請が送信される</a:t>
            </a:r>
            <a:endParaRPr lang="en-US" sz="1650" dirty="0"/>
          </a:p>
        </p:txBody>
      </p:sp>
      <p:sp>
        <p:nvSpPr>
          <p:cNvPr id="27" name="Shape 24"/>
          <p:cNvSpPr/>
          <p:nvPr/>
        </p:nvSpPr>
        <p:spPr>
          <a:xfrm>
            <a:off x="3554202" y="6793992"/>
            <a:ext cx="8497590" cy="493776"/>
          </a:xfrm>
          <a:prstGeom prst="rect">
            <a:avLst/>
          </a:prstGeom>
          <a:solidFill>
            <a:srgbClr val="FFF8E1"/>
          </a:solidFill>
          <a:ln w="12700">
            <a:solidFill>
              <a:srgbClr val="F57F17"/>
            </a:solidFill>
            <a:prstDash val="solid"/>
          </a:ln>
        </p:spPr>
      </p:sp>
      <p:sp>
        <p:nvSpPr>
          <p:cNvPr id="28" name="Text 25"/>
          <p:cNvSpPr/>
          <p:nvPr/>
        </p:nvSpPr>
        <p:spPr>
          <a:xfrm>
            <a:off x="3663930" y="6793992"/>
            <a:ext cx="8332998" cy="4937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4E342E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⚠️ 申請しただけでは反映されません。オーナー様の「承認」が必要です</a:t>
            </a:r>
            <a:endParaRPr lang="en-US" sz="16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749808"/>
          </a:xfrm>
          <a:prstGeom prst="rect">
            <a:avLst/>
          </a:prstGeom>
          <a:solidFill>
            <a:srgbClr val="004D40"/>
          </a:solidFill>
          <a:ln/>
        </p:spPr>
      </p:sp>
      <p:sp>
        <p:nvSpPr>
          <p:cNvPr id="3" name="Text 1"/>
          <p:cNvSpPr/>
          <p:nvPr/>
        </p:nvSpPr>
        <p:spPr>
          <a:xfrm>
            <a:off x="228600" y="0"/>
            <a:ext cx="1188720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900" b="1" dirty="0">
                <a:solidFill>
                  <a:srgbClr val="FFFFFF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9.  勤怠入力　③　修正申請フォームの書き方</a:t>
            </a:r>
            <a:endParaRPr lang="en-US" sz="2900" dirty="0"/>
          </a:p>
        </p:txBody>
      </p:sp>
      <p:sp>
        <p:nvSpPr>
          <p:cNvPr id="4" name="Shape 2"/>
          <p:cNvSpPr/>
          <p:nvPr/>
        </p:nvSpPr>
        <p:spPr>
          <a:xfrm>
            <a:off x="201168" y="822960"/>
            <a:ext cx="5120640" cy="5760720"/>
          </a:xfrm>
          <a:prstGeom prst="rect">
            <a:avLst/>
          </a:prstGeom>
          <a:solidFill>
            <a:srgbClr val="FFFFFF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201168" y="822960"/>
            <a:ext cx="5120640" cy="457200"/>
          </a:xfrm>
          <a:prstGeom prst="rect">
            <a:avLst/>
          </a:prstGeom>
          <a:solidFill>
            <a:srgbClr val="004D40"/>
          </a:solidFill>
          <a:ln/>
        </p:spPr>
      </p:sp>
      <p:sp>
        <p:nvSpPr>
          <p:cNvPr id="6" name="Text 4"/>
          <p:cNvSpPr/>
          <p:nvPr/>
        </p:nvSpPr>
        <p:spPr>
          <a:xfrm>
            <a:off x="201168" y="822960"/>
            <a:ext cx="5120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修正申請フォーム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338328" y="1389888"/>
            <a:ext cx="4846320" cy="548640"/>
          </a:xfrm>
          <a:prstGeom prst="rect">
            <a:avLst/>
          </a:prstGeom>
          <a:solidFill>
            <a:srgbClr val="F1F8F7"/>
          </a:solidFill>
          <a:ln w="6350">
            <a:solidFill>
              <a:srgbClr val="004D4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02336" y="1408176"/>
            <a:ext cx="4718304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04D40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申請する日付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402336" y="1664208"/>
            <a:ext cx="4718304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546E7A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修正したい日が自動で入る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338328" y="2048256"/>
            <a:ext cx="4846320" cy="548640"/>
          </a:xfrm>
          <a:prstGeom prst="rect">
            <a:avLst/>
          </a:prstGeom>
          <a:solidFill>
            <a:srgbClr val="F1F8F7"/>
          </a:solidFill>
          <a:ln w="6350">
            <a:solidFill>
              <a:srgbClr val="004D4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02336" y="2066544"/>
            <a:ext cx="4718304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04D40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元の出勤時刻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402336" y="2322576"/>
            <a:ext cx="4718304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546E7A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現在記録されている時刻（変更不可）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338328" y="2706624"/>
            <a:ext cx="4846320" cy="548640"/>
          </a:xfrm>
          <a:prstGeom prst="rect">
            <a:avLst/>
          </a:prstGeom>
          <a:solidFill>
            <a:srgbClr val="F1F8F7"/>
          </a:solidFill>
          <a:ln w="6350">
            <a:solidFill>
              <a:srgbClr val="004D4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02336" y="2724912"/>
            <a:ext cx="4718304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04D40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元の退勤時刻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402336" y="2980944"/>
            <a:ext cx="4718304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546E7A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現在記録されている時刻（変更不可）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338328" y="3364992"/>
            <a:ext cx="4846320" cy="548640"/>
          </a:xfrm>
          <a:prstGeom prst="rect">
            <a:avLst/>
          </a:prstGeom>
          <a:solidFill>
            <a:srgbClr val="F1F8F7"/>
          </a:solidFill>
          <a:ln w="6350">
            <a:solidFill>
              <a:srgbClr val="004D4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02336" y="3383280"/>
            <a:ext cx="4718304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04D40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修正後の出勤時刻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402336" y="3639312"/>
            <a:ext cx="4718304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546E7A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正しい出勤時刻を入力 ★</a:t>
            </a:r>
            <a:endParaRPr lang="en-US" sz="1250" dirty="0"/>
          </a:p>
        </p:txBody>
      </p:sp>
      <p:sp>
        <p:nvSpPr>
          <p:cNvPr id="19" name="Shape 17"/>
          <p:cNvSpPr/>
          <p:nvPr/>
        </p:nvSpPr>
        <p:spPr>
          <a:xfrm>
            <a:off x="338328" y="4023360"/>
            <a:ext cx="4846320" cy="548640"/>
          </a:xfrm>
          <a:prstGeom prst="rect">
            <a:avLst/>
          </a:prstGeom>
          <a:solidFill>
            <a:srgbClr val="F1F8F7"/>
          </a:solidFill>
          <a:ln w="6350">
            <a:solidFill>
              <a:srgbClr val="004D40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02336" y="4041648"/>
            <a:ext cx="4718304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04D40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修正後の退勤時刻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402336" y="4297680"/>
            <a:ext cx="4718304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546E7A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正しい退勤時刻を入力 ★</a:t>
            </a:r>
            <a:endParaRPr lang="en-US" sz="1250" dirty="0"/>
          </a:p>
        </p:txBody>
      </p:sp>
      <p:sp>
        <p:nvSpPr>
          <p:cNvPr id="22" name="Shape 20"/>
          <p:cNvSpPr/>
          <p:nvPr/>
        </p:nvSpPr>
        <p:spPr>
          <a:xfrm>
            <a:off x="338328" y="4681728"/>
            <a:ext cx="4846320" cy="548640"/>
          </a:xfrm>
          <a:prstGeom prst="rect">
            <a:avLst/>
          </a:prstGeom>
          <a:solidFill>
            <a:srgbClr val="F1F8F7"/>
          </a:solidFill>
          <a:ln w="6350">
            <a:solidFill>
              <a:srgbClr val="004D4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02336" y="4700016"/>
            <a:ext cx="4718304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04D40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備考（任意）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402336" y="4956048"/>
            <a:ext cx="4718304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546E7A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特記事項があれば記入（任意）</a:t>
            </a:r>
            <a:endParaRPr lang="en-US" sz="1250" dirty="0"/>
          </a:p>
        </p:txBody>
      </p:sp>
      <p:sp>
        <p:nvSpPr>
          <p:cNvPr id="25" name="Shape 23"/>
          <p:cNvSpPr/>
          <p:nvPr/>
        </p:nvSpPr>
        <p:spPr>
          <a:xfrm>
            <a:off x="749808" y="5852160"/>
            <a:ext cx="4023360" cy="475488"/>
          </a:xfrm>
          <a:prstGeom prst="rect">
            <a:avLst/>
          </a:prstGeom>
          <a:solidFill>
            <a:srgbClr val="004D40"/>
          </a:solidFill>
          <a:ln/>
        </p:spPr>
      </p:sp>
      <p:sp>
        <p:nvSpPr>
          <p:cNvPr id="26" name="Text 24"/>
          <p:cNvSpPr/>
          <p:nvPr/>
        </p:nvSpPr>
        <p:spPr>
          <a:xfrm>
            <a:off x="749808" y="5852160"/>
            <a:ext cx="402336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FFFFFF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申請する</a:t>
            </a:r>
            <a:endParaRPr lang="en-US" sz="1700" dirty="0"/>
          </a:p>
        </p:txBody>
      </p:sp>
      <p:sp>
        <p:nvSpPr>
          <p:cNvPr id="27" name="Text 25"/>
          <p:cNvSpPr/>
          <p:nvPr/>
        </p:nvSpPr>
        <p:spPr>
          <a:xfrm>
            <a:off x="5596128" y="877824"/>
            <a:ext cx="6455664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100" b="1" dirty="0">
                <a:solidFill>
                  <a:srgbClr val="004D40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入力のポイント</a:t>
            </a:r>
            <a:endParaRPr lang="en-US" sz="2100" dirty="0"/>
          </a:p>
        </p:txBody>
      </p:sp>
      <p:sp>
        <p:nvSpPr>
          <p:cNvPr id="28" name="Text 26"/>
          <p:cNvSpPr/>
          <p:nvPr/>
        </p:nvSpPr>
        <p:spPr>
          <a:xfrm>
            <a:off x="5596128" y="1426464"/>
            <a:ext cx="6455664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004D40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▶ </a:t>
            </a:r>
            <a:r>
              <a:rPr lang="en-US" sz="1700" dirty="0">
                <a:solidFill>
                  <a:srgbClr val="1A1A1A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★のついた項目が自分で入力する箇所</a:t>
            </a:r>
            <a:endParaRPr lang="en-US" sz="1700" dirty="0"/>
          </a:p>
        </p:txBody>
      </p:sp>
      <p:sp>
        <p:nvSpPr>
          <p:cNvPr id="29" name="Text 27"/>
          <p:cNvSpPr/>
          <p:nvPr/>
        </p:nvSpPr>
        <p:spPr>
          <a:xfrm>
            <a:off x="5596128" y="1947672"/>
            <a:ext cx="6455664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004D40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▶ </a:t>
            </a:r>
            <a:r>
              <a:rPr lang="en-US" sz="1700" dirty="0">
                <a:solidFill>
                  <a:srgbClr val="1A1A1A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「元の時刻」は変更できません（参考表示）</a:t>
            </a:r>
            <a:endParaRPr lang="en-US" sz="1700" dirty="0"/>
          </a:p>
        </p:txBody>
      </p:sp>
      <p:sp>
        <p:nvSpPr>
          <p:cNvPr id="30" name="Text 28"/>
          <p:cNvSpPr/>
          <p:nvPr/>
        </p:nvSpPr>
        <p:spPr>
          <a:xfrm>
            <a:off x="5596128" y="2560320"/>
            <a:ext cx="6455664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100" b="1" dirty="0">
                <a:solidFill>
                  <a:srgbClr val="004D40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備考の入力例（任意）</a:t>
            </a:r>
            <a:endParaRPr lang="en-US" sz="2100" dirty="0"/>
          </a:p>
        </p:txBody>
      </p:sp>
      <p:sp>
        <p:nvSpPr>
          <p:cNvPr id="31" name="Text 29"/>
          <p:cNvSpPr/>
          <p:nvPr/>
        </p:nvSpPr>
        <p:spPr>
          <a:xfrm>
            <a:off x="5596128" y="3108960"/>
            <a:ext cx="6455664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dirty="0">
                <a:solidFill>
                  <a:srgbClr val="1A1A1A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📝 出勤打刻を忘れました</a:t>
            </a:r>
            <a:endParaRPr lang="en-US" sz="1700" dirty="0"/>
          </a:p>
        </p:txBody>
      </p:sp>
      <p:sp>
        <p:nvSpPr>
          <p:cNvPr id="32" name="Text 30"/>
          <p:cNvSpPr/>
          <p:nvPr/>
        </p:nvSpPr>
        <p:spPr>
          <a:xfrm>
            <a:off x="5596128" y="3547872"/>
            <a:ext cx="6455664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dirty="0">
                <a:solidFill>
                  <a:srgbClr val="1A1A1A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📝 退勤後に打刻できませんでした</a:t>
            </a:r>
            <a:endParaRPr lang="en-US" sz="1700" dirty="0"/>
          </a:p>
        </p:txBody>
      </p:sp>
      <p:sp>
        <p:nvSpPr>
          <p:cNvPr id="33" name="Text 31"/>
          <p:cNvSpPr/>
          <p:nvPr/>
        </p:nvSpPr>
        <p:spPr>
          <a:xfrm>
            <a:off x="5596128" y="3986784"/>
            <a:ext cx="6455664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dirty="0">
                <a:solidFill>
                  <a:srgbClr val="1A1A1A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📝 打刻時に間違えて押しました</a:t>
            </a:r>
            <a:endParaRPr lang="en-US" sz="1700" dirty="0"/>
          </a:p>
        </p:txBody>
      </p:sp>
      <p:sp>
        <p:nvSpPr>
          <p:cNvPr id="34" name="Shape 32"/>
          <p:cNvSpPr/>
          <p:nvPr/>
        </p:nvSpPr>
        <p:spPr>
          <a:xfrm>
            <a:off x="5596128" y="4562856"/>
            <a:ext cx="6455664" cy="493776"/>
          </a:xfrm>
          <a:prstGeom prst="rect">
            <a:avLst/>
          </a:prstGeom>
          <a:solidFill>
            <a:srgbClr val="E8F0FE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5705856" y="4562856"/>
            <a:ext cx="6291072" cy="4937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1A1A1A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💡 備考は任意入力です（任意）</a:t>
            </a:r>
            <a:endParaRPr lang="en-US" sz="1600" dirty="0"/>
          </a:p>
        </p:txBody>
      </p:sp>
      <p:sp>
        <p:nvSpPr>
          <p:cNvPr id="36" name="Shape 34"/>
          <p:cNvSpPr/>
          <p:nvPr/>
        </p:nvSpPr>
        <p:spPr>
          <a:xfrm>
            <a:off x="5596128" y="5266944"/>
            <a:ext cx="6455664" cy="493776"/>
          </a:xfrm>
          <a:prstGeom prst="rect">
            <a:avLst/>
          </a:prstGeom>
          <a:solidFill>
            <a:srgbClr val="FFF8E1"/>
          </a:solidFill>
          <a:ln w="12700">
            <a:solidFill>
              <a:srgbClr val="F57F17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5705856" y="5266944"/>
            <a:ext cx="6291072" cy="4937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4E342E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⚠️ 申請後はオーナー様の「承認」が必要です。自動反映はされません</a:t>
            </a:r>
            <a:endParaRPr lang="en-US" sz="16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749808"/>
          </a:xfrm>
          <a:prstGeom prst="rect">
            <a:avLst/>
          </a:prstGeom>
          <a:solidFill>
            <a:srgbClr val="1A237E"/>
          </a:solidFill>
          <a:ln/>
        </p:spPr>
      </p:sp>
      <p:sp>
        <p:nvSpPr>
          <p:cNvPr id="3" name="Text 1"/>
          <p:cNvSpPr/>
          <p:nvPr/>
        </p:nvSpPr>
        <p:spPr>
          <a:xfrm>
            <a:off x="228600" y="0"/>
            <a:ext cx="1188720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900" b="1" dirty="0">
                <a:solidFill>
                  <a:srgbClr val="FFFFFF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9.  勤怠入力　④　承認状況の確認方法（スタッフ向け）</a:t>
            </a:r>
            <a:endParaRPr lang="en-US" sz="2900" dirty="0"/>
          </a:p>
        </p:txBody>
      </p:sp>
      <p:pic>
        <p:nvPicPr>
          <p:cNvPr id="4" name="Image 0" descr="C:\Users\kouki\my-app\screenshots\12_work_hours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164592" y="786384"/>
            <a:ext cx="3225018" cy="598932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3554202" y="841248"/>
            <a:ext cx="849759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100" b="1" dirty="0">
                <a:solidFill>
                  <a:srgbClr val="1A237E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承認されたか確認する方法</a:t>
            </a:r>
            <a:endParaRPr lang="en-US" sz="2100" dirty="0"/>
          </a:p>
        </p:txBody>
      </p:sp>
      <p:sp>
        <p:nvSpPr>
          <p:cNvPr id="6" name="Shape 3"/>
          <p:cNvSpPr/>
          <p:nvPr/>
        </p:nvSpPr>
        <p:spPr>
          <a:xfrm>
            <a:off x="3554202" y="1389888"/>
            <a:ext cx="438912" cy="438912"/>
          </a:xfrm>
          <a:prstGeom prst="rect">
            <a:avLst/>
          </a:prstGeom>
          <a:solidFill>
            <a:srgbClr val="1A237E"/>
          </a:solidFill>
          <a:ln/>
        </p:spPr>
      </p:sp>
      <p:sp>
        <p:nvSpPr>
          <p:cNvPr id="7" name="Text 4"/>
          <p:cNvSpPr/>
          <p:nvPr/>
        </p:nvSpPr>
        <p:spPr>
          <a:xfrm>
            <a:off x="3554202" y="1389888"/>
            <a:ext cx="438912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1</a:t>
            </a:r>
            <a:endParaRPr lang="en-US" sz="1800" dirty="0"/>
          </a:p>
        </p:txBody>
      </p:sp>
      <p:sp>
        <p:nvSpPr>
          <p:cNvPr id="8" name="Text 5"/>
          <p:cNvSpPr/>
          <p:nvPr/>
        </p:nvSpPr>
        <p:spPr>
          <a:xfrm>
            <a:off x="4066266" y="1389888"/>
            <a:ext cx="7939806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50" dirty="0">
                <a:solidFill>
                  <a:srgbClr val="1A1A1A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スタッフ様メニューの「就労時間」を開く</a:t>
            </a:r>
            <a:endParaRPr lang="en-US" sz="1650" dirty="0"/>
          </a:p>
        </p:txBody>
      </p:sp>
      <p:sp>
        <p:nvSpPr>
          <p:cNvPr id="9" name="Shape 6"/>
          <p:cNvSpPr/>
          <p:nvPr/>
        </p:nvSpPr>
        <p:spPr>
          <a:xfrm>
            <a:off x="3554202" y="2039112"/>
            <a:ext cx="438912" cy="438912"/>
          </a:xfrm>
          <a:prstGeom prst="rect">
            <a:avLst/>
          </a:prstGeom>
          <a:solidFill>
            <a:srgbClr val="1A237E"/>
          </a:solidFill>
          <a:ln/>
        </p:spPr>
      </p:sp>
      <p:sp>
        <p:nvSpPr>
          <p:cNvPr id="10" name="Text 7"/>
          <p:cNvSpPr/>
          <p:nvPr/>
        </p:nvSpPr>
        <p:spPr>
          <a:xfrm>
            <a:off x="3554202" y="2039112"/>
            <a:ext cx="438912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2</a:t>
            </a:r>
            <a:endParaRPr lang="en-US" sz="1800" dirty="0"/>
          </a:p>
        </p:txBody>
      </p:sp>
      <p:sp>
        <p:nvSpPr>
          <p:cNvPr id="11" name="Text 8"/>
          <p:cNvSpPr/>
          <p:nvPr/>
        </p:nvSpPr>
        <p:spPr>
          <a:xfrm>
            <a:off x="4066266" y="2039112"/>
            <a:ext cx="7939806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50" dirty="0">
                <a:solidFill>
                  <a:srgbClr val="1A1A1A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申請した日の勤務時間が正しい時間に変わっているか確認</a:t>
            </a:r>
            <a:endParaRPr lang="en-US" sz="1650" dirty="0"/>
          </a:p>
        </p:txBody>
      </p:sp>
      <p:sp>
        <p:nvSpPr>
          <p:cNvPr id="12" name="Shape 9"/>
          <p:cNvSpPr/>
          <p:nvPr/>
        </p:nvSpPr>
        <p:spPr>
          <a:xfrm>
            <a:off x="3554202" y="2688336"/>
            <a:ext cx="438912" cy="438912"/>
          </a:xfrm>
          <a:prstGeom prst="rect">
            <a:avLst/>
          </a:prstGeom>
          <a:solidFill>
            <a:srgbClr val="1A237E"/>
          </a:solidFill>
          <a:ln/>
        </p:spPr>
      </p:sp>
      <p:sp>
        <p:nvSpPr>
          <p:cNvPr id="13" name="Text 10"/>
          <p:cNvSpPr/>
          <p:nvPr/>
        </p:nvSpPr>
        <p:spPr>
          <a:xfrm>
            <a:off x="3554202" y="2688336"/>
            <a:ext cx="438912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3</a:t>
            </a:r>
            <a:endParaRPr lang="en-US" sz="1800" dirty="0"/>
          </a:p>
        </p:txBody>
      </p:sp>
      <p:sp>
        <p:nvSpPr>
          <p:cNvPr id="14" name="Text 11"/>
          <p:cNvSpPr/>
          <p:nvPr/>
        </p:nvSpPr>
        <p:spPr>
          <a:xfrm>
            <a:off x="4066266" y="2688336"/>
            <a:ext cx="7939806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50" dirty="0">
                <a:solidFill>
                  <a:srgbClr val="1A1A1A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時間が正しければ → 承認済み ✅</a:t>
            </a:r>
            <a:endParaRPr lang="en-US" sz="1650" dirty="0"/>
          </a:p>
        </p:txBody>
      </p:sp>
      <p:sp>
        <p:nvSpPr>
          <p:cNvPr id="15" name="Shape 12"/>
          <p:cNvSpPr/>
          <p:nvPr/>
        </p:nvSpPr>
        <p:spPr>
          <a:xfrm>
            <a:off x="3554202" y="3337560"/>
            <a:ext cx="438912" cy="438912"/>
          </a:xfrm>
          <a:prstGeom prst="rect">
            <a:avLst/>
          </a:prstGeom>
          <a:solidFill>
            <a:srgbClr val="1A237E"/>
          </a:solidFill>
          <a:ln/>
        </p:spPr>
      </p:sp>
      <p:sp>
        <p:nvSpPr>
          <p:cNvPr id="16" name="Text 13"/>
          <p:cNvSpPr/>
          <p:nvPr/>
        </p:nvSpPr>
        <p:spPr>
          <a:xfrm>
            <a:off x="3554202" y="3337560"/>
            <a:ext cx="438912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4</a:t>
            </a:r>
            <a:endParaRPr lang="en-US" sz="1800" dirty="0"/>
          </a:p>
        </p:txBody>
      </p:sp>
      <p:sp>
        <p:nvSpPr>
          <p:cNvPr id="17" name="Text 14"/>
          <p:cNvSpPr/>
          <p:nvPr/>
        </p:nvSpPr>
        <p:spPr>
          <a:xfrm>
            <a:off x="4066266" y="3337560"/>
            <a:ext cx="7939806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50" dirty="0">
                <a:solidFill>
                  <a:srgbClr val="1A1A1A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変わっていなければ → まだ未承認（オーナー様に確認）</a:t>
            </a:r>
            <a:endParaRPr lang="en-US" sz="1650" dirty="0"/>
          </a:p>
        </p:txBody>
      </p:sp>
      <p:sp>
        <p:nvSpPr>
          <p:cNvPr id="18" name="Text 15"/>
          <p:cNvSpPr/>
          <p:nvPr/>
        </p:nvSpPr>
        <p:spPr>
          <a:xfrm>
            <a:off x="3554202" y="3986784"/>
            <a:ext cx="849759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100" b="1" dirty="0">
                <a:solidFill>
                  <a:srgbClr val="1A237E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未承認だった場合</a:t>
            </a:r>
            <a:endParaRPr lang="en-US" sz="2100" dirty="0"/>
          </a:p>
        </p:txBody>
      </p:sp>
      <p:sp>
        <p:nvSpPr>
          <p:cNvPr id="19" name="Text 16"/>
          <p:cNvSpPr/>
          <p:nvPr/>
        </p:nvSpPr>
        <p:spPr>
          <a:xfrm>
            <a:off x="3554202" y="4535424"/>
            <a:ext cx="849759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A237E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▶ </a:t>
            </a:r>
            <a:r>
              <a:rPr lang="en-US" sz="1700" dirty="0">
                <a:solidFill>
                  <a:srgbClr val="1A1A1A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オーナー様に「勤怠管理の申請ボタンを見てください」と伝える</a:t>
            </a:r>
            <a:endParaRPr lang="en-US" sz="1700" dirty="0"/>
          </a:p>
        </p:txBody>
      </p:sp>
      <p:sp>
        <p:nvSpPr>
          <p:cNvPr id="20" name="Text 17"/>
          <p:cNvSpPr/>
          <p:nvPr/>
        </p:nvSpPr>
        <p:spPr>
          <a:xfrm>
            <a:off x="3554202" y="5010912"/>
            <a:ext cx="849759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A237E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▶ </a:t>
            </a:r>
            <a:r>
              <a:rPr lang="en-US" sz="1700" dirty="0">
                <a:solidFill>
                  <a:srgbClr val="1A1A1A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却下された場合は、内容を確認して再申請する</a:t>
            </a:r>
            <a:endParaRPr lang="en-US" sz="1700" dirty="0"/>
          </a:p>
        </p:txBody>
      </p:sp>
      <p:sp>
        <p:nvSpPr>
          <p:cNvPr id="21" name="Shape 18"/>
          <p:cNvSpPr/>
          <p:nvPr/>
        </p:nvSpPr>
        <p:spPr>
          <a:xfrm>
            <a:off x="3554202" y="5577840"/>
            <a:ext cx="8497590" cy="493776"/>
          </a:xfrm>
          <a:prstGeom prst="rect">
            <a:avLst/>
          </a:prstGeom>
          <a:solidFill>
            <a:srgbClr val="FFF8E1"/>
          </a:solidFill>
          <a:ln w="12700">
            <a:solidFill>
              <a:srgbClr val="F57F17"/>
            </a:solidFill>
            <a:prstDash val="solid"/>
          </a:ln>
        </p:spPr>
      </p:sp>
      <p:sp>
        <p:nvSpPr>
          <p:cNvPr id="22" name="Text 19"/>
          <p:cNvSpPr/>
          <p:nvPr/>
        </p:nvSpPr>
        <p:spPr>
          <a:xfrm>
            <a:off x="3663930" y="5577840"/>
            <a:ext cx="8332998" cy="4937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4E342E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⚠️ スタッフ側に承認通知は届きません。就労時間で必ず確認を</a:t>
            </a:r>
            <a:endParaRPr lang="en-US" sz="16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749808"/>
          </a:xfrm>
          <a:prstGeom prst="rect">
            <a:avLst/>
          </a:prstGeom>
          <a:solidFill>
            <a:srgbClr val="C62828"/>
          </a:solidFill>
          <a:ln/>
        </p:spPr>
      </p:sp>
      <p:sp>
        <p:nvSpPr>
          <p:cNvPr id="3" name="Text 1"/>
          <p:cNvSpPr/>
          <p:nvPr/>
        </p:nvSpPr>
        <p:spPr>
          <a:xfrm>
            <a:off x="228600" y="0"/>
            <a:ext cx="1188720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900" b="1" dirty="0">
                <a:solidFill>
                  <a:srgbClr val="FFFFFF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10.  オーナー様メニュー</a:t>
            </a:r>
            <a:endParaRPr lang="en-US" sz="2900" dirty="0"/>
          </a:p>
        </p:txBody>
      </p:sp>
      <p:sp>
        <p:nvSpPr>
          <p:cNvPr id="5" name="Text 2"/>
          <p:cNvSpPr/>
          <p:nvPr/>
        </p:nvSpPr>
        <p:spPr>
          <a:xfrm>
            <a:off x="3554202" y="804672"/>
            <a:ext cx="849759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100" b="1" dirty="0">
                <a:solidFill>
                  <a:srgbClr val="C62828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メニュー一覧</a:t>
            </a:r>
            <a:endParaRPr lang="en-US" sz="2100" dirty="0"/>
          </a:p>
        </p:txBody>
      </p:sp>
      <p:sp>
        <p:nvSpPr>
          <p:cNvPr id="6" name="Text 3"/>
          <p:cNvSpPr/>
          <p:nvPr/>
        </p:nvSpPr>
        <p:spPr>
          <a:xfrm>
            <a:off x="3554202" y="1353312"/>
            <a:ext cx="849759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C62828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▶ </a:t>
            </a:r>
            <a:r>
              <a:rPr lang="en-US" sz="1700" dirty="0">
                <a:solidFill>
                  <a:srgbClr val="1A1A1A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📅 シフト関連　→　シフトのサブメニューを開く</a:t>
            </a:r>
            <a:endParaRPr lang="en-US" sz="1700" dirty="0"/>
          </a:p>
        </p:txBody>
      </p:sp>
      <p:sp>
        <p:nvSpPr>
          <p:cNvPr id="7" name="Text 4"/>
          <p:cNvSpPr/>
          <p:nvPr/>
        </p:nvSpPr>
        <p:spPr>
          <a:xfrm>
            <a:off x="3737082" y="1828800"/>
            <a:ext cx="831471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50" dirty="0">
                <a:solidFill>
                  <a:srgbClr val="546E7A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　　シフト期限設定 / シフト作成 / シフト確認 / ヘルプ通知</a:t>
            </a:r>
            <a:endParaRPr lang="en-US" sz="1550" dirty="0"/>
          </a:p>
        </p:txBody>
      </p:sp>
      <p:sp>
        <p:nvSpPr>
          <p:cNvPr id="8" name="Text 5"/>
          <p:cNvSpPr/>
          <p:nvPr/>
        </p:nvSpPr>
        <p:spPr>
          <a:xfrm>
            <a:off x="3554202" y="2295144"/>
            <a:ext cx="849759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C62828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▶ </a:t>
            </a:r>
            <a:r>
              <a:rPr lang="en-US" sz="1700" dirty="0">
                <a:solidFill>
                  <a:srgbClr val="1A1A1A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勤怠管理　→　出退勤の確定・集計・承認</a:t>
            </a:r>
            <a:endParaRPr lang="en-US" sz="1700" dirty="0"/>
          </a:p>
        </p:txBody>
      </p:sp>
      <p:sp>
        <p:nvSpPr>
          <p:cNvPr id="9" name="Text 6"/>
          <p:cNvSpPr/>
          <p:nvPr/>
        </p:nvSpPr>
        <p:spPr>
          <a:xfrm>
            <a:off x="3554202" y="2770632"/>
            <a:ext cx="849759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C62828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▶ </a:t>
            </a:r>
            <a:r>
              <a:rPr lang="en-US" sz="1700" dirty="0">
                <a:solidFill>
                  <a:srgbClr val="1A1A1A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新人登録　→　スタッフの追加・削除・PW管理</a:t>
            </a:r>
            <a:endParaRPr lang="en-US" sz="1700" dirty="0"/>
          </a:p>
        </p:txBody>
      </p:sp>
      <p:sp>
        <p:nvSpPr>
          <p:cNvPr id="10" name="Text 7"/>
          <p:cNvSpPr/>
          <p:nvPr/>
        </p:nvSpPr>
        <p:spPr>
          <a:xfrm>
            <a:off x="3554202" y="3246120"/>
            <a:ext cx="849759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C62828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▶ </a:t>
            </a:r>
            <a:r>
              <a:rPr lang="en-US" sz="1700" dirty="0">
                <a:solidFill>
                  <a:srgbClr val="1A1A1A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お問い合わせ　→　質問・問題をフォームで送る</a:t>
            </a:r>
            <a:endParaRPr lang="en-US" sz="1700" dirty="0"/>
          </a:p>
        </p:txBody>
      </p:sp>
      <p:sp>
        <p:nvSpPr>
          <p:cNvPr id="11" name="Shape 8"/>
          <p:cNvSpPr/>
          <p:nvPr/>
        </p:nvSpPr>
        <p:spPr>
          <a:xfrm>
            <a:off x="3554202" y="3904488"/>
            <a:ext cx="8497590" cy="493776"/>
          </a:xfrm>
          <a:prstGeom prst="rect">
            <a:avLst/>
          </a:prstGeom>
          <a:solidFill>
            <a:srgbClr val="E8F0FE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3663930" y="3904488"/>
            <a:ext cx="8332998" cy="4937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1A1A1A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💡 使用後は必ずログアウトして不正アクセスを防いでください</a:t>
            </a:r>
            <a:endParaRPr lang="en-US" sz="1600" dirty="0"/>
          </a:p>
        </p:txBody>
      </p:sp>
      <p:pic>
        <p:nvPicPr>
          <p:cNvPr id="14" name="図 13">
            <a:extLst>
              <a:ext uri="{FF2B5EF4-FFF2-40B4-BE49-F238E27FC236}">
                <a16:creationId xmlns:a16="http://schemas.microsoft.com/office/drawing/2014/main" id="{27DE585B-F76C-3E58-E0A9-767B94C7CE2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1730" y="973557"/>
            <a:ext cx="3632200" cy="5349800"/>
          </a:xfrm>
          <a:prstGeom prst="rect">
            <a:avLst/>
          </a:prstGeom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749808"/>
          </a:xfrm>
          <a:prstGeom prst="rect">
            <a:avLst/>
          </a:prstGeom>
          <a:solidFill>
            <a:srgbClr val="4527A0"/>
          </a:solidFill>
          <a:ln/>
        </p:spPr>
      </p:sp>
      <p:sp>
        <p:nvSpPr>
          <p:cNvPr id="3" name="Text 1"/>
          <p:cNvSpPr/>
          <p:nvPr/>
        </p:nvSpPr>
        <p:spPr>
          <a:xfrm>
            <a:off x="228600" y="0"/>
            <a:ext cx="1188720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900" b="1" dirty="0">
                <a:solidFill>
                  <a:srgbClr val="FFFFFF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11.  シフト作成（オーナー様）</a:t>
            </a:r>
            <a:endParaRPr lang="en-US" sz="2900" dirty="0"/>
          </a:p>
        </p:txBody>
      </p:sp>
      <p:pic>
        <p:nvPicPr>
          <p:cNvPr id="4" name="Image 0" descr="C:\Users\kouki\my-app\screenshots\19_manager_create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164592" y="758952"/>
            <a:ext cx="3225018" cy="598932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3554202" y="804672"/>
            <a:ext cx="849759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100" b="1" dirty="0">
                <a:solidFill>
                  <a:srgbClr val="4527A0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シフト作成の流れ</a:t>
            </a:r>
            <a:endParaRPr lang="en-US" sz="2100" dirty="0"/>
          </a:p>
        </p:txBody>
      </p:sp>
      <p:sp>
        <p:nvSpPr>
          <p:cNvPr id="6" name="Shape 3"/>
          <p:cNvSpPr/>
          <p:nvPr/>
        </p:nvSpPr>
        <p:spPr>
          <a:xfrm>
            <a:off x="3554202" y="1353312"/>
            <a:ext cx="438912" cy="438912"/>
          </a:xfrm>
          <a:prstGeom prst="rect">
            <a:avLst/>
          </a:prstGeom>
          <a:solidFill>
            <a:srgbClr val="4527A0"/>
          </a:solidFill>
          <a:ln/>
        </p:spPr>
      </p:sp>
      <p:sp>
        <p:nvSpPr>
          <p:cNvPr id="7" name="Text 4"/>
          <p:cNvSpPr/>
          <p:nvPr/>
        </p:nvSpPr>
        <p:spPr>
          <a:xfrm>
            <a:off x="3554202" y="1353312"/>
            <a:ext cx="438912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1</a:t>
            </a:r>
            <a:endParaRPr lang="en-US" sz="1800" dirty="0"/>
          </a:p>
        </p:txBody>
      </p:sp>
      <p:sp>
        <p:nvSpPr>
          <p:cNvPr id="8" name="Text 5"/>
          <p:cNvSpPr/>
          <p:nvPr/>
        </p:nvSpPr>
        <p:spPr>
          <a:xfrm>
            <a:off x="4066266" y="1353312"/>
            <a:ext cx="7939806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50" dirty="0">
                <a:solidFill>
                  <a:srgbClr val="1A1A1A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「候補」または手動で開始日・終了日を設定</a:t>
            </a:r>
            <a:endParaRPr lang="en-US" sz="1650" dirty="0"/>
          </a:p>
        </p:txBody>
      </p:sp>
      <p:sp>
        <p:nvSpPr>
          <p:cNvPr id="9" name="Shape 6"/>
          <p:cNvSpPr/>
          <p:nvPr/>
        </p:nvSpPr>
        <p:spPr>
          <a:xfrm>
            <a:off x="3554202" y="2002536"/>
            <a:ext cx="438912" cy="438912"/>
          </a:xfrm>
          <a:prstGeom prst="rect">
            <a:avLst/>
          </a:prstGeom>
          <a:solidFill>
            <a:srgbClr val="4527A0"/>
          </a:solidFill>
          <a:ln/>
        </p:spPr>
      </p:sp>
      <p:sp>
        <p:nvSpPr>
          <p:cNvPr id="10" name="Text 7"/>
          <p:cNvSpPr/>
          <p:nvPr/>
        </p:nvSpPr>
        <p:spPr>
          <a:xfrm>
            <a:off x="3554202" y="2002536"/>
            <a:ext cx="438912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2</a:t>
            </a:r>
            <a:endParaRPr lang="en-US" sz="1800" dirty="0"/>
          </a:p>
        </p:txBody>
      </p:sp>
      <p:sp>
        <p:nvSpPr>
          <p:cNvPr id="11" name="Text 8"/>
          <p:cNvSpPr/>
          <p:nvPr/>
        </p:nvSpPr>
        <p:spPr>
          <a:xfrm>
            <a:off x="4066266" y="2002536"/>
            <a:ext cx="7939806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50" dirty="0">
                <a:solidFill>
                  <a:srgbClr val="1A1A1A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「次へ」をタップするとスタッフの希望が自動表示</a:t>
            </a:r>
            <a:endParaRPr lang="en-US" sz="1650" dirty="0"/>
          </a:p>
        </p:txBody>
      </p:sp>
      <p:sp>
        <p:nvSpPr>
          <p:cNvPr id="12" name="Shape 9"/>
          <p:cNvSpPr/>
          <p:nvPr/>
        </p:nvSpPr>
        <p:spPr>
          <a:xfrm>
            <a:off x="3554202" y="2651760"/>
            <a:ext cx="438912" cy="438912"/>
          </a:xfrm>
          <a:prstGeom prst="rect">
            <a:avLst/>
          </a:prstGeom>
          <a:solidFill>
            <a:srgbClr val="4527A0"/>
          </a:solidFill>
          <a:ln/>
        </p:spPr>
      </p:sp>
      <p:sp>
        <p:nvSpPr>
          <p:cNvPr id="13" name="Text 10"/>
          <p:cNvSpPr/>
          <p:nvPr/>
        </p:nvSpPr>
        <p:spPr>
          <a:xfrm>
            <a:off x="3554202" y="2651760"/>
            <a:ext cx="438912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3</a:t>
            </a:r>
            <a:endParaRPr lang="en-US" sz="1800" dirty="0"/>
          </a:p>
        </p:txBody>
      </p:sp>
      <p:sp>
        <p:nvSpPr>
          <p:cNvPr id="14" name="Text 11"/>
          <p:cNvSpPr/>
          <p:nvPr/>
        </p:nvSpPr>
        <p:spPr>
          <a:xfrm>
            <a:off x="4066266" y="2651760"/>
            <a:ext cx="7939806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50" dirty="0">
                <a:solidFill>
                  <a:srgbClr val="1A1A1A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セルをタップして勤務時間・店舗・役割を設定</a:t>
            </a:r>
            <a:endParaRPr lang="en-US" sz="1650" dirty="0"/>
          </a:p>
        </p:txBody>
      </p:sp>
      <p:sp>
        <p:nvSpPr>
          <p:cNvPr id="15" name="Shape 12"/>
          <p:cNvSpPr/>
          <p:nvPr/>
        </p:nvSpPr>
        <p:spPr>
          <a:xfrm>
            <a:off x="3554202" y="3300984"/>
            <a:ext cx="438912" cy="438912"/>
          </a:xfrm>
          <a:prstGeom prst="rect">
            <a:avLst/>
          </a:prstGeom>
          <a:solidFill>
            <a:srgbClr val="4527A0"/>
          </a:solidFill>
          <a:ln/>
        </p:spPr>
      </p:sp>
      <p:sp>
        <p:nvSpPr>
          <p:cNvPr id="16" name="Text 13"/>
          <p:cNvSpPr/>
          <p:nvPr/>
        </p:nvSpPr>
        <p:spPr>
          <a:xfrm>
            <a:off x="3554202" y="3300984"/>
            <a:ext cx="438912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4</a:t>
            </a:r>
            <a:endParaRPr lang="en-US" sz="1800" dirty="0"/>
          </a:p>
        </p:txBody>
      </p:sp>
      <p:sp>
        <p:nvSpPr>
          <p:cNvPr id="17" name="Text 14"/>
          <p:cNvSpPr/>
          <p:nvPr/>
        </p:nvSpPr>
        <p:spPr>
          <a:xfrm>
            <a:off x="4066266" y="3300984"/>
            <a:ext cx="7939806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50" dirty="0">
                <a:solidFill>
                  <a:srgbClr val="1A1A1A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募集行（追加スタッフ）の人数も設定可能</a:t>
            </a:r>
            <a:endParaRPr lang="en-US" sz="1650" dirty="0"/>
          </a:p>
        </p:txBody>
      </p:sp>
      <p:sp>
        <p:nvSpPr>
          <p:cNvPr id="18" name="Shape 15"/>
          <p:cNvSpPr/>
          <p:nvPr/>
        </p:nvSpPr>
        <p:spPr>
          <a:xfrm>
            <a:off x="3554202" y="3950208"/>
            <a:ext cx="438912" cy="438912"/>
          </a:xfrm>
          <a:prstGeom prst="rect">
            <a:avLst/>
          </a:prstGeom>
          <a:solidFill>
            <a:srgbClr val="4527A0"/>
          </a:solidFill>
          <a:ln/>
        </p:spPr>
      </p:sp>
      <p:sp>
        <p:nvSpPr>
          <p:cNvPr id="19" name="Text 16"/>
          <p:cNvSpPr/>
          <p:nvPr/>
        </p:nvSpPr>
        <p:spPr>
          <a:xfrm>
            <a:off x="3554202" y="3950208"/>
            <a:ext cx="438912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5</a:t>
            </a:r>
            <a:endParaRPr lang="en-US" sz="1800" dirty="0"/>
          </a:p>
        </p:txBody>
      </p:sp>
      <p:sp>
        <p:nvSpPr>
          <p:cNvPr id="20" name="Text 17"/>
          <p:cNvSpPr/>
          <p:nvPr/>
        </p:nvSpPr>
        <p:spPr>
          <a:xfrm>
            <a:off x="4066266" y="3950208"/>
            <a:ext cx="7939806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50" dirty="0">
                <a:solidFill>
                  <a:srgbClr val="1A1A1A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「確定・保存」でシフトを確定する</a:t>
            </a:r>
            <a:endParaRPr lang="en-US" sz="1650" dirty="0"/>
          </a:p>
        </p:txBody>
      </p:sp>
      <p:sp>
        <p:nvSpPr>
          <p:cNvPr id="21" name="Shape 18"/>
          <p:cNvSpPr/>
          <p:nvPr/>
        </p:nvSpPr>
        <p:spPr>
          <a:xfrm>
            <a:off x="3554202" y="4599432"/>
            <a:ext cx="8497590" cy="493776"/>
          </a:xfrm>
          <a:prstGeom prst="rect">
            <a:avLst/>
          </a:prstGeom>
          <a:solidFill>
            <a:srgbClr val="E8F0FE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22" name="Text 19"/>
          <p:cNvSpPr/>
          <p:nvPr/>
        </p:nvSpPr>
        <p:spPr>
          <a:xfrm>
            <a:off x="3663930" y="4599432"/>
            <a:ext cx="8332998" cy="4937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1A1A1A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💡 スタッフ希望が自動反映されるため効率的に作成できます</a:t>
            </a:r>
            <a:endParaRPr lang="en-US" sz="1600" dirty="0"/>
          </a:p>
        </p:txBody>
      </p:sp>
      <p:sp>
        <p:nvSpPr>
          <p:cNvPr id="23" name="Shape 20"/>
          <p:cNvSpPr/>
          <p:nvPr/>
        </p:nvSpPr>
        <p:spPr>
          <a:xfrm>
            <a:off x="3554202" y="5303520"/>
            <a:ext cx="8497590" cy="493776"/>
          </a:xfrm>
          <a:prstGeom prst="rect">
            <a:avLst/>
          </a:prstGeom>
          <a:solidFill>
            <a:srgbClr val="FFF8E1"/>
          </a:solidFill>
          <a:ln w="12700">
            <a:solidFill>
              <a:srgbClr val="F57F17"/>
            </a:solidFill>
            <a:prstDash val="solid"/>
          </a:ln>
        </p:spPr>
      </p:sp>
      <p:sp>
        <p:nvSpPr>
          <p:cNvPr id="24" name="Text 21"/>
          <p:cNvSpPr/>
          <p:nvPr/>
        </p:nvSpPr>
        <p:spPr>
          <a:xfrm>
            <a:off x="3663930" y="5303520"/>
            <a:ext cx="8332998" cy="4937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4E342E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⚠️ シフト確定後はスタッフ側の「シフト確認」に表示されます</a:t>
            </a:r>
            <a:endParaRPr lang="en-US" sz="16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749808"/>
          </a:xfrm>
          <a:prstGeom prst="rect">
            <a:avLst/>
          </a:prstGeom>
          <a:solidFill>
            <a:srgbClr val="00695C"/>
          </a:solidFill>
          <a:ln/>
        </p:spPr>
      </p:sp>
      <p:sp>
        <p:nvSpPr>
          <p:cNvPr id="3" name="Text 1"/>
          <p:cNvSpPr/>
          <p:nvPr/>
        </p:nvSpPr>
        <p:spPr>
          <a:xfrm>
            <a:off x="228600" y="0"/>
            <a:ext cx="1188720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900" b="1" dirty="0">
                <a:solidFill>
                  <a:srgbClr val="FFFFFF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12.  シフト確認（オーナー様）</a:t>
            </a:r>
            <a:endParaRPr lang="en-US" sz="2900" dirty="0"/>
          </a:p>
        </p:txBody>
      </p:sp>
      <p:pic>
        <p:nvPicPr>
          <p:cNvPr id="4" name="Image 0" descr="C:\Users\kouki\my-app\screenshots\21_manager_shift_view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164592" y="758952"/>
            <a:ext cx="3225018" cy="598932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3554202" y="804672"/>
            <a:ext cx="849759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100" b="1" dirty="0">
                <a:solidFill>
                  <a:srgbClr val="00695C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確認・編集できること</a:t>
            </a:r>
            <a:endParaRPr lang="en-US" sz="2100" dirty="0"/>
          </a:p>
        </p:txBody>
      </p:sp>
      <p:sp>
        <p:nvSpPr>
          <p:cNvPr id="6" name="Text 3"/>
          <p:cNvSpPr/>
          <p:nvPr/>
        </p:nvSpPr>
        <p:spPr>
          <a:xfrm>
            <a:off x="3554202" y="1353312"/>
            <a:ext cx="849759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00695C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▶ </a:t>
            </a:r>
            <a:r>
              <a:rPr lang="en-US" sz="1700" dirty="0">
                <a:solidFill>
                  <a:srgbClr val="1A1A1A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カレンダーで日付を選んでシフト表を表示</a:t>
            </a:r>
            <a:endParaRPr lang="en-US" sz="1700" dirty="0"/>
          </a:p>
        </p:txBody>
      </p:sp>
      <p:sp>
        <p:nvSpPr>
          <p:cNvPr id="7" name="Text 4"/>
          <p:cNvSpPr/>
          <p:nvPr/>
        </p:nvSpPr>
        <p:spPr>
          <a:xfrm>
            <a:off x="3554202" y="1828800"/>
            <a:ext cx="849759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00695C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▶ </a:t>
            </a:r>
            <a:r>
              <a:rPr lang="en-US" sz="1700" dirty="0">
                <a:solidFill>
                  <a:srgbClr val="1A1A1A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タイムラインビューで勤務時間帯を可視化</a:t>
            </a:r>
            <a:endParaRPr lang="en-US" sz="1700" dirty="0"/>
          </a:p>
        </p:txBody>
      </p:sp>
      <p:sp>
        <p:nvSpPr>
          <p:cNvPr id="8" name="Text 5"/>
          <p:cNvSpPr/>
          <p:nvPr/>
        </p:nvSpPr>
        <p:spPr>
          <a:xfrm>
            <a:off x="3554202" y="2304288"/>
            <a:ext cx="849759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00695C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▶ </a:t>
            </a:r>
            <a:r>
              <a:rPr lang="en-US" sz="1700" dirty="0">
                <a:solidFill>
                  <a:srgbClr val="1A1A1A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リストビューでスタッフ×時間を一覧表示</a:t>
            </a:r>
            <a:endParaRPr lang="en-US" sz="1700" dirty="0"/>
          </a:p>
        </p:txBody>
      </p:sp>
      <p:sp>
        <p:nvSpPr>
          <p:cNvPr id="9" name="Text 6"/>
          <p:cNvSpPr/>
          <p:nvPr/>
        </p:nvSpPr>
        <p:spPr>
          <a:xfrm>
            <a:off x="3554202" y="2779776"/>
            <a:ext cx="849759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00695C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▶ </a:t>
            </a:r>
            <a:r>
              <a:rPr lang="en-US" sz="1700" dirty="0">
                <a:solidFill>
                  <a:srgbClr val="1A1A1A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編集モードでセルをタップして直接修正可能</a:t>
            </a:r>
            <a:endParaRPr lang="en-US" sz="1700" dirty="0"/>
          </a:p>
        </p:txBody>
      </p:sp>
      <p:sp>
        <p:nvSpPr>
          <p:cNvPr id="10" name="Text 7"/>
          <p:cNvSpPr/>
          <p:nvPr/>
        </p:nvSpPr>
        <p:spPr>
          <a:xfrm>
            <a:off x="3554202" y="3255264"/>
            <a:ext cx="849759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00695C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▶ </a:t>
            </a:r>
            <a:r>
              <a:rPr lang="en-US" sz="1700" dirty="0">
                <a:solidFill>
                  <a:srgbClr val="1A1A1A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募集行（空きシフト）の表示・編集</a:t>
            </a:r>
            <a:endParaRPr lang="en-US" sz="1700" dirty="0"/>
          </a:p>
        </p:txBody>
      </p:sp>
      <p:sp>
        <p:nvSpPr>
          <p:cNvPr id="11" name="Text 8"/>
          <p:cNvSpPr/>
          <p:nvPr/>
        </p:nvSpPr>
        <p:spPr>
          <a:xfrm>
            <a:off x="3554202" y="3913632"/>
            <a:ext cx="849759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100" b="1" dirty="0">
                <a:solidFill>
                  <a:srgbClr val="00695C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表示の切り替え</a:t>
            </a:r>
            <a:endParaRPr lang="en-US" sz="2100" dirty="0"/>
          </a:p>
        </p:txBody>
      </p:sp>
      <p:sp>
        <p:nvSpPr>
          <p:cNvPr id="12" name="Shape 9"/>
          <p:cNvSpPr/>
          <p:nvPr/>
        </p:nvSpPr>
        <p:spPr>
          <a:xfrm>
            <a:off x="3554202" y="4462272"/>
            <a:ext cx="438912" cy="438912"/>
          </a:xfrm>
          <a:prstGeom prst="rect">
            <a:avLst/>
          </a:prstGeom>
          <a:solidFill>
            <a:srgbClr val="00695C"/>
          </a:solidFill>
          <a:ln/>
        </p:spPr>
      </p:sp>
      <p:sp>
        <p:nvSpPr>
          <p:cNvPr id="13" name="Text 10"/>
          <p:cNvSpPr/>
          <p:nvPr/>
        </p:nvSpPr>
        <p:spPr>
          <a:xfrm>
            <a:off x="3554202" y="4462272"/>
            <a:ext cx="438912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1</a:t>
            </a:r>
            <a:endParaRPr lang="en-US" sz="1800" dirty="0"/>
          </a:p>
        </p:txBody>
      </p:sp>
      <p:sp>
        <p:nvSpPr>
          <p:cNvPr id="14" name="Text 11"/>
          <p:cNvSpPr/>
          <p:nvPr/>
        </p:nvSpPr>
        <p:spPr>
          <a:xfrm>
            <a:off x="4066266" y="4462272"/>
            <a:ext cx="7939806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50" dirty="0">
                <a:solidFill>
                  <a:srgbClr val="1A1A1A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「◀ / ▶」で月を切り替える</a:t>
            </a:r>
            <a:endParaRPr lang="en-US" sz="1650" dirty="0"/>
          </a:p>
        </p:txBody>
      </p:sp>
      <p:sp>
        <p:nvSpPr>
          <p:cNvPr id="15" name="Shape 12"/>
          <p:cNvSpPr/>
          <p:nvPr/>
        </p:nvSpPr>
        <p:spPr>
          <a:xfrm>
            <a:off x="3554202" y="5111496"/>
            <a:ext cx="438912" cy="438912"/>
          </a:xfrm>
          <a:prstGeom prst="rect">
            <a:avLst/>
          </a:prstGeom>
          <a:solidFill>
            <a:srgbClr val="00695C"/>
          </a:solidFill>
          <a:ln/>
        </p:spPr>
      </p:sp>
      <p:sp>
        <p:nvSpPr>
          <p:cNvPr id="16" name="Text 13"/>
          <p:cNvSpPr/>
          <p:nvPr/>
        </p:nvSpPr>
        <p:spPr>
          <a:xfrm>
            <a:off x="3554202" y="5111496"/>
            <a:ext cx="438912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2</a:t>
            </a:r>
            <a:endParaRPr lang="en-US" sz="1800" dirty="0"/>
          </a:p>
        </p:txBody>
      </p:sp>
      <p:sp>
        <p:nvSpPr>
          <p:cNvPr id="17" name="Text 14"/>
          <p:cNvSpPr/>
          <p:nvPr/>
        </p:nvSpPr>
        <p:spPr>
          <a:xfrm>
            <a:off x="4066266" y="5111496"/>
            <a:ext cx="7939806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50" dirty="0">
                <a:solidFill>
                  <a:srgbClr val="1A1A1A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日付をタップしてその日のシフトを表示</a:t>
            </a:r>
            <a:endParaRPr lang="en-US" sz="1650" dirty="0"/>
          </a:p>
        </p:txBody>
      </p:sp>
      <p:sp>
        <p:nvSpPr>
          <p:cNvPr id="18" name="Shape 15"/>
          <p:cNvSpPr/>
          <p:nvPr/>
        </p:nvSpPr>
        <p:spPr>
          <a:xfrm>
            <a:off x="3554202" y="5760720"/>
            <a:ext cx="438912" cy="438912"/>
          </a:xfrm>
          <a:prstGeom prst="rect">
            <a:avLst/>
          </a:prstGeom>
          <a:solidFill>
            <a:srgbClr val="00695C"/>
          </a:solidFill>
          <a:ln/>
        </p:spPr>
      </p:sp>
      <p:sp>
        <p:nvSpPr>
          <p:cNvPr id="19" name="Text 16"/>
          <p:cNvSpPr/>
          <p:nvPr/>
        </p:nvSpPr>
        <p:spPr>
          <a:xfrm>
            <a:off x="3554202" y="5760720"/>
            <a:ext cx="438912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3</a:t>
            </a:r>
            <a:endParaRPr lang="en-US" sz="1800" dirty="0"/>
          </a:p>
        </p:txBody>
      </p:sp>
      <p:sp>
        <p:nvSpPr>
          <p:cNvPr id="20" name="Text 17"/>
          <p:cNvSpPr/>
          <p:nvPr/>
        </p:nvSpPr>
        <p:spPr>
          <a:xfrm>
            <a:off x="4066266" y="5760720"/>
            <a:ext cx="7939806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50" dirty="0">
                <a:solidFill>
                  <a:srgbClr val="1A1A1A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「リスト」「タイムライン」で表示切替</a:t>
            </a:r>
            <a:endParaRPr lang="en-US" sz="165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749808"/>
          </a:xfrm>
          <a:prstGeom prst="rect">
            <a:avLst/>
          </a:prstGeom>
          <a:solidFill>
            <a:srgbClr val="BF360C"/>
          </a:solidFill>
          <a:ln/>
        </p:spPr>
      </p:sp>
      <p:sp>
        <p:nvSpPr>
          <p:cNvPr id="3" name="Text 1"/>
          <p:cNvSpPr/>
          <p:nvPr/>
        </p:nvSpPr>
        <p:spPr>
          <a:xfrm>
            <a:off x="228600" y="0"/>
            <a:ext cx="1188720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900" b="1" dirty="0">
                <a:solidFill>
                  <a:srgbClr val="FFFFFF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13.  勤怠管理（オーナー様）①　勤怠確定</a:t>
            </a:r>
            <a:endParaRPr lang="en-US" sz="2900" dirty="0"/>
          </a:p>
        </p:txBody>
      </p:sp>
      <p:pic>
        <p:nvPicPr>
          <p:cNvPr id="4" name="Image 0" descr="C:\Users\kouki\my-app\screenshots\22_manager_attendance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164592" y="758952"/>
            <a:ext cx="3225018" cy="598932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3554202" y="804672"/>
            <a:ext cx="849759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100" b="1" dirty="0">
                <a:solidFill>
                  <a:srgbClr val="BF360C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カレンダー画面の色の意味</a:t>
            </a:r>
            <a:endParaRPr lang="en-US" sz="2100" dirty="0"/>
          </a:p>
        </p:txBody>
      </p:sp>
      <p:sp>
        <p:nvSpPr>
          <p:cNvPr id="6" name="Text 3"/>
          <p:cNvSpPr/>
          <p:nvPr/>
        </p:nvSpPr>
        <p:spPr>
          <a:xfrm>
            <a:off x="3554202" y="1353312"/>
            <a:ext cx="849759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BF360C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▶ </a:t>
            </a:r>
            <a:r>
              <a:rPr lang="en-US" sz="1700" dirty="0">
                <a:solidFill>
                  <a:srgbClr val="1A1A1A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🟩 薄緑　：確定済みの日</a:t>
            </a:r>
            <a:endParaRPr lang="en-US" sz="1700" dirty="0"/>
          </a:p>
        </p:txBody>
      </p:sp>
      <p:sp>
        <p:nvSpPr>
          <p:cNvPr id="7" name="Text 4"/>
          <p:cNvSpPr/>
          <p:nvPr/>
        </p:nvSpPr>
        <p:spPr>
          <a:xfrm>
            <a:off x="3554202" y="1828800"/>
            <a:ext cx="849759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BF360C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▶ </a:t>
            </a:r>
            <a:r>
              <a:rPr lang="en-US" sz="1700" dirty="0">
                <a:solidFill>
                  <a:srgbClr val="1A1A1A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🟪 紫　　：シフト＋勤怠あり（未確定）</a:t>
            </a:r>
            <a:endParaRPr lang="en-US" sz="1700" dirty="0"/>
          </a:p>
        </p:txBody>
      </p:sp>
      <p:sp>
        <p:nvSpPr>
          <p:cNvPr id="8" name="Text 5"/>
          <p:cNvSpPr/>
          <p:nvPr/>
        </p:nvSpPr>
        <p:spPr>
          <a:xfrm>
            <a:off x="3554202" y="2304288"/>
            <a:ext cx="849759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BF360C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▶ </a:t>
            </a:r>
            <a:r>
              <a:rPr lang="en-US" sz="1700" dirty="0">
                <a:solidFill>
                  <a:srgbClr val="1A1A1A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🟦 薄青　：シフトのみ（勤怠なし）</a:t>
            </a:r>
            <a:endParaRPr lang="en-US" sz="1700" dirty="0"/>
          </a:p>
        </p:txBody>
      </p:sp>
      <p:sp>
        <p:nvSpPr>
          <p:cNvPr id="9" name="Text 6"/>
          <p:cNvSpPr/>
          <p:nvPr/>
        </p:nvSpPr>
        <p:spPr>
          <a:xfrm>
            <a:off x="3554202" y="2779776"/>
            <a:ext cx="849759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BF360C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▶ </a:t>
            </a:r>
            <a:r>
              <a:rPr lang="en-US" sz="1700" dirty="0">
                <a:solidFill>
                  <a:srgbClr val="1A1A1A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🟥 薄赤　：勤怠のみ（シフトなし）</a:t>
            </a:r>
            <a:endParaRPr lang="en-US" sz="1700" dirty="0"/>
          </a:p>
        </p:txBody>
      </p:sp>
      <p:sp>
        <p:nvSpPr>
          <p:cNvPr id="10" name="Text 7"/>
          <p:cNvSpPr/>
          <p:nvPr/>
        </p:nvSpPr>
        <p:spPr>
          <a:xfrm>
            <a:off x="3554202" y="3392424"/>
            <a:ext cx="849759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100" b="1" dirty="0">
                <a:solidFill>
                  <a:srgbClr val="BF360C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勤怠確定の手順</a:t>
            </a:r>
            <a:endParaRPr lang="en-US" sz="2100" dirty="0"/>
          </a:p>
        </p:txBody>
      </p:sp>
      <p:sp>
        <p:nvSpPr>
          <p:cNvPr id="11" name="Shape 8"/>
          <p:cNvSpPr/>
          <p:nvPr/>
        </p:nvSpPr>
        <p:spPr>
          <a:xfrm>
            <a:off x="3554202" y="3941064"/>
            <a:ext cx="438912" cy="438912"/>
          </a:xfrm>
          <a:prstGeom prst="rect">
            <a:avLst/>
          </a:prstGeom>
          <a:solidFill>
            <a:srgbClr val="BF360C"/>
          </a:solidFill>
          <a:ln/>
        </p:spPr>
      </p:sp>
      <p:sp>
        <p:nvSpPr>
          <p:cNvPr id="12" name="Text 9"/>
          <p:cNvSpPr/>
          <p:nvPr/>
        </p:nvSpPr>
        <p:spPr>
          <a:xfrm>
            <a:off x="3554202" y="3941064"/>
            <a:ext cx="438912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1</a:t>
            </a:r>
            <a:endParaRPr lang="en-US" sz="1800" dirty="0"/>
          </a:p>
        </p:txBody>
      </p:sp>
      <p:sp>
        <p:nvSpPr>
          <p:cNvPr id="13" name="Text 10"/>
          <p:cNvSpPr/>
          <p:nvPr/>
        </p:nvSpPr>
        <p:spPr>
          <a:xfrm>
            <a:off x="4066266" y="3941064"/>
            <a:ext cx="7939806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50" dirty="0">
                <a:solidFill>
                  <a:srgbClr val="1A1A1A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カレンダーから確定したい日付をタップ</a:t>
            </a:r>
            <a:endParaRPr lang="en-US" sz="1650" dirty="0"/>
          </a:p>
        </p:txBody>
      </p:sp>
      <p:sp>
        <p:nvSpPr>
          <p:cNvPr id="14" name="Shape 11"/>
          <p:cNvSpPr/>
          <p:nvPr/>
        </p:nvSpPr>
        <p:spPr>
          <a:xfrm>
            <a:off x="3554202" y="4590288"/>
            <a:ext cx="438912" cy="438912"/>
          </a:xfrm>
          <a:prstGeom prst="rect">
            <a:avLst/>
          </a:prstGeom>
          <a:solidFill>
            <a:srgbClr val="BF360C"/>
          </a:solidFill>
          <a:ln/>
        </p:spPr>
      </p:sp>
      <p:sp>
        <p:nvSpPr>
          <p:cNvPr id="15" name="Text 12"/>
          <p:cNvSpPr/>
          <p:nvPr/>
        </p:nvSpPr>
        <p:spPr>
          <a:xfrm>
            <a:off x="3554202" y="4590288"/>
            <a:ext cx="438912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2</a:t>
            </a:r>
            <a:endParaRPr lang="en-US" sz="1800" dirty="0"/>
          </a:p>
        </p:txBody>
      </p:sp>
      <p:sp>
        <p:nvSpPr>
          <p:cNvPr id="16" name="Text 13"/>
          <p:cNvSpPr/>
          <p:nvPr/>
        </p:nvSpPr>
        <p:spPr>
          <a:xfrm>
            <a:off x="4066266" y="4590288"/>
            <a:ext cx="7939806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50" dirty="0">
                <a:solidFill>
                  <a:srgbClr val="1A1A1A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スタッフごとの出退勤時間を確認・修正</a:t>
            </a:r>
            <a:endParaRPr lang="en-US" sz="1650" dirty="0"/>
          </a:p>
        </p:txBody>
      </p:sp>
      <p:sp>
        <p:nvSpPr>
          <p:cNvPr id="17" name="Shape 14"/>
          <p:cNvSpPr/>
          <p:nvPr/>
        </p:nvSpPr>
        <p:spPr>
          <a:xfrm>
            <a:off x="3554202" y="5239512"/>
            <a:ext cx="438912" cy="438912"/>
          </a:xfrm>
          <a:prstGeom prst="rect">
            <a:avLst/>
          </a:prstGeom>
          <a:solidFill>
            <a:srgbClr val="BF360C"/>
          </a:solidFill>
          <a:ln/>
        </p:spPr>
      </p:sp>
      <p:sp>
        <p:nvSpPr>
          <p:cNvPr id="18" name="Text 15"/>
          <p:cNvSpPr/>
          <p:nvPr/>
        </p:nvSpPr>
        <p:spPr>
          <a:xfrm>
            <a:off x="3554202" y="5239512"/>
            <a:ext cx="438912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3</a:t>
            </a:r>
            <a:endParaRPr lang="en-US" sz="1800" dirty="0"/>
          </a:p>
        </p:txBody>
      </p:sp>
      <p:sp>
        <p:nvSpPr>
          <p:cNvPr id="19" name="Text 16"/>
          <p:cNvSpPr/>
          <p:nvPr/>
        </p:nvSpPr>
        <p:spPr>
          <a:xfrm>
            <a:off x="4066266" y="5239512"/>
            <a:ext cx="7939806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50" dirty="0">
                <a:solidFill>
                  <a:srgbClr val="1A1A1A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「確定」ボタンをタップして確定する</a:t>
            </a:r>
            <a:endParaRPr lang="en-US" sz="1650" dirty="0"/>
          </a:p>
        </p:txBody>
      </p:sp>
      <p:sp>
        <p:nvSpPr>
          <p:cNvPr id="20" name="Shape 17"/>
          <p:cNvSpPr/>
          <p:nvPr/>
        </p:nvSpPr>
        <p:spPr>
          <a:xfrm>
            <a:off x="3554202" y="5843016"/>
            <a:ext cx="8497590" cy="493776"/>
          </a:xfrm>
          <a:prstGeom prst="rect">
            <a:avLst/>
          </a:prstGeom>
          <a:solidFill>
            <a:srgbClr val="FFF8E1"/>
          </a:solidFill>
          <a:ln w="12700">
            <a:solidFill>
              <a:srgbClr val="F57F17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3663930" y="5843016"/>
            <a:ext cx="8332998" cy="4937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4E342E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⚠️ 「確定」しないと就労時間・集計に反映されません</a:t>
            </a:r>
            <a:endParaRPr lang="en-US" sz="16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749808"/>
          </a:xfrm>
          <a:prstGeom prst="rect">
            <a:avLst/>
          </a:prstGeom>
          <a:solidFill>
            <a:srgbClr val="AD1457"/>
          </a:solidFill>
          <a:ln/>
        </p:spPr>
      </p:sp>
      <p:sp>
        <p:nvSpPr>
          <p:cNvPr id="3" name="Text 1"/>
          <p:cNvSpPr/>
          <p:nvPr/>
        </p:nvSpPr>
        <p:spPr>
          <a:xfrm>
            <a:off x="228600" y="0"/>
            <a:ext cx="1188720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900" b="1" dirty="0">
                <a:solidFill>
                  <a:srgbClr val="FFFFFF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13.  勤怠管理（オーナー様）②　修正申請の承認方法</a:t>
            </a:r>
            <a:endParaRPr lang="en-US" sz="2900" dirty="0"/>
          </a:p>
        </p:txBody>
      </p:sp>
      <p:pic>
        <p:nvPicPr>
          <p:cNvPr id="4" name="Image 0" descr="C:\Users\kouki\my-app\screenshots\22b_manager_approval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164592" y="758952"/>
            <a:ext cx="3225018" cy="598932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3554202" y="804672"/>
            <a:ext cx="849759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100" b="1" dirty="0">
                <a:solidFill>
                  <a:srgbClr val="AD1457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申請の確認方法</a:t>
            </a:r>
            <a:endParaRPr lang="en-US" sz="2100" dirty="0"/>
          </a:p>
        </p:txBody>
      </p:sp>
      <p:sp>
        <p:nvSpPr>
          <p:cNvPr id="6" name="Shape 3"/>
          <p:cNvSpPr/>
          <p:nvPr/>
        </p:nvSpPr>
        <p:spPr>
          <a:xfrm>
            <a:off x="3554202" y="1353312"/>
            <a:ext cx="438912" cy="438912"/>
          </a:xfrm>
          <a:prstGeom prst="rect">
            <a:avLst/>
          </a:prstGeom>
          <a:solidFill>
            <a:srgbClr val="AD1457"/>
          </a:solidFill>
          <a:ln/>
        </p:spPr>
      </p:sp>
      <p:sp>
        <p:nvSpPr>
          <p:cNvPr id="7" name="Text 4"/>
          <p:cNvSpPr/>
          <p:nvPr/>
        </p:nvSpPr>
        <p:spPr>
          <a:xfrm>
            <a:off x="3554202" y="1353312"/>
            <a:ext cx="438912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1</a:t>
            </a:r>
            <a:endParaRPr lang="en-US" sz="1800" dirty="0"/>
          </a:p>
        </p:txBody>
      </p:sp>
      <p:sp>
        <p:nvSpPr>
          <p:cNvPr id="8" name="Text 5"/>
          <p:cNvSpPr/>
          <p:nvPr/>
        </p:nvSpPr>
        <p:spPr>
          <a:xfrm>
            <a:off x="4066266" y="1353312"/>
            <a:ext cx="7939806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50" dirty="0">
                <a:solidFill>
                  <a:srgbClr val="1A1A1A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オーナー様メニュー →「勤怠管理」をタップ</a:t>
            </a:r>
            <a:endParaRPr lang="en-US" sz="1650" dirty="0"/>
          </a:p>
        </p:txBody>
      </p:sp>
      <p:sp>
        <p:nvSpPr>
          <p:cNvPr id="9" name="Shape 6"/>
          <p:cNvSpPr/>
          <p:nvPr/>
        </p:nvSpPr>
        <p:spPr>
          <a:xfrm>
            <a:off x="3554202" y="2002536"/>
            <a:ext cx="438912" cy="438912"/>
          </a:xfrm>
          <a:prstGeom prst="rect">
            <a:avLst/>
          </a:prstGeom>
          <a:solidFill>
            <a:srgbClr val="AD1457"/>
          </a:solidFill>
          <a:ln/>
        </p:spPr>
      </p:sp>
      <p:sp>
        <p:nvSpPr>
          <p:cNvPr id="10" name="Text 7"/>
          <p:cNvSpPr/>
          <p:nvPr/>
        </p:nvSpPr>
        <p:spPr>
          <a:xfrm>
            <a:off x="3554202" y="2002536"/>
            <a:ext cx="438912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2</a:t>
            </a:r>
            <a:endParaRPr lang="en-US" sz="1800" dirty="0"/>
          </a:p>
        </p:txBody>
      </p:sp>
      <p:sp>
        <p:nvSpPr>
          <p:cNvPr id="11" name="Text 8"/>
          <p:cNvSpPr/>
          <p:nvPr/>
        </p:nvSpPr>
        <p:spPr>
          <a:xfrm>
            <a:off x="4066266" y="2002536"/>
            <a:ext cx="7939806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50" dirty="0">
                <a:solidFill>
                  <a:srgbClr val="1A1A1A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「申請」ボタンに赤いバッジ（件数）が表示されたら申請あり</a:t>
            </a:r>
            <a:endParaRPr lang="en-US" sz="1650" dirty="0"/>
          </a:p>
        </p:txBody>
      </p:sp>
      <p:sp>
        <p:nvSpPr>
          <p:cNvPr id="12" name="Text 9"/>
          <p:cNvSpPr/>
          <p:nvPr/>
        </p:nvSpPr>
        <p:spPr>
          <a:xfrm>
            <a:off x="3737082" y="2514600"/>
            <a:ext cx="831471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50" dirty="0">
                <a:solidFill>
                  <a:srgbClr val="546E7A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📌 バッジがない場合は申請が届いていません</a:t>
            </a:r>
            <a:endParaRPr lang="en-US" sz="1550" dirty="0"/>
          </a:p>
        </p:txBody>
      </p:sp>
      <p:sp>
        <p:nvSpPr>
          <p:cNvPr id="13" name="Shape 10"/>
          <p:cNvSpPr/>
          <p:nvPr/>
        </p:nvSpPr>
        <p:spPr>
          <a:xfrm>
            <a:off x="3554202" y="3072384"/>
            <a:ext cx="438912" cy="438912"/>
          </a:xfrm>
          <a:prstGeom prst="rect">
            <a:avLst/>
          </a:prstGeom>
          <a:solidFill>
            <a:srgbClr val="AD1457"/>
          </a:solidFill>
          <a:ln/>
        </p:spPr>
      </p:sp>
      <p:sp>
        <p:nvSpPr>
          <p:cNvPr id="14" name="Text 11"/>
          <p:cNvSpPr/>
          <p:nvPr/>
        </p:nvSpPr>
        <p:spPr>
          <a:xfrm>
            <a:off x="3554202" y="3072384"/>
            <a:ext cx="438912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3</a:t>
            </a:r>
            <a:endParaRPr lang="en-US" sz="1800" dirty="0"/>
          </a:p>
        </p:txBody>
      </p:sp>
      <p:sp>
        <p:nvSpPr>
          <p:cNvPr id="15" name="Text 12"/>
          <p:cNvSpPr/>
          <p:nvPr/>
        </p:nvSpPr>
        <p:spPr>
          <a:xfrm>
            <a:off x="4066266" y="3072384"/>
            <a:ext cx="7939806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50" dirty="0">
                <a:solidFill>
                  <a:srgbClr val="1A1A1A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「申請」をタップ → 申請一覧が表示される</a:t>
            </a:r>
            <a:endParaRPr lang="en-US" sz="1650" dirty="0"/>
          </a:p>
        </p:txBody>
      </p:sp>
      <p:sp>
        <p:nvSpPr>
          <p:cNvPr id="16" name="Shape 13"/>
          <p:cNvSpPr/>
          <p:nvPr/>
        </p:nvSpPr>
        <p:spPr>
          <a:xfrm>
            <a:off x="3554202" y="3721608"/>
            <a:ext cx="438912" cy="438912"/>
          </a:xfrm>
          <a:prstGeom prst="rect">
            <a:avLst/>
          </a:prstGeom>
          <a:solidFill>
            <a:srgbClr val="AD1457"/>
          </a:solidFill>
          <a:ln/>
        </p:spPr>
      </p:sp>
      <p:sp>
        <p:nvSpPr>
          <p:cNvPr id="17" name="Text 14"/>
          <p:cNvSpPr/>
          <p:nvPr/>
        </p:nvSpPr>
        <p:spPr>
          <a:xfrm>
            <a:off x="3554202" y="3721608"/>
            <a:ext cx="438912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4</a:t>
            </a:r>
            <a:endParaRPr lang="en-US" sz="1800" dirty="0"/>
          </a:p>
        </p:txBody>
      </p:sp>
      <p:sp>
        <p:nvSpPr>
          <p:cNvPr id="18" name="Text 15"/>
          <p:cNvSpPr/>
          <p:nvPr/>
        </p:nvSpPr>
        <p:spPr>
          <a:xfrm>
            <a:off x="4066266" y="3721608"/>
            <a:ext cx="7939806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50" dirty="0">
                <a:solidFill>
                  <a:srgbClr val="1A1A1A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申請をタップして内容を確認（修正前 vs 修正後 / 理由）</a:t>
            </a:r>
            <a:endParaRPr lang="en-US" sz="1650" dirty="0"/>
          </a:p>
        </p:txBody>
      </p:sp>
      <p:sp>
        <p:nvSpPr>
          <p:cNvPr id="19" name="Shape 16"/>
          <p:cNvSpPr/>
          <p:nvPr/>
        </p:nvSpPr>
        <p:spPr>
          <a:xfrm>
            <a:off x="3554202" y="4370832"/>
            <a:ext cx="438912" cy="438912"/>
          </a:xfrm>
          <a:prstGeom prst="rect">
            <a:avLst/>
          </a:prstGeom>
          <a:solidFill>
            <a:srgbClr val="AD1457"/>
          </a:solidFill>
          <a:ln/>
        </p:spPr>
      </p:sp>
      <p:sp>
        <p:nvSpPr>
          <p:cNvPr id="20" name="Text 17"/>
          <p:cNvSpPr/>
          <p:nvPr/>
        </p:nvSpPr>
        <p:spPr>
          <a:xfrm>
            <a:off x="3554202" y="4370832"/>
            <a:ext cx="438912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5</a:t>
            </a:r>
            <a:endParaRPr lang="en-US" sz="1800" dirty="0"/>
          </a:p>
        </p:txBody>
      </p:sp>
      <p:sp>
        <p:nvSpPr>
          <p:cNvPr id="21" name="Text 18"/>
          <p:cNvSpPr/>
          <p:nvPr/>
        </p:nvSpPr>
        <p:spPr>
          <a:xfrm>
            <a:off x="4066266" y="4370832"/>
            <a:ext cx="7939806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50" dirty="0">
                <a:solidFill>
                  <a:srgbClr val="1A1A1A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「承認」→ 勤怠データに即反映　/　「却下」→ 却下通知</a:t>
            </a:r>
            <a:endParaRPr lang="en-US" sz="1650" dirty="0"/>
          </a:p>
        </p:txBody>
      </p:sp>
      <p:sp>
        <p:nvSpPr>
          <p:cNvPr id="22" name="Text 19"/>
          <p:cNvSpPr/>
          <p:nvPr/>
        </p:nvSpPr>
        <p:spPr>
          <a:xfrm>
            <a:off x="3554202" y="4974336"/>
            <a:ext cx="849759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100" b="1" dirty="0">
                <a:solidFill>
                  <a:srgbClr val="AD1457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承認できる申請の種類</a:t>
            </a:r>
            <a:endParaRPr lang="en-US" sz="2100" dirty="0"/>
          </a:p>
        </p:txBody>
      </p:sp>
      <p:sp>
        <p:nvSpPr>
          <p:cNvPr id="23" name="Text 20"/>
          <p:cNvSpPr/>
          <p:nvPr/>
        </p:nvSpPr>
        <p:spPr>
          <a:xfrm>
            <a:off x="3554202" y="5522976"/>
            <a:ext cx="849759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AD1457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▶ </a:t>
            </a:r>
            <a:r>
              <a:rPr lang="en-US" sz="1700" dirty="0">
                <a:solidFill>
                  <a:srgbClr val="1A1A1A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打刻修正申請（出退勤・休憩時間の訂正）</a:t>
            </a:r>
            <a:endParaRPr lang="en-US" sz="1700" dirty="0"/>
          </a:p>
        </p:txBody>
      </p:sp>
      <p:sp>
        <p:nvSpPr>
          <p:cNvPr id="24" name="Text 21"/>
          <p:cNvSpPr/>
          <p:nvPr/>
        </p:nvSpPr>
        <p:spPr>
          <a:xfrm>
            <a:off x="3554202" y="5998464"/>
            <a:ext cx="849759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AD1457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▶ </a:t>
            </a:r>
            <a:r>
              <a:rPr lang="en-US" sz="1700" dirty="0">
                <a:solidFill>
                  <a:srgbClr val="1A1A1A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交通費手当申請</a:t>
            </a:r>
            <a:endParaRPr lang="en-US" sz="1700" dirty="0"/>
          </a:p>
        </p:txBody>
      </p:sp>
      <p:sp>
        <p:nvSpPr>
          <p:cNvPr id="25" name="Text 22"/>
          <p:cNvSpPr/>
          <p:nvPr/>
        </p:nvSpPr>
        <p:spPr>
          <a:xfrm>
            <a:off x="3554202" y="6473952"/>
            <a:ext cx="849759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AD1457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▶ </a:t>
            </a:r>
            <a:r>
              <a:rPr lang="en-US" sz="1700" dirty="0">
                <a:solidFill>
                  <a:srgbClr val="1A1A1A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応援交通費手当申請</a:t>
            </a:r>
            <a:endParaRPr lang="en-US" sz="1700" dirty="0"/>
          </a:p>
        </p:txBody>
      </p:sp>
      <p:sp>
        <p:nvSpPr>
          <p:cNvPr id="26" name="Shape 23"/>
          <p:cNvSpPr/>
          <p:nvPr/>
        </p:nvSpPr>
        <p:spPr>
          <a:xfrm>
            <a:off x="3554202" y="6949440"/>
            <a:ext cx="8497590" cy="493776"/>
          </a:xfrm>
          <a:prstGeom prst="rect">
            <a:avLst/>
          </a:prstGeom>
          <a:solidFill>
            <a:srgbClr val="FFF8E1"/>
          </a:solidFill>
          <a:ln w="12700">
            <a:solidFill>
              <a:srgbClr val="F57F17"/>
            </a:solidFill>
            <a:prstDash val="solid"/>
          </a:ln>
        </p:spPr>
      </p:sp>
      <p:sp>
        <p:nvSpPr>
          <p:cNvPr id="27" name="Text 24"/>
          <p:cNvSpPr/>
          <p:nvPr/>
        </p:nvSpPr>
        <p:spPr>
          <a:xfrm>
            <a:off x="3663930" y="6949440"/>
            <a:ext cx="8332998" cy="4937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4E342E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⚠️ 承認前は就労時間に反映されません。早めに確認を！</a:t>
            </a:r>
            <a:endParaRPr lang="en-US" sz="160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749808"/>
          </a:xfrm>
          <a:prstGeom prst="rect">
            <a:avLst/>
          </a:prstGeom>
          <a:solidFill>
            <a:srgbClr val="AD1457"/>
          </a:solidFill>
          <a:ln/>
        </p:spPr>
      </p:sp>
      <p:sp>
        <p:nvSpPr>
          <p:cNvPr id="3" name="Text 1"/>
          <p:cNvSpPr/>
          <p:nvPr/>
        </p:nvSpPr>
        <p:spPr>
          <a:xfrm>
            <a:off x="228600" y="0"/>
            <a:ext cx="1188720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900" b="1" dirty="0">
                <a:solidFill>
                  <a:srgbClr val="FFFFFF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13.  勤怠管理（オーナー様）③　修正申請の確認と承認</a:t>
            </a:r>
            <a:endParaRPr lang="en-US" sz="2900" dirty="0"/>
          </a:p>
        </p:txBody>
      </p:sp>
      <p:pic>
        <p:nvPicPr>
          <p:cNvPr id="4" name="Image 0" descr="C:\Users\kouki\my-app\screenshots\22b_manager_approval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164592" y="758952"/>
            <a:ext cx="3225018" cy="598932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3554202" y="804672"/>
            <a:ext cx="849759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100" b="1" dirty="0">
                <a:solidFill>
                  <a:srgbClr val="AD1457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申請一覧の開き方</a:t>
            </a:r>
            <a:endParaRPr lang="en-US" sz="2100" dirty="0"/>
          </a:p>
        </p:txBody>
      </p:sp>
      <p:sp>
        <p:nvSpPr>
          <p:cNvPr id="6" name="Shape 3"/>
          <p:cNvSpPr/>
          <p:nvPr/>
        </p:nvSpPr>
        <p:spPr>
          <a:xfrm>
            <a:off x="3554202" y="1353312"/>
            <a:ext cx="438912" cy="438912"/>
          </a:xfrm>
          <a:prstGeom prst="rect">
            <a:avLst/>
          </a:prstGeom>
          <a:solidFill>
            <a:srgbClr val="AD1457"/>
          </a:solidFill>
          <a:ln/>
        </p:spPr>
      </p:sp>
      <p:sp>
        <p:nvSpPr>
          <p:cNvPr id="7" name="Text 4"/>
          <p:cNvSpPr/>
          <p:nvPr/>
        </p:nvSpPr>
        <p:spPr>
          <a:xfrm>
            <a:off x="3554202" y="1353312"/>
            <a:ext cx="438912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1</a:t>
            </a:r>
            <a:endParaRPr lang="en-US" sz="1800" dirty="0"/>
          </a:p>
        </p:txBody>
      </p:sp>
      <p:sp>
        <p:nvSpPr>
          <p:cNvPr id="8" name="Text 5"/>
          <p:cNvSpPr/>
          <p:nvPr/>
        </p:nvSpPr>
        <p:spPr>
          <a:xfrm>
            <a:off x="4066266" y="1353312"/>
            <a:ext cx="7939806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50" dirty="0">
                <a:solidFill>
                  <a:srgbClr val="1A1A1A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オーナー様メニュー →「勤怠管理」をタップ</a:t>
            </a:r>
            <a:endParaRPr lang="en-US" sz="1650" dirty="0"/>
          </a:p>
        </p:txBody>
      </p:sp>
      <p:sp>
        <p:nvSpPr>
          <p:cNvPr id="9" name="Shape 6"/>
          <p:cNvSpPr/>
          <p:nvPr/>
        </p:nvSpPr>
        <p:spPr>
          <a:xfrm>
            <a:off x="3554202" y="2002536"/>
            <a:ext cx="438912" cy="438912"/>
          </a:xfrm>
          <a:prstGeom prst="rect">
            <a:avLst/>
          </a:prstGeom>
          <a:solidFill>
            <a:srgbClr val="AD1457"/>
          </a:solidFill>
          <a:ln/>
        </p:spPr>
      </p:sp>
      <p:sp>
        <p:nvSpPr>
          <p:cNvPr id="10" name="Text 7"/>
          <p:cNvSpPr/>
          <p:nvPr/>
        </p:nvSpPr>
        <p:spPr>
          <a:xfrm>
            <a:off x="3554202" y="2002536"/>
            <a:ext cx="438912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2</a:t>
            </a:r>
            <a:endParaRPr lang="en-US" sz="1800" dirty="0"/>
          </a:p>
        </p:txBody>
      </p:sp>
      <p:sp>
        <p:nvSpPr>
          <p:cNvPr id="11" name="Text 8"/>
          <p:cNvSpPr/>
          <p:nvPr/>
        </p:nvSpPr>
        <p:spPr>
          <a:xfrm>
            <a:off x="4066266" y="2002536"/>
            <a:ext cx="7939806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50" dirty="0">
                <a:solidFill>
                  <a:srgbClr val="1A1A1A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画面右上の「📬 申請」ボタンをタップ</a:t>
            </a:r>
            <a:endParaRPr lang="en-US" sz="1650" dirty="0"/>
          </a:p>
        </p:txBody>
      </p:sp>
      <p:sp>
        <p:nvSpPr>
          <p:cNvPr id="12" name="Shape 9"/>
          <p:cNvSpPr/>
          <p:nvPr/>
        </p:nvSpPr>
        <p:spPr>
          <a:xfrm>
            <a:off x="3554202" y="2651760"/>
            <a:ext cx="438912" cy="438912"/>
          </a:xfrm>
          <a:prstGeom prst="rect">
            <a:avLst/>
          </a:prstGeom>
          <a:solidFill>
            <a:srgbClr val="AD1457"/>
          </a:solidFill>
          <a:ln/>
        </p:spPr>
      </p:sp>
      <p:sp>
        <p:nvSpPr>
          <p:cNvPr id="13" name="Text 10"/>
          <p:cNvSpPr/>
          <p:nvPr/>
        </p:nvSpPr>
        <p:spPr>
          <a:xfrm>
            <a:off x="3554202" y="2651760"/>
            <a:ext cx="438912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3</a:t>
            </a:r>
            <a:endParaRPr lang="en-US" sz="1800" dirty="0"/>
          </a:p>
        </p:txBody>
      </p:sp>
      <p:sp>
        <p:nvSpPr>
          <p:cNvPr id="14" name="Text 11"/>
          <p:cNvSpPr/>
          <p:nvPr/>
        </p:nvSpPr>
        <p:spPr>
          <a:xfrm>
            <a:off x="4066266" y="2651760"/>
            <a:ext cx="7939806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50" dirty="0">
                <a:solidFill>
                  <a:srgbClr val="1A1A1A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修正申請一覧が表示される（申請がなければ空欄）</a:t>
            </a:r>
            <a:endParaRPr lang="en-US" sz="1650" dirty="0"/>
          </a:p>
        </p:txBody>
      </p:sp>
      <p:sp>
        <p:nvSpPr>
          <p:cNvPr id="15" name="Text 12"/>
          <p:cNvSpPr/>
          <p:nvPr/>
        </p:nvSpPr>
        <p:spPr>
          <a:xfrm>
            <a:off x="3554202" y="3255264"/>
            <a:ext cx="849759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100" b="1" dirty="0">
                <a:solidFill>
                  <a:srgbClr val="AD1457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承認・却下の手順</a:t>
            </a:r>
            <a:endParaRPr lang="en-US" sz="2100" dirty="0"/>
          </a:p>
        </p:txBody>
      </p:sp>
      <p:sp>
        <p:nvSpPr>
          <p:cNvPr id="16" name="Shape 13"/>
          <p:cNvSpPr/>
          <p:nvPr/>
        </p:nvSpPr>
        <p:spPr>
          <a:xfrm>
            <a:off x="3554202" y="3803904"/>
            <a:ext cx="438912" cy="438912"/>
          </a:xfrm>
          <a:prstGeom prst="rect">
            <a:avLst/>
          </a:prstGeom>
          <a:solidFill>
            <a:srgbClr val="AD1457"/>
          </a:solidFill>
          <a:ln/>
        </p:spPr>
      </p:sp>
      <p:sp>
        <p:nvSpPr>
          <p:cNvPr id="17" name="Text 14"/>
          <p:cNvSpPr/>
          <p:nvPr/>
        </p:nvSpPr>
        <p:spPr>
          <a:xfrm>
            <a:off x="3554202" y="3803904"/>
            <a:ext cx="438912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4</a:t>
            </a:r>
            <a:endParaRPr lang="en-US" sz="1800" dirty="0"/>
          </a:p>
        </p:txBody>
      </p:sp>
      <p:sp>
        <p:nvSpPr>
          <p:cNvPr id="18" name="Text 15"/>
          <p:cNvSpPr/>
          <p:nvPr/>
        </p:nvSpPr>
        <p:spPr>
          <a:xfrm>
            <a:off x="4066266" y="3803904"/>
            <a:ext cx="7939806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50" dirty="0">
                <a:solidFill>
                  <a:srgbClr val="1A1A1A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申請をタップ → 修正前・修正後の時刻と理由を確認</a:t>
            </a:r>
            <a:endParaRPr lang="en-US" sz="1650" dirty="0"/>
          </a:p>
        </p:txBody>
      </p:sp>
      <p:sp>
        <p:nvSpPr>
          <p:cNvPr id="19" name="Shape 16"/>
          <p:cNvSpPr/>
          <p:nvPr/>
        </p:nvSpPr>
        <p:spPr>
          <a:xfrm>
            <a:off x="3554202" y="4453128"/>
            <a:ext cx="438912" cy="438912"/>
          </a:xfrm>
          <a:prstGeom prst="rect">
            <a:avLst/>
          </a:prstGeom>
          <a:solidFill>
            <a:srgbClr val="AD1457"/>
          </a:solidFill>
          <a:ln/>
        </p:spPr>
      </p:sp>
      <p:sp>
        <p:nvSpPr>
          <p:cNvPr id="20" name="Text 17"/>
          <p:cNvSpPr/>
          <p:nvPr/>
        </p:nvSpPr>
        <p:spPr>
          <a:xfrm>
            <a:off x="3554202" y="4453128"/>
            <a:ext cx="438912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5</a:t>
            </a:r>
            <a:endParaRPr lang="en-US" sz="1800" dirty="0"/>
          </a:p>
        </p:txBody>
      </p:sp>
      <p:sp>
        <p:nvSpPr>
          <p:cNvPr id="21" name="Text 18"/>
          <p:cNvSpPr/>
          <p:nvPr/>
        </p:nvSpPr>
        <p:spPr>
          <a:xfrm>
            <a:off x="4066266" y="4453128"/>
            <a:ext cx="7939806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50" dirty="0">
                <a:solidFill>
                  <a:srgbClr val="1A1A1A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「承認」→ 勤怠データに即反映　/　「却下」→ 却下通知</a:t>
            </a:r>
            <a:endParaRPr lang="en-US" sz="1650" dirty="0"/>
          </a:p>
        </p:txBody>
      </p:sp>
      <p:sp>
        <p:nvSpPr>
          <p:cNvPr id="22" name="Shape 19"/>
          <p:cNvSpPr/>
          <p:nvPr/>
        </p:nvSpPr>
        <p:spPr>
          <a:xfrm>
            <a:off x="3554202" y="5102352"/>
            <a:ext cx="8497590" cy="493776"/>
          </a:xfrm>
          <a:prstGeom prst="rect">
            <a:avLst/>
          </a:prstGeom>
          <a:solidFill>
            <a:srgbClr val="E8F0FE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23" name="Text 20"/>
          <p:cNvSpPr/>
          <p:nvPr/>
        </p:nvSpPr>
        <p:spPr>
          <a:xfrm>
            <a:off x="3663930" y="5102352"/>
            <a:ext cx="8332998" cy="4937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1A1A1A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💡 申請ボタンの赤いバッジ（数字）が申請件数を示します</a:t>
            </a:r>
            <a:endParaRPr lang="en-US" sz="1600" dirty="0"/>
          </a:p>
        </p:txBody>
      </p:sp>
      <p:sp>
        <p:nvSpPr>
          <p:cNvPr id="24" name="Shape 21"/>
          <p:cNvSpPr/>
          <p:nvPr/>
        </p:nvSpPr>
        <p:spPr>
          <a:xfrm>
            <a:off x="3554202" y="5806440"/>
            <a:ext cx="8497590" cy="493776"/>
          </a:xfrm>
          <a:prstGeom prst="rect">
            <a:avLst/>
          </a:prstGeom>
          <a:solidFill>
            <a:srgbClr val="FFF8E1"/>
          </a:solidFill>
          <a:ln w="12700">
            <a:solidFill>
              <a:srgbClr val="F57F17"/>
            </a:solidFill>
            <a:prstDash val="solid"/>
          </a:ln>
        </p:spPr>
      </p:sp>
      <p:sp>
        <p:nvSpPr>
          <p:cNvPr id="25" name="Text 22"/>
          <p:cNvSpPr/>
          <p:nvPr/>
        </p:nvSpPr>
        <p:spPr>
          <a:xfrm>
            <a:off x="3663930" y="5806440"/>
            <a:ext cx="8332998" cy="4937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4E342E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⚠️ 承認は取り消せません。内容をよく確認してから承認してください</a:t>
            </a:r>
            <a:endParaRPr lang="en-US" sz="160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749808"/>
          </a:xfrm>
          <a:prstGeom prst="rect">
            <a:avLst/>
          </a:prstGeom>
          <a:solidFill>
            <a:srgbClr val="37474F"/>
          </a:solidFill>
          <a:ln/>
        </p:spPr>
      </p:sp>
      <p:sp>
        <p:nvSpPr>
          <p:cNvPr id="3" name="Text 1"/>
          <p:cNvSpPr/>
          <p:nvPr/>
        </p:nvSpPr>
        <p:spPr>
          <a:xfrm>
            <a:off x="228600" y="0"/>
            <a:ext cx="1188720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900" b="1" dirty="0">
                <a:solidFill>
                  <a:srgbClr val="FFFFFF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14.  新人登録（オーナー様）</a:t>
            </a:r>
            <a:endParaRPr lang="en-US" sz="2900" dirty="0"/>
          </a:p>
        </p:txBody>
      </p:sp>
      <p:pic>
        <p:nvPicPr>
          <p:cNvPr id="4" name="Image 0" descr="C:\Users\kouki\my-app\screenshots\23_register_user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164592" y="758952"/>
            <a:ext cx="3225018" cy="598932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3554202" y="804672"/>
            <a:ext cx="849759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100" b="1" dirty="0">
                <a:solidFill>
                  <a:srgbClr val="37474F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できること</a:t>
            </a:r>
            <a:endParaRPr lang="en-US" sz="2100" dirty="0"/>
          </a:p>
        </p:txBody>
      </p:sp>
      <p:sp>
        <p:nvSpPr>
          <p:cNvPr id="6" name="Text 3"/>
          <p:cNvSpPr/>
          <p:nvPr/>
        </p:nvSpPr>
        <p:spPr>
          <a:xfrm>
            <a:off x="3554202" y="1353312"/>
            <a:ext cx="849759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37474F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▶ </a:t>
            </a:r>
            <a:r>
              <a:rPr lang="en-US" sz="1700" dirty="0">
                <a:solidFill>
                  <a:srgbClr val="1A1A1A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新規スタッフの登録（名前・管理番号・PW）</a:t>
            </a:r>
            <a:endParaRPr lang="en-US" sz="1700" dirty="0"/>
          </a:p>
        </p:txBody>
      </p:sp>
      <p:sp>
        <p:nvSpPr>
          <p:cNvPr id="7" name="Text 4"/>
          <p:cNvSpPr/>
          <p:nvPr/>
        </p:nvSpPr>
        <p:spPr>
          <a:xfrm>
            <a:off x="3554202" y="1828800"/>
            <a:ext cx="849759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37474F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▶ </a:t>
            </a:r>
            <a:r>
              <a:rPr lang="en-US" sz="1700" dirty="0">
                <a:solidFill>
                  <a:srgbClr val="1A1A1A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登録済みスタッフの一覧確認</a:t>
            </a:r>
            <a:endParaRPr lang="en-US" sz="1700" dirty="0"/>
          </a:p>
        </p:txBody>
      </p:sp>
      <p:sp>
        <p:nvSpPr>
          <p:cNvPr id="8" name="Text 5"/>
          <p:cNvSpPr/>
          <p:nvPr/>
        </p:nvSpPr>
        <p:spPr>
          <a:xfrm>
            <a:off x="3554202" y="2304288"/>
            <a:ext cx="849759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37474F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▶ </a:t>
            </a:r>
            <a:r>
              <a:rPr lang="en-US" sz="1700" dirty="0">
                <a:solidFill>
                  <a:srgbClr val="1A1A1A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スタッフのパスワード変更</a:t>
            </a:r>
            <a:endParaRPr lang="en-US" sz="1700" dirty="0"/>
          </a:p>
        </p:txBody>
      </p:sp>
      <p:sp>
        <p:nvSpPr>
          <p:cNvPr id="9" name="Text 6"/>
          <p:cNvSpPr/>
          <p:nvPr/>
        </p:nvSpPr>
        <p:spPr>
          <a:xfrm>
            <a:off x="3554202" y="2779776"/>
            <a:ext cx="849759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37474F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▶ </a:t>
            </a:r>
            <a:r>
              <a:rPr lang="en-US" sz="1700" dirty="0">
                <a:solidFill>
                  <a:srgbClr val="1A1A1A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スタッフの削除</a:t>
            </a:r>
            <a:endParaRPr lang="en-US" sz="1700" dirty="0"/>
          </a:p>
        </p:txBody>
      </p:sp>
      <p:sp>
        <p:nvSpPr>
          <p:cNvPr id="10" name="Text 7"/>
          <p:cNvSpPr/>
          <p:nvPr/>
        </p:nvSpPr>
        <p:spPr>
          <a:xfrm>
            <a:off x="3554202" y="3438144"/>
            <a:ext cx="849759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100" b="1" dirty="0">
                <a:solidFill>
                  <a:srgbClr val="37474F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新規登録の手順</a:t>
            </a:r>
            <a:endParaRPr lang="en-US" sz="2100" dirty="0"/>
          </a:p>
        </p:txBody>
      </p:sp>
      <p:sp>
        <p:nvSpPr>
          <p:cNvPr id="11" name="Shape 8"/>
          <p:cNvSpPr/>
          <p:nvPr/>
        </p:nvSpPr>
        <p:spPr>
          <a:xfrm>
            <a:off x="3554202" y="3986784"/>
            <a:ext cx="438912" cy="438912"/>
          </a:xfrm>
          <a:prstGeom prst="rect">
            <a:avLst/>
          </a:prstGeom>
          <a:solidFill>
            <a:srgbClr val="37474F"/>
          </a:solidFill>
          <a:ln/>
        </p:spPr>
      </p:sp>
      <p:sp>
        <p:nvSpPr>
          <p:cNvPr id="12" name="Text 9"/>
          <p:cNvSpPr/>
          <p:nvPr/>
        </p:nvSpPr>
        <p:spPr>
          <a:xfrm>
            <a:off x="3554202" y="3986784"/>
            <a:ext cx="438912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1</a:t>
            </a:r>
            <a:endParaRPr lang="en-US" sz="1800" dirty="0"/>
          </a:p>
        </p:txBody>
      </p:sp>
      <p:sp>
        <p:nvSpPr>
          <p:cNvPr id="13" name="Text 10"/>
          <p:cNvSpPr/>
          <p:nvPr/>
        </p:nvSpPr>
        <p:spPr>
          <a:xfrm>
            <a:off x="4066266" y="3986784"/>
            <a:ext cx="7939806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50" dirty="0">
                <a:solidFill>
                  <a:srgbClr val="1A1A1A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「新人登録」をタップ</a:t>
            </a:r>
            <a:endParaRPr lang="en-US" sz="1650" dirty="0"/>
          </a:p>
        </p:txBody>
      </p:sp>
      <p:sp>
        <p:nvSpPr>
          <p:cNvPr id="14" name="Shape 11"/>
          <p:cNvSpPr/>
          <p:nvPr/>
        </p:nvSpPr>
        <p:spPr>
          <a:xfrm>
            <a:off x="3554202" y="4636008"/>
            <a:ext cx="438912" cy="438912"/>
          </a:xfrm>
          <a:prstGeom prst="rect">
            <a:avLst/>
          </a:prstGeom>
          <a:solidFill>
            <a:srgbClr val="37474F"/>
          </a:solidFill>
          <a:ln/>
        </p:spPr>
      </p:sp>
      <p:sp>
        <p:nvSpPr>
          <p:cNvPr id="15" name="Text 12"/>
          <p:cNvSpPr/>
          <p:nvPr/>
        </p:nvSpPr>
        <p:spPr>
          <a:xfrm>
            <a:off x="3554202" y="4636008"/>
            <a:ext cx="438912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2</a:t>
            </a:r>
            <a:endParaRPr lang="en-US" sz="1800" dirty="0"/>
          </a:p>
        </p:txBody>
      </p:sp>
      <p:sp>
        <p:nvSpPr>
          <p:cNvPr id="16" name="Text 13"/>
          <p:cNvSpPr/>
          <p:nvPr/>
        </p:nvSpPr>
        <p:spPr>
          <a:xfrm>
            <a:off x="4066266" y="4636008"/>
            <a:ext cx="7939806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50" dirty="0">
                <a:solidFill>
                  <a:srgbClr val="1A1A1A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名前・管理番号・パスワードを入力</a:t>
            </a:r>
            <a:endParaRPr lang="en-US" sz="1650" dirty="0"/>
          </a:p>
        </p:txBody>
      </p:sp>
      <p:sp>
        <p:nvSpPr>
          <p:cNvPr id="17" name="Shape 14"/>
          <p:cNvSpPr/>
          <p:nvPr/>
        </p:nvSpPr>
        <p:spPr>
          <a:xfrm>
            <a:off x="3554202" y="5285232"/>
            <a:ext cx="438912" cy="438912"/>
          </a:xfrm>
          <a:prstGeom prst="rect">
            <a:avLst/>
          </a:prstGeom>
          <a:solidFill>
            <a:srgbClr val="37474F"/>
          </a:solidFill>
          <a:ln/>
        </p:spPr>
      </p:sp>
      <p:sp>
        <p:nvSpPr>
          <p:cNvPr id="18" name="Text 15"/>
          <p:cNvSpPr/>
          <p:nvPr/>
        </p:nvSpPr>
        <p:spPr>
          <a:xfrm>
            <a:off x="3554202" y="5285232"/>
            <a:ext cx="438912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3</a:t>
            </a:r>
            <a:endParaRPr lang="en-US" sz="1800" dirty="0"/>
          </a:p>
        </p:txBody>
      </p:sp>
      <p:sp>
        <p:nvSpPr>
          <p:cNvPr id="19" name="Text 16"/>
          <p:cNvSpPr/>
          <p:nvPr/>
        </p:nvSpPr>
        <p:spPr>
          <a:xfrm>
            <a:off x="4066266" y="5285232"/>
            <a:ext cx="7939806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50" dirty="0">
                <a:solidFill>
                  <a:srgbClr val="1A1A1A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「登録する」をタップして完了</a:t>
            </a:r>
            <a:endParaRPr lang="en-US" sz="1650" dirty="0"/>
          </a:p>
        </p:txBody>
      </p:sp>
      <p:sp>
        <p:nvSpPr>
          <p:cNvPr id="20" name="Shape 17"/>
          <p:cNvSpPr/>
          <p:nvPr/>
        </p:nvSpPr>
        <p:spPr>
          <a:xfrm>
            <a:off x="3554202" y="5934456"/>
            <a:ext cx="8497590" cy="493776"/>
          </a:xfrm>
          <a:prstGeom prst="rect">
            <a:avLst/>
          </a:prstGeom>
          <a:solidFill>
            <a:srgbClr val="FFF8E1"/>
          </a:solidFill>
          <a:ln w="12700">
            <a:solidFill>
              <a:srgbClr val="F57F17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3663930" y="5934456"/>
            <a:ext cx="8332998" cy="4937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4E342E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⚠️ 管理番号・パスワードは必ず本人に直接伝えてください</a:t>
            </a:r>
            <a:endParaRPr lang="en-US" sz="160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749808"/>
          </a:xfrm>
          <a:prstGeom prst="rect">
            <a:avLst/>
          </a:prstGeom>
          <a:solidFill>
            <a:srgbClr val="546E7A"/>
          </a:solidFill>
          <a:ln/>
        </p:spPr>
      </p:sp>
      <p:sp>
        <p:nvSpPr>
          <p:cNvPr id="3" name="Text 1"/>
          <p:cNvSpPr/>
          <p:nvPr/>
        </p:nvSpPr>
        <p:spPr>
          <a:xfrm>
            <a:off x="228600" y="0"/>
            <a:ext cx="1188720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900" b="1" dirty="0">
                <a:solidFill>
                  <a:srgbClr val="FFFFFF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15.  よくある質問 ①</a:t>
            </a:r>
            <a:endParaRPr lang="en-US" sz="2900" dirty="0"/>
          </a:p>
        </p:txBody>
      </p:sp>
      <p:sp>
        <p:nvSpPr>
          <p:cNvPr id="4" name="Shape 2"/>
          <p:cNvSpPr/>
          <p:nvPr/>
        </p:nvSpPr>
        <p:spPr>
          <a:xfrm>
            <a:off x="274320" y="822960"/>
            <a:ext cx="11612880" cy="457200"/>
          </a:xfrm>
          <a:prstGeom prst="rect">
            <a:avLst/>
          </a:prstGeom>
          <a:solidFill>
            <a:srgbClr val="1565C0"/>
          </a:solidFill>
          <a:ln/>
        </p:spPr>
      </p:sp>
      <p:sp>
        <p:nvSpPr>
          <p:cNvPr id="5" name="Text 3"/>
          <p:cNvSpPr/>
          <p:nvPr/>
        </p:nvSpPr>
        <p:spPr>
          <a:xfrm>
            <a:off x="411480" y="822960"/>
            <a:ext cx="11430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Q  ログインできない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274320" y="1280160"/>
            <a:ext cx="11612880" cy="932688"/>
          </a:xfrm>
          <a:prstGeom prst="rect">
            <a:avLst/>
          </a:prstGeom>
          <a:solidFill>
            <a:srgbClr val="E8F0FE"/>
          </a:solidFill>
          <a:ln w="6350">
            <a:solidFill>
              <a:srgbClr val="1565C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11480" y="1316736"/>
            <a:ext cx="11430000" cy="87782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600" dirty="0">
                <a:solidFill>
                  <a:srgbClr val="1A1A1A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A  ① 管理番号が正しいか確認してください</a:t>
            </a:r>
            <a:endParaRPr lang="en-US" sz="1600" dirty="0"/>
          </a:p>
          <a:p>
            <a:pPr marL="0" indent="0">
              <a:buNone/>
            </a:pPr>
            <a:r>
              <a:rPr lang="en-US" sz="1600" dirty="0">
                <a:solidFill>
                  <a:srgbClr val="1A1A1A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② パスワードが間違っていないか確認してください</a:t>
            </a:r>
            <a:endParaRPr lang="en-US" sz="1600" dirty="0"/>
          </a:p>
          <a:p>
            <a:pPr marL="0" indent="0">
              <a:buNone/>
            </a:pPr>
            <a:r>
              <a:rPr lang="en-US" sz="1600" dirty="0">
                <a:solidFill>
                  <a:srgbClr val="1A1A1A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③ 解決しない場合はオーナー様にパスワードのリセットを依頼してください。管理番号はリセットできません。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274320" y="2304288"/>
            <a:ext cx="11612880" cy="457200"/>
          </a:xfrm>
          <a:prstGeom prst="rect">
            <a:avLst/>
          </a:prstGeom>
          <a:solidFill>
            <a:srgbClr val="1565C0"/>
          </a:solidFill>
          <a:ln/>
        </p:spPr>
      </p:sp>
      <p:sp>
        <p:nvSpPr>
          <p:cNvPr id="9" name="Text 7"/>
          <p:cNvSpPr/>
          <p:nvPr/>
        </p:nvSpPr>
        <p:spPr>
          <a:xfrm>
            <a:off x="411480" y="2304288"/>
            <a:ext cx="11430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Q  パスワードを忘れた</a:t>
            </a:r>
            <a:endParaRPr lang="en-US" sz="1800" dirty="0"/>
          </a:p>
        </p:txBody>
      </p:sp>
      <p:sp>
        <p:nvSpPr>
          <p:cNvPr id="10" name="Shape 8"/>
          <p:cNvSpPr/>
          <p:nvPr/>
        </p:nvSpPr>
        <p:spPr>
          <a:xfrm>
            <a:off x="274320" y="2761488"/>
            <a:ext cx="11612880" cy="932688"/>
          </a:xfrm>
          <a:prstGeom prst="rect">
            <a:avLst/>
          </a:prstGeom>
          <a:solidFill>
            <a:srgbClr val="E8F0FE"/>
          </a:solidFill>
          <a:ln w="6350">
            <a:solidFill>
              <a:srgbClr val="1565C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11480" y="2798064"/>
            <a:ext cx="11430000" cy="87782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600" dirty="0">
                <a:solidFill>
                  <a:srgbClr val="1A1A1A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A  パスワードを忘れた場合はまずオーナー様に相談してください。解決しない場合はオーナー様にパスワードのリセットを依頼してください。管理番号はリセットできません。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274320" y="3785616"/>
            <a:ext cx="11612880" cy="457200"/>
          </a:xfrm>
          <a:prstGeom prst="rect">
            <a:avLst/>
          </a:prstGeom>
          <a:solidFill>
            <a:srgbClr val="1565C0"/>
          </a:solidFill>
          <a:ln/>
        </p:spPr>
      </p:sp>
      <p:sp>
        <p:nvSpPr>
          <p:cNvPr id="13" name="Text 11"/>
          <p:cNvSpPr/>
          <p:nvPr/>
        </p:nvSpPr>
        <p:spPr>
          <a:xfrm>
            <a:off x="411480" y="3785616"/>
            <a:ext cx="11430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Q  シフトを間違えて送信してしまった</a:t>
            </a:r>
            <a:endParaRPr lang="en-US" sz="1800" dirty="0"/>
          </a:p>
        </p:txBody>
      </p:sp>
      <p:sp>
        <p:nvSpPr>
          <p:cNvPr id="14" name="Shape 12"/>
          <p:cNvSpPr/>
          <p:nvPr/>
        </p:nvSpPr>
        <p:spPr>
          <a:xfrm>
            <a:off x="274320" y="4242816"/>
            <a:ext cx="11612880" cy="932688"/>
          </a:xfrm>
          <a:prstGeom prst="rect">
            <a:avLst/>
          </a:prstGeom>
          <a:solidFill>
            <a:srgbClr val="E8F0FE"/>
          </a:solidFill>
          <a:ln w="6350">
            <a:solidFill>
              <a:srgbClr val="1565C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11480" y="4279392"/>
            <a:ext cx="11430000" cy="87782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600" dirty="0">
                <a:solidFill>
                  <a:srgbClr val="1A1A1A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A  シフト確定前であれば「シフト変更」から修正できます。オーナー様がシフトを確定した後は変更できないため、早めにオーナー様に連絡してください。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274320" y="5266944"/>
            <a:ext cx="11612880" cy="457200"/>
          </a:xfrm>
          <a:prstGeom prst="rect">
            <a:avLst/>
          </a:prstGeom>
          <a:solidFill>
            <a:srgbClr val="1565C0"/>
          </a:solidFill>
          <a:ln/>
        </p:spPr>
      </p:sp>
      <p:sp>
        <p:nvSpPr>
          <p:cNvPr id="17" name="Text 15"/>
          <p:cNvSpPr/>
          <p:nvPr/>
        </p:nvSpPr>
        <p:spPr>
          <a:xfrm>
            <a:off x="411480" y="5266944"/>
            <a:ext cx="11430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Q  確定シフトが表示されない</a:t>
            </a:r>
            <a:endParaRPr lang="en-US" sz="1800" dirty="0"/>
          </a:p>
        </p:txBody>
      </p:sp>
      <p:sp>
        <p:nvSpPr>
          <p:cNvPr id="18" name="Shape 16"/>
          <p:cNvSpPr/>
          <p:nvPr/>
        </p:nvSpPr>
        <p:spPr>
          <a:xfrm>
            <a:off x="274320" y="5724144"/>
            <a:ext cx="11612880" cy="932688"/>
          </a:xfrm>
          <a:prstGeom prst="rect">
            <a:avLst/>
          </a:prstGeom>
          <a:solidFill>
            <a:srgbClr val="E8F0FE"/>
          </a:solidFill>
          <a:ln w="6350">
            <a:solidFill>
              <a:srgbClr val="1565C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11480" y="5760720"/>
            <a:ext cx="11430000" cy="87782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600" dirty="0">
                <a:solidFill>
                  <a:srgbClr val="1A1A1A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A  オーナー様がシフトを「確定・保存」するまで「シフト確認」画面には表示されません。シフト作成が完了したかオーナー様に確認してください。</a:t>
            </a:r>
            <a:endParaRPr lang="en-US" sz="1600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749808"/>
          </a:xfrm>
          <a:prstGeom prst="rect">
            <a:avLst/>
          </a:prstGeom>
          <a:solidFill>
            <a:srgbClr val="546E7A"/>
          </a:solidFill>
          <a:ln/>
        </p:spPr>
      </p:sp>
      <p:sp>
        <p:nvSpPr>
          <p:cNvPr id="3" name="Text 1"/>
          <p:cNvSpPr/>
          <p:nvPr/>
        </p:nvSpPr>
        <p:spPr>
          <a:xfrm>
            <a:off x="228600" y="0"/>
            <a:ext cx="1188720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900" b="1" dirty="0">
                <a:solidFill>
                  <a:srgbClr val="FFFFFF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15.  よくある質問 ②</a:t>
            </a:r>
            <a:endParaRPr lang="en-US" sz="2900" dirty="0"/>
          </a:p>
        </p:txBody>
      </p:sp>
      <p:sp>
        <p:nvSpPr>
          <p:cNvPr id="4" name="Shape 2"/>
          <p:cNvSpPr/>
          <p:nvPr/>
        </p:nvSpPr>
        <p:spPr>
          <a:xfrm>
            <a:off x="274320" y="822960"/>
            <a:ext cx="11612880" cy="457200"/>
          </a:xfrm>
          <a:prstGeom prst="rect">
            <a:avLst/>
          </a:prstGeom>
          <a:solidFill>
            <a:srgbClr val="546E7A"/>
          </a:solidFill>
          <a:ln/>
        </p:spPr>
      </p:sp>
      <p:sp>
        <p:nvSpPr>
          <p:cNvPr id="5" name="Text 3"/>
          <p:cNvSpPr/>
          <p:nvPr/>
        </p:nvSpPr>
        <p:spPr>
          <a:xfrm>
            <a:off x="411480" y="822960"/>
            <a:ext cx="11430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Q  勤怠打刻を間違えた（打ち忘れ・時間ミス）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274320" y="1280160"/>
            <a:ext cx="11612880" cy="932688"/>
          </a:xfrm>
          <a:prstGeom prst="rect">
            <a:avLst/>
          </a:prstGeom>
          <a:solidFill>
            <a:srgbClr val="ECEFF1"/>
          </a:solidFill>
          <a:ln w="6350">
            <a:solidFill>
              <a:srgbClr val="546E7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11480" y="1316736"/>
            <a:ext cx="11430000" cy="87782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600" dirty="0">
                <a:solidFill>
                  <a:srgbClr val="1A1A1A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A  勤怠入力の「履歴」から該当の日をタップ →「修正申請」→ 正しい時間を入力して「申請」ボタンをタップ。オーナー様が承認すると勤怠データに修正が反映されます。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274320" y="2304288"/>
            <a:ext cx="11612880" cy="457200"/>
          </a:xfrm>
          <a:prstGeom prst="rect">
            <a:avLst/>
          </a:prstGeom>
          <a:solidFill>
            <a:srgbClr val="546E7A"/>
          </a:solidFill>
          <a:ln/>
        </p:spPr>
      </p:sp>
      <p:sp>
        <p:nvSpPr>
          <p:cNvPr id="9" name="Text 7"/>
          <p:cNvSpPr/>
          <p:nvPr/>
        </p:nvSpPr>
        <p:spPr>
          <a:xfrm>
            <a:off x="411480" y="2304288"/>
            <a:ext cx="11430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Q  修正申請したのに反映されない</a:t>
            </a:r>
            <a:endParaRPr lang="en-US" sz="1800" dirty="0"/>
          </a:p>
        </p:txBody>
      </p:sp>
      <p:sp>
        <p:nvSpPr>
          <p:cNvPr id="10" name="Shape 8"/>
          <p:cNvSpPr/>
          <p:nvPr/>
        </p:nvSpPr>
        <p:spPr>
          <a:xfrm>
            <a:off x="274320" y="2761488"/>
            <a:ext cx="11612880" cy="932688"/>
          </a:xfrm>
          <a:prstGeom prst="rect">
            <a:avLst/>
          </a:prstGeom>
          <a:solidFill>
            <a:srgbClr val="ECEFF1"/>
          </a:solidFill>
          <a:ln w="6350">
            <a:solidFill>
              <a:srgbClr val="546E7A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11480" y="2798064"/>
            <a:ext cx="11430000" cy="87782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600" dirty="0">
                <a:solidFill>
                  <a:srgbClr val="1A1A1A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A  修正申請はオーナー様の「承認」が必要です。承認前は勤怠データに反映されません。オーナー様に「勤怠管理 → 申請ボタンを確認してください」と直接伝えてください。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274320" y="3785616"/>
            <a:ext cx="11612880" cy="457200"/>
          </a:xfrm>
          <a:prstGeom prst="rect">
            <a:avLst/>
          </a:prstGeom>
          <a:solidFill>
            <a:srgbClr val="546E7A"/>
          </a:solidFill>
          <a:ln/>
        </p:spPr>
      </p:sp>
      <p:sp>
        <p:nvSpPr>
          <p:cNvPr id="13" name="Text 11"/>
          <p:cNvSpPr/>
          <p:nvPr/>
        </p:nvSpPr>
        <p:spPr>
          <a:xfrm>
            <a:off x="411480" y="3785616"/>
            <a:ext cx="11430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Q  就労時間が表示されない・少ない</a:t>
            </a:r>
            <a:endParaRPr lang="en-US" sz="1800" dirty="0"/>
          </a:p>
        </p:txBody>
      </p:sp>
      <p:sp>
        <p:nvSpPr>
          <p:cNvPr id="14" name="Shape 12"/>
          <p:cNvSpPr/>
          <p:nvPr/>
        </p:nvSpPr>
        <p:spPr>
          <a:xfrm>
            <a:off x="274320" y="4242816"/>
            <a:ext cx="11612880" cy="932688"/>
          </a:xfrm>
          <a:prstGeom prst="rect">
            <a:avLst/>
          </a:prstGeom>
          <a:solidFill>
            <a:srgbClr val="ECEFF1"/>
          </a:solidFill>
          <a:ln w="6350">
            <a:solidFill>
              <a:srgbClr val="546E7A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11480" y="4279392"/>
            <a:ext cx="11430000" cy="87782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600" dirty="0">
                <a:solidFill>
                  <a:srgbClr val="1A1A1A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A  オーナー様が勤怠を「確定」処理するまで就労時間には反映されません。確定後に再度確認してください。それでも合わない場合はオーナー様に相談してください。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274320" y="5266944"/>
            <a:ext cx="11612880" cy="457200"/>
          </a:xfrm>
          <a:prstGeom prst="rect">
            <a:avLst/>
          </a:prstGeom>
          <a:solidFill>
            <a:srgbClr val="546E7A"/>
          </a:solidFill>
          <a:ln/>
        </p:spPr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749808"/>
          </a:xfrm>
          <a:prstGeom prst="rect">
            <a:avLst/>
          </a:prstGeom>
          <a:solidFill>
            <a:srgbClr val="C62828"/>
          </a:solidFill>
          <a:ln/>
        </p:spPr>
      </p:sp>
      <p:sp>
        <p:nvSpPr>
          <p:cNvPr id="3" name="Text 1"/>
          <p:cNvSpPr/>
          <p:nvPr/>
        </p:nvSpPr>
        <p:spPr>
          <a:xfrm>
            <a:off x="228600" y="0"/>
            <a:ext cx="1188720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900" b="1" dirty="0">
                <a:solidFill>
                  <a:srgbClr val="FFFFFF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15.  よくある質問 ③（オーナー様向け）</a:t>
            </a:r>
            <a:endParaRPr lang="en-US" sz="2900" dirty="0"/>
          </a:p>
        </p:txBody>
      </p:sp>
      <p:sp>
        <p:nvSpPr>
          <p:cNvPr id="4" name="Shape 2"/>
          <p:cNvSpPr/>
          <p:nvPr/>
        </p:nvSpPr>
        <p:spPr>
          <a:xfrm>
            <a:off x="274320" y="822960"/>
            <a:ext cx="11612880" cy="457200"/>
          </a:xfrm>
          <a:prstGeom prst="rect">
            <a:avLst/>
          </a:prstGeom>
          <a:solidFill>
            <a:srgbClr val="C62828"/>
          </a:solidFill>
          <a:ln/>
        </p:spPr>
      </p:sp>
      <p:sp>
        <p:nvSpPr>
          <p:cNvPr id="5" name="Text 3"/>
          <p:cNvSpPr/>
          <p:nvPr/>
        </p:nvSpPr>
        <p:spPr>
          <a:xfrm>
            <a:off x="411480" y="822960"/>
            <a:ext cx="11430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Q  スタッフを追加・削除したい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274320" y="1280160"/>
            <a:ext cx="11612880" cy="932688"/>
          </a:xfrm>
          <a:prstGeom prst="rect">
            <a:avLst/>
          </a:prstGeom>
          <a:solidFill>
            <a:srgbClr val="FBE9E7"/>
          </a:solidFill>
          <a:ln w="6350">
            <a:solidFill>
              <a:srgbClr val="C6282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11480" y="1316736"/>
            <a:ext cx="11430000" cy="87782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600" dirty="0">
                <a:solidFill>
                  <a:srgbClr val="1A1A1A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A  オーナー様メニューの「新人登録」から追加できます。削除は「番号確認」タブからスタッフを選んで「削除」をタップしてください（データは残ります）。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274320" y="2304288"/>
            <a:ext cx="11612880" cy="457200"/>
          </a:xfrm>
          <a:prstGeom prst="rect">
            <a:avLst/>
          </a:prstGeom>
          <a:solidFill>
            <a:srgbClr val="C62828"/>
          </a:solidFill>
          <a:ln/>
        </p:spPr>
      </p:sp>
      <p:sp>
        <p:nvSpPr>
          <p:cNvPr id="9" name="Text 7"/>
          <p:cNvSpPr/>
          <p:nvPr/>
        </p:nvSpPr>
        <p:spPr>
          <a:xfrm>
            <a:off x="411480" y="2304288"/>
            <a:ext cx="11430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Q  スタッフのパスワードを変更したい</a:t>
            </a:r>
            <a:endParaRPr lang="en-US" sz="1800" dirty="0"/>
          </a:p>
        </p:txBody>
      </p:sp>
      <p:sp>
        <p:nvSpPr>
          <p:cNvPr id="10" name="Shape 8"/>
          <p:cNvSpPr/>
          <p:nvPr/>
        </p:nvSpPr>
        <p:spPr>
          <a:xfrm>
            <a:off x="274320" y="2761488"/>
            <a:ext cx="11612880" cy="932688"/>
          </a:xfrm>
          <a:prstGeom prst="rect">
            <a:avLst/>
          </a:prstGeom>
          <a:solidFill>
            <a:srgbClr val="FBE9E7"/>
          </a:solidFill>
          <a:ln w="6350">
            <a:solidFill>
              <a:srgbClr val="C6282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11480" y="2798064"/>
            <a:ext cx="11430000" cy="87782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600" dirty="0">
                <a:solidFill>
                  <a:srgbClr val="1A1A1A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A  オーナー様メニューの「新人登録」→「番号確認」タブからスタッフを選択し「パスワード変更」をタップして新しいパスワードを設定してください。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274320" y="3785616"/>
            <a:ext cx="11612880" cy="457200"/>
          </a:xfrm>
          <a:prstGeom prst="rect">
            <a:avLst/>
          </a:prstGeom>
          <a:solidFill>
            <a:srgbClr val="C62828"/>
          </a:solidFill>
          <a:ln/>
        </p:spPr>
      </p:sp>
      <p:sp>
        <p:nvSpPr>
          <p:cNvPr id="13" name="Text 11"/>
          <p:cNvSpPr/>
          <p:nvPr/>
        </p:nvSpPr>
        <p:spPr>
          <a:xfrm>
            <a:off x="411480" y="3785616"/>
            <a:ext cx="11430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Q  勤怠確定はいつすればいい？</a:t>
            </a:r>
            <a:endParaRPr lang="en-US" sz="1800" dirty="0"/>
          </a:p>
        </p:txBody>
      </p:sp>
      <p:sp>
        <p:nvSpPr>
          <p:cNvPr id="14" name="Shape 12"/>
          <p:cNvSpPr/>
          <p:nvPr/>
        </p:nvSpPr>
        <p:spPr>
          <a:xfrm>
            <a:off x="274320" y="4242816"/>
            <a:ext cx="11612880" cy="932688"/>
          </a:xfrm>
          <a:prstGeom prst="rect">
            <a:avLst/>
          </a:prstGeom>
          <a:solidFill>
            <a:srgbClr val="FBE9E7"/>
          </a:solidFill>
          <a:ln w="6350">
            <a:solidFill>
              <a:srgbClr val="C62828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11480" y="4279392"/>
            <a:ext cx="11430000" cy="87782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600" dirty="0">
                <a:solidFill>
                  <a:srgbClr val="1A1A1A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A  勤務が終わったら随時確定するか、月末にまとめて確定してください。確定しないとスタッフの就労時間に反映されないため、給与計算前までに必ず確定してください。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274320" y="5266944"/>
            <a:ext cx="11612880" cy="457200"/>
          </a:xfrm>
          <a:prstGeom prst="rect">
            <a:avLst/>
          </a:prstGeom>
          <a:solidFill>
            <a:srgbClr val="C62828"/>
          </a:solidFill>
          <a:ln/>
        </p:spPr>
      </p:sp>
      <p:sp>
        <p:nvSpPr>
          <p:cNvPr id="17" name="Text 15"/>
          <p:cNvSpPr/>
          <p:nvPr/>
        </p:nvSpPr>
        <p:spPr>
          <a:xfrm>
            <a:off x="411480" y="5266944"/>
            <a:ext cx="11430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Q  修正申請の通知はどこで確認できる？</a:t>
            </a:r>
            <a:endParaRPr lang="en-US" sz="1800" dirty="0"/>
          </a:p>
        </p:txBody>
      </p:sp>
      <p:sp>
        <p:nvSpPr>
          <p:cNvPr id="18" name="Shape 16"/>
          <p:cNvSpPr/>
          <p:nvPr/>
        </p:nvSpPr>
        <p:spPr>
          <a:xfrm>
            <a:off x="274320" y="5724144"/>
            <a:ext cx="11612880" cy="932688"/>
          </a:xfrm>
          <a:prstGeom prst="rect">
            <a:avLst/>
          </a:prstGeom>
          <a:solidFill>
            <a:srgbClr val="FBE9E7"/>
          </a:solidFill>
          <a:ln w="6350">
            <a:solidFill>
              <a:srgbClr val="C62828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11480" y="5760720"/>
            <a:ext cx="11430000" cy="87782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600" dirty="0">
                <a:solidFill>
                  <a:srgbClr val="1A1A1A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A  オーナー様メニューの「勤怠管理」に入ると、申請ボタンに赤いバッジで件数が表示されます。タップすると申請一覧が確認でき、承認・却下が行えます。承認後は自動で勤怠データに反映されます。</a:t>
            </a:r>
            <a:endParaRPr lang="en-US" sz="1600" dirty="0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749808"/>
          </a:xfrm>
          <a:prstGeom prst="rect">
            <a:avLst/>
          </a:prstGeom>
          <a:solidFill>
            <a:srgbClr val="006064"/>
          </a:solidFill>
          <a:ln/>
        </p:spPr>
      </p:sp>
      <p:sp>
        <p:nvSpPr>
          <p:cNvPr id="3" name="Text 1"/>
          <p:cNvSpPr/>
          <p:nvPr/>
        </p:nvSpPr>
        <p:spPr>
          <a:xfrm>
            <a:off x="228600" y="0"/>
            <a:ext cx="1188720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900" b="1" dirty="0">
                <a:solidFill>
                  <a:srgbClr val="FFFFFF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15.  よくある質問 ④（打刻・履歴・承認について）</a:t>
            </a:r>
            <a:endParaRPr lang="en-US" sz="2900" dirty="0"/>
          </a:p>
        </p:txBody>
      </p:sp>
      <p:sp>
        <p:nvSpPr>
          <p:cNvPr id="4" name="Shape 2"/>
          <p:cNvSpPr/>
          <p:nvPr/>
        </p:nvSpPr>
        <p:spPr>
          <a:xfrm>
            <a:off x="274320" y="822960"/>
            <a:ext cx="11612880" cy="457200"/>
          </a:xfrm>
          <a:prstGeom prst="rect">
            <a:avLst/>
          </a:prstGeom>
          <a:solidFill>
            <a:srgbClr val="006064"/>
          </a:solidFill>
          <a:ln/>
        </p:spPr>
      </p:sp>
      <p:sp>
        <p:nvSpPr>
          <p:cNvPr id="5" name="Text 3"/>
          <p:cNvSpPr/>
          <p:nvPr/>
        </p:nvSpPr>
        <p:spPr>
          <a:xfrm>
            <a:off x="411480" y="822960"/>
            <a:ext cx="11430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Q  打刻履歴はどこで確認できる？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274320" y="1280160"/>
            <a:ext cx="11612880" cy="932688"/>
          </a:xfrm>
          <a:prstGeom prst="rect">
            <a:avLst/>
          </a:prstGeom>
          <a:solidFill>
            <a:srgbClr val="E0F2F1"/>
          </a:solidFill>
          <a:ln w="6350">
            <a:solidFill>
              <a:srgbClr val="006064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11480" y="1316736"/>
            <a:ext cx="11430000" cy="87782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600" dirty="0">
                <a:solidFill>
                  <a:srgbClr val="1A1A1A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A  勤怠入力画面で認証後、画面下の「履歴」をタップ → 自分の管理番号を入力すると過去の打刻一覧が表示されます。出勤・退勤・休憩の打刻時刻を日別に確認できます。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274320" y="2304288"/>
            <a:ext cx="11612880" cy="457200"/>
          </a:xfrm>
          <a:prstGeom prst="rect">
            <a:avLst/>
          </a:prstGeom>
          <a:solidFill>
            <a:srgbClr val="006064"/>
          </a:solidFill>
          <a:ln/>
        </p:spPr>
      </p:sp>
      <p:sp>
        <p:nvSpPr>
          <p:cNvPr id="9" name="Text 7"/>
          <p:cNvSpPr/>
          <p:nvPr/>
        </p:nvSpPr>
        <p:spPr>
          <a:xfrm>
            <a:off x="411480" y="2304288"/>
            <a:ext cx="11430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Q  出勤打刻を忘れた・退勤打刻できなかった</a:t>
            </a:r>
            <a:endParaRPr lang="en-US" sz="1800" dirty="0"/>
          </a:p>
        </p:txBody>
      </p:sp>
      <p:sp>
        <p:nvSpPr>
          <p:cNvPr id="10" name="Shape 8"/>
          <p:cNvSpPr/>
          <p:nvPr/>
        </p:nvSpPr>
        <p:spPr>
          <a:xfrm>
            <a:off x="274320" y="2761488"/>
            <a:ext cx="11612880" cy="932688"/>
          </a:xfrm>
          <a:prstGeom prst="rect">
            <a:avLst/>
          </a:prstGeom>
          <a:solidFill>
            <a:srgbClr val="E0F2F1"/>
          </a:solidFill>
          <a:ln w="6350">
            <a:solidFill>
              <a:srgbClr val="006064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11480" y="2798064"/>
            <a:ext cx="11430000" cy="87782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600" dirty="0">
                <a:solidFill>
                  <a:srgbClr val="1A1A1A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A  打刻履歴から該当日をタップ →「修正申請」から正しい時刻を入力して申請してください。打刻していない項目は「−−:−−」と表示されます。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274320" y="3785616"/>
            <a:ext cx="11612880" cy="457200"/>
          </a:xfrm>
          <a:prstGeom prst="rect">
            <a:avLst/>
          </a:prstGeom>
          <a:solidFill>
            <a:srgbClr val="006064"/>
          </a:solidFill>
          <a:ln/>
        </p:spPr>
      </p:sp>
      <p:sp>
        <p:nvSpPr>
          <p:cNvPr id="13" name="Text 11"/>
          <p:cNvSpPr/>
          <p:nvPr/>
        </p:nvSpPr>
        <p:spPr>
          <a:xfrm>
            <a:off x="411480" y="3785616"/>
            <a:ext cx="11430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Q  承認されたかどうか確認したい</a:t>
            </a:r>
            <a:endParaRPr lang="en-US" sz="1800" dirty="0"/>
          </a:p>
        </p:txBody>
      </p:sp>
      <p:sp>
        <p:nvSpPr>
          <p:cNvPr id="14" name="Shape 12"/>
          <p:cNvSpPr/>
          <p:nvPr/>
        </p:nvSpPr>
        <p:spPr>
          <a:xfrm>
            <a:off x="274320" y="4242816"/>
            <a:ext cx="11612880" cy="932688"/>
          </a:xfrm>
          <a:prstGeom prst="rect">
            <a:avLst/>
          </a:prstGeom>
          <a:solidFill>
            <a:srgbClr val="E0F2F1"/>
          </a:solidFill>
          <a:ln w="6350">
            <a:solidFill>
              <a:srgbClr val="006064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11480" y="4279392"/>
            <a:ext cx="11430000" cy="87782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600" dirty="0">
                <a:solidFill>
                  <a:srgbClr val="1A1A1A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A  打刻履歴から申請した日をタップすると「申請中」「承認済」の状態を確認できます。就労時間に時間が反映されていれば承認済みです。確認できない場合はオーナー様に直接確認してください。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274320" y="5266944"/>
            <a:ext cx="11612880" cy="457200"/>
          </a:xfrm>
          <a:prstGeom prst="rect">
            <a:avLst/>
          </a:prstGeom>
          <a:solidFill>
            <a:srgbClr val="006064"/>
          </a:solidFill>
          <a:ln/>
        </p:spPr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749808"/>
          </a:xfrm>
          <a:prstGeom prst="rect">
            <a:avLst/>
          </a:prstGeom>
          <a:solidFill>
            <a:srgbClr val="4527A0"/>
          </a:solidFill>
          <a:ln/>
        </p:spPr>
      </p:sp>
      <p:sp>
        <p:nvSpPr>
          <p:cNvPr id="3" name="Text 1"/>
          <p:cNvSpPr/>
          <p:nvPr/>
        </p:nvSpPr>
        <p:spPr>
          <a:xfrm>
            <a:off x="228600" y="0"/>
            <a:ext cx="1188720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900" b="1" dirty="0">
                <a:solidFill>
                  <a:srgbClr val="FFFFFF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15.  よくある質問 ⑤（操作・その他）</a:t>
            </a:r>
            <a:endParaRPr lang="en-US" sz="2900" dirty="0"/>
          </a:p>
        </p:txBody>
      </p:sp>
      <p:sp>
        <p:nvSpPr>
          <p:cNvPr id="4" name="Shape 2"/>
          <p:cNvSpPr/>
          <p:nvPr/>
        </p:nvSpPr>
        <p:spPr>
          <a:xfrm>
            <a:off x="274320" y="822960"/>
            <a:ext cx="11612880" cy="457200"/>
          </a:xfrm>
          <a:prstGeom prst="rect">
            <a:avLst/>
          </a:prstGeom>
          <a:solidFill>
            <a:srgbClr val="4527A0"/>
          </a:solidFill>
          <a:ln/>
        </p:spPr>
      </p:sp>
      <p:sp>
        <p:nvSpPr>
          <p:cNvPr id="5" name="Text 3"/>
          <p:cNvSpPr/>
          <p:nvPr/>
        </p:nvSpPr>
        <p:spPr>
          <a:xfrm>
            <a:off x="411480" y="822960"/>
            <a:ext cx="11430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Q  修正申請フォームに何を入力すればいい？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274320" y="1280160"/>
            <a:ext cx="11612880" cy="932688"/>
          </a:xfrm>
          <a:prstGeom prst="rect">
            <a:avLst/>
          </a:prstGeom>
          <a:solidFill>
            <a:srgbClr val="EDE7F6"/>
          </a:solidFill>
          <a:ln w="6350">
            <a:solidFill>
              <a:srgbClr val="4527A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11480" y="1316736"/>
            <a:ext cx="11430000" cy="87782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600" dirty="0">
                <a:solidFill>
                  <a:srgbClr val="1A1A1A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A  「修正後の出勤時刻」「修正後の退勤時刻」との2つを入力します。備考は省略可能ですなど具体的に書いてください。元の時刻は変更できません。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274320" y="2304288"/>
            <a:ext cx="11612880" cy="457200"/>
          </a:xfrm>
          <a:prstGeom prst="rect">
            <a:avLst/>
          </a:prstGeom>
          <a:solidFill>
            <a:srgbClr val="4527A0"/>
          </a:solidFill>
          <a:ln/>
        </p:spPr>
      </p:sp>
      <p:sp>
        <p:nvSpPr>
          <p:cNvPr id="9" name="Text 7"/>
          <p:cNvSpPr/>
          <p:nvPr/>
        </p:nvSpPr>
        <p:spPr>
          <a:xfrm>
            <a:off x="411480" y="2304288"/>
            <a:ext cx="11430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Q  申請したのに就労時間に変化がない</a:t>
            </a:r>
            <a:endParaRPr lang="en-US" sz="1800" dirty="0"/>
          </a:p>
        </p:txBody>
      </p:sp>
      <p:sp>
        <p:nvSpPr>
          <p:cNvPr id="10" name="Shape 8"/>
          <p:cNvSpPr/>
          <p:nvPr/>
        </p:nvSpPr>
        <p:spPr>
          <a:xfrm>
            <a:off x="274320" y="2761488"/>
            <a:ext cx="11612880" cy="932688"/>
          </a:xfrm>
          <a:prstGeom prst="rect">
            <a:avLst/>
          </a:prstGeom>
          <a:solidFill>
            <a:srgbClr val="EDE7F6"/>
          </a:solidFill>
          <a:ln w="6350">
            <a:solidFill>
              <a:srgbClr val="4527A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11480" y="2798064"/>
            <a:ext cx="11430000" cy="87782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600" dirty="0">
                <a:solidFill>
                  <a:srgbClr val="1A1A1A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A  修正申請はオーナー様の承認が完了してはじめて反映されます。オーナー様に「勤怠管理 → 申請ボタンを確認してください」と伝えてください。却下された場合は再度申請が必要です。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274320" y="3785616"/>
            <a:ext cx="11612880" cy="457200"/>
          </a:xfrm>
          <a:prstGeom prst="rect">
            <a:avLst/>
          </a:prstGeom>
          <a:solidFill>
            <a:srgbClr val="4527A0"/>
          </a:solidFill>
          <a:ln/>
        </p:spPr>
      </p:sp>
      <p:sp>
        <p:nvSpPr>
          <p:cNvPr id="13" name="Text 11"/>
          <p:cNvSpPr/>
          <p:nvPr/>
        </p:nvSpPr>
        <p:spPr>
          <a:xfrm>
            <a:off x="411480" y="3785616"/>
            <a:ext cx="11430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Q  オーナー様に申請が届いているか確認したい（オーナー様向け）</a:t>
            </a:r>
            <a:endParaRPr lang="en-US" sz="1800" dirty="0"/>
          </a:p>
        </p:txBody>
      </p:sp>
      <p:sp>
        <p:nvSpPr>
          <p:cNvPr id="14" name="Shape 12"/>
          <p:cNvSpPr/>
          <p:nvPr/>
        </p:nvSpPr>
        <p:spPr>
          <a:xfrm>
            <a:off x="274320" y="4242816"/>
            <a:ext cx="11612880" cy="932688"/>
          </a:xfrm>
          <a:prstGeom prst="rect">
            <a:avLst/>
          </a:prstGeom>
          <a:solidFill>
            <a:srgbClr val="EDE7F6"/>
          </a:solidFill>
          <a:ln w="6350">
            <a:solidFill>
              <a:srgbClr val="4527A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11480" y="4279392"/>
            <a:ext cx="11430000" cy="87782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600" dirty="0">
                <a:solidFill>
                  <a:srgbClr val="1A1A1A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A  勤怠管理画面の「申請」ボタンに赤いバッジ（数字）が表示されると新しい申請があります。バッジがない場合は申請がないか、すでに対応済みです。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274320" y="5266944"/>
            <a:ext cx="11612880" cy="457200"/>
          </a:xfrm>
          <a:prstGeom prst="rect">
            <a:avLst/>
          </a:prstGeom>
          <a:solidFill>
            <a:srgbClr val="4527A0"/>
          </a:solidFill>
          <a:ln/>
        </p:spPr>
      </p:sp>
      <p:sp>
        <p:nvSpPr>
          <p:cNvPr id="17" name="Text 15"/>
          <p:cNvSpPr/>
          <p:nvPr/>
        </p:nvSpPr>
        <p:spPr>
          <a:xfrm>
            <a:off x="411480" y="5266944"/>
            <a:ext cx="11430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Q  アプリが表示されない・画面が真っ白になった</a:t>
            </a:r>
            <a:endParaRPr lang="en-US" sz="1800" dirty="0"/>
          </a:p>
        </p:txBody>
      </p:sp>
      <p:sp>
        <p:nvSpPr>
          <p:cNvPr id="18" name="Shape 16"/>
          <p:cNvSpPr/>
          <p:nvPr/>
        </p:nvSpPr>
        <p:spPr>
          <a:xfrm>
            <a:off x="274320" y="5724144"/>
            <a:ext cx="11612880" cy="932688"/>
          </a:xfrm>
          <a:prstGeom prst="rect">
            <a:avLst/>
          </a:prstGeom>
          <a:solidFill>
            <a:srgbClr val="EDE7F6"/>
          </a:solidFill>
          <a:ln w="6350">
            <a:solidFill>
              <a:srgbClr val="4527A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11480" y="5760720"/>
            <a:ext cx="11430000" cy="87782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600" dirty="0">
                <a:solidFill>
                  <a:srgbClr val="1A1A1A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A  ブラウザのページを更新（リロード）してください。それでも直らない場合はブラウザを閉じて再度URLを開いてください。問題が続く場合はオーナー様に連絡してください。</a:t>
            </a:r>
            <a:endParaRPr lang="en-US" sz="1600" dirty="0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solidFill>
          <a:srgbClr val="0D47A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ln/>
        </p:spPr>
      </p:sp>
      <p:sp>
        <p:nvSpPr>
          <p:cNvPr id="3" name="Text 1"/>
          <p:cNvSpPr/>
          <p:nvPr/>
        </p:nvSpPr>
        <p:spPr>
          <a:xfrm>
            <a:off x="457200" y="1828800"/>
            <a:ext cx="112471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400" b="1" dirty="0">
                <a:solidFill>
                  <a:srgbClr val="FFFFFF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ご不明な点はオーナー様にご相談ください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457200" y="2926080"/>
            <a:ext cx="112471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B3E5FC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打刻・修正申請・シフト変更などお気軽にお問い合わせください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3200400" y="3749040"/>
            <a:ext cx="5760720" cy="36576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6" name="Text 4"/>
          <p:cNvSpPr/>
          <p:nvPr/>
        </p:nvSpPr>
        <p:spPr>
          <a:xfrm>
            <a:off x="457200" y="3886200"/>
            <a:ext cx="112471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E3F2FD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オゾシフ　シフト勤怠管理アプリ</a:t>
            </a:r>
            <a:endParaRPr lang="en-US" sz="2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テーマ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游ゴシック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游ゴシック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</TotalTime>
  <Words>1668</Words>
  <Application>Microsoft Office PowerPoint</Application>
  <PresentationFormat>ワイド画面</PresentationFormat>
  <Paragraphs>468</Paragraphs>
  <Slides>33</Slides>
  <Notes>29</Notes>
  <HiddenSlides>0</HiddenSlides>
  <MMClips>0</MMClips>
  <ScaleCrop>false</ScaleCrop>
  <HeadingPairs>
    <vt:vector size="6" baseType="variant">
      <vt:variant>
        <vt:lpstr>使用されているフォント</vt:lpstr>
      </vt:variant>
      <vt:variant>
        <vt:i4>2</vt:i4>
      </vt:variant>
      <vt:variant>
        <vt:lpstr>テーマ</vt:lpstr>
      </vt:variant>
      <vt:variant>
        <vt:i4>1</vt:i4>
      </vt:variant>
      <vt:variant>
        <vt:lpstr>スライド タイトル</vt:lpstr>
      </vt:variant>
      <vt:variant>
        <vt:i4>33</vt:i4>
      </vt:variant>
    </vt:vector>
  </HeadingPairs>
  <TitlesOfParts>
    <vt:vector size="36" baseType="lpstr">
      <vt:lpstr>Meiryo UI</vt:lpstr>
      <vt:lpstr>Arial</vt:lpstr>
      <vt:lpstr>Office Theme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晃生 小田</cp:lastModifiedBy>
  <cp:revision>1</cp:revision>
  <dcterms:created xsi:type="dcterms:W3CDTF">2026-04-04T01:06:25Z</dcterms:created>
  <dcterms:modified xsi:type="dcterms:W3CDTF">2026-04-24T08:10:35Z</dcterms:modified>
</cp:coreProperties>
</file>